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Accueil: «Aujourd'hui on passe au niveau supérieur. On a vu les bases — les personas, les modèles. Maintenant on va voir comment faire réfléchir Copilot plus profondément avec des techniques de prompt avancées. Rassurez-vous, c'est simple à utiliser et immédiatement applicable dans votre quotidien!»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Expliquer: au lieu de demander une réponse directe, on demande à Copilot de «réfléchir à voix haute». Ça réduit les erreurs sur les tâches logiques, surtout pour les analyses de conformité, les calculs ou les problèmes techniques. Un seul ajout au prompt — «étape par étape» — change tout. Insister: c'est la technique à maîtriser en premier.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Tree of Thought va plus loin que le CoT: au lieu d'une seule ligne de raisonnement, Copilot explore plusieurs options, les compare, puis recommande la meilleure. C'est parfait pour les décisions stratégiques, les appels d'offres, les analyses de risques. Utilisez-le en mode Think Deeper pour de meilleurs résultats.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Red Team/Blue Team, c'est demander à Copilot de jouer deux rôles: l'un qui propose une solution (Blue Team), l'autre qui la critique et cherche les failles (Red Team). C'est comme avoir un avocat du diable intégré. Très utile pour la conformité, la sécurité, les décisions importantes. Tout dans un seul prompt ou en deux rounds.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Montrer le prompt complet. C'est le niveau expert. Les trois techniques peuvent être combinées avec un persona. L'exemple est directement applicable dans leur quotidien — approbation de budget, sélection de fournisseur, révision de politique. Suggérer de l'essayer cette semaine sur une vraie décision.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Résumé rapide. Défi: essayer au moins une technique cette semaine. Le Chain of Thought est le plus facile pour commencer — il suffit d'ajouter «étape par étape». Le Red/Blue Team est le plus puissant pour les décisions importantes avec enjeux de conformité.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Rectangle 1"/>
          <p:cNvSpPr/>
          <p:nvPr/>
        </p:nvSpPr>
        <p:spPr>
          <a:xfrm>
            <a:off x="0" y="0"/>
            <a:ext cx="6766560" cy="6858000"/>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5669280" cy="1463040"/>
          </a:xfrm>
          <a:prstGeom prst="rect">
            <a:avLst/>
          </a:prstGeom>
          <a:noFill/>
        </p:spPr>
        <p:txBody>
          <a:bodyPr wrap="square" lIns="45720" rIns="45720" tIns="18288" bIns="18288">
            <a:spAutoFit/>
          </a:bodyPr>
          <a:lstStyle/>
          <a:p>
            <a:pPr algn="l">
              <a:defRPr sz="4400" b="1">
                <a:solidFill>
                  <a:srgbClr val="FFFFFF"/>
                </a:solidFill>
                <a:latin typeface="Calibri"/>
              </a:defRPr>
            </a:pPr>
            <a:r>
              <a:t>La minute Copilot</a:t>
            </a:r>
          </a:p>
        </p:txBody>
      </p:sp>
      <p:sp>
        <p:nvSpPr>
          <p:cNvPr id="4" name="Rectangle 3"/>
          <p:cNvSpPr/>
          <p:nvPr/>
        </p:nvSpPr>
        <p:spPr>
          <a:xfrm>
            <a:off x="640080" y="3246120"/>
            <a:ext cx="2926080"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3429000"/>
            <a:ext cx="5669280" cy="640080"/>
          </a:xfrm>
          <a:prstGeom prst="rect">
            <a:avLst/>
          </a:prstGeom>
          <a:noFill/>
        </p:spPr>
        <p:txBody>
          <a:bodyPr wrap="square" lIns="45720" rIns="45720" tIns="18288" bIns="18288">
            <a:spAutoFit/>
          </a:bodyPr>
          <a:lstStyle/>
          <a:p>
            <a:pPr algn="l">
              <a:defRPr sz="2200" b="0">
                <a:solidFill>
                  <a:srgbClr val="FFFFFF"/>
                </a:solidFill>
                <a:latin typeface="Calibri"/>
              </a:defRPr>
            </a:pPr>
            <a:r>
              <a:t>Prompts avancés: CoT, ToT, Red/Blue Team</a:t>
            </a:r>
          </a:p>
        </p:txBody>
      </p:sp>
      <p:sp>
        <p:nvSpPr>
          <p:cNvPr id="6" name="TextBox 5"/>
          <p:cNvSpPr txBox="1"/>
          <p:nvPr/>
        </p:nvSpPr>
        <p:spPr>
          <a:xfrm>
            <a:off x="640080" y="4572000"/>
            <a:ext cx="5669280" cy="365760"/>
          </a:xfrm>
          <a:prstGeom prst="rect">
            <a:avLst/>
          </a:prstGeom>
          <a:noFill/>
        </p:spPr>
        <p:txBody>
          <a:bodyPr wrap="square" lIns="45720" rIns="45720" tIns="18288" bIns="18288">
            <a:spAutoFit/>
          </a:bodyPr>
          <a:lstStyle/>
          <a:p>
            <a:pPr algn="l">
              <a:defRPr sz="1300" b="0">
                <a:solidFill>
                  <a:srgbClr val="CCE0D2"/>
                </a:solidFill>
                <a:latin typeface="Calibri"/>
              </a:defRPr>
            </a:pPr>
            <a:r>
              <a:t>Des techniques de prompt qui font réfléchir Copilot... littéralement</a:t>
            </a:r>
          </a:p>
        </p:txBody>
      </p:sp>
      <p:sp>
        <p:nvSpPr>
          <p:cNvPr id="7" name="TextBox 6"/>
          <p:cNvSpPr txBox="1"/>
          <p:nvPr/>
        </p:nvSpPr>
        <p:spPr>
          <a:xfrm>
            <a:off x="640080" y="5029200"/>
            <a:ext cx="5669280" cy="320040"/>
          </a:xfrm>
          <a:prstGeom prst="rect">
            <a:avLst/>
          </a:prstGeom>
          <a:noFill/>
        </p:spPr>
        <p:txBody>
          <a:bodyPr wrap="square" lIns="45720" rIns="45720" tIns="18288" bIns="18288">
            <a:spAutoFit/>
          </a:bodyPr>
          <a:lstStyle/>
          <a:p>
            <a:pPr algn="l">
              <a:defRPr sz="1300" b="1">
                <a:solidFill>
                  <a:srgbClr val="FFFFFF"/>
                </a:solidFill>
                <a:latin typeface="Calibri"/>
              </a:defRPr>
            </a:pPr>
            <a:r>
              <a:t>Martin Fournier</a:t>
            </a:r>
          </a:p>
        </p:txBody>
      </p:sp>
      <p:sp>
        <p:nvSpPr>
          <p:cNvPr id="8" name="TextBox 7"/>
          <p:cNvSpPr txBox="1"/>
          <p:nvPr/>
        </p:nvSpPr>
        <p:spPr>
          <a:xfrm>
            <a:off x="640080" y="5349240"/>
            <a:ext cx="5669280" cy="274320"/>
          </a:xfrm>
          <a:prstGeom prst="rect">
            <a:avLst/>
          </a:prstGeom>
          <a:noFill/>
        </p:spPr>
        <p:txBody>
          <a:bodyPr wrap="square" lIns="45720" rIns="45720" tIns="18288" bIns="18288">
            <a:spAutoFit/>
          </a:bodyPr>
          <a:lstStyle/>
          <a:p>
            <a:pPr algn="l">
              <a:defRPr sz="1200" b="0">
                <a:solidFill>
                  <a:srgbClr val="CCE0D2"/>
                </a:solidFill>
                <a:latin typeface="Calibri"/>
              </a:defRPr>
            </a:pPr>
            <a:r>
              <a:t>2026-05-17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Chain of Thought (CoT) — Penser étape par étape</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La technique la plus puissante et la plus simple à adopter</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Ajoutez «étape par étape» ou «raisonne avant de répondre» à votre prompt</a:t>
            </a:r>
          </a:p>
          <a:p>
            <a:pPr>
              <a:spcAft>
                <a:spcPts val="400"/>
              </a:spcAft>
              <a:defRPr sz="1400">
                <a:solidFill>
                  <a:srgbClr val="2B2B2B"/>
                </a:solidFill>
                <a:latin typeface="Calibri"/>
              </a:defRPr>
            </a:pPr>
            <a:r>
              <a:t>• Copilot décompose le problème au lieu de sauter directement à la conclusion</a:t>
            </a:r>
          </a:p>
          <a:p>
            <a:pPr>
              <a:spcAft>
                <a:spcPts val="400"/>
              </a:spcAft>
              <a:defRPr sz="1400">
                <a:solidFill>
                  <a:srgbClr val="2B2B2B"/>
                </a:solidFill>
                <a:latin typeface="Calibri"/>
              </a:defRPr>
            </a:pPr>
            <a:r>
              <a:t>• Réduit considérablement les erreurs sur les tâches logiques et analytiques</a:t>
            </a:r>
          </a:p>
        </p:txBody>
      </p:sp>
      <p:sp>
        <p:nvSpPr>
          <p:cNvPr id="6" name="Rectangle 5"/>
          <p:cNvSpPr/>
          <p:nvPr/>
        </p:nvSpPr>
        <p:spPr>
          <a:xfrm>
            <a:off x="4572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riangle-alert_EF4444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4370832" cy="457200"/>
          </a:xfrm>
          <a:prstGeom prst="rect">
            <a:avLst/>
          </a:prstGeom>
          <a:noFill/>
        </p:spPr>
        <p:txBody>
          <a:bodyPr wrap="square" lIns="45720" rIns="45720" tIns="18288" bIns="18288">
            <a:spAutoFit/>
          </a:bodyPr>
          <a:lstStyle/>
          <a:p>
            <a:pPr algn="l">
              <a:defRPr sz="1700" b="1">
                <a:solidFill>
                  <a:srgbClr val="EF4444"/>
                </a:solidFill>
                <a:latin typeface="Calibri"/>
              </a:defRPr>
            </a:pPr>
            <a:r>
              <a:t>Sans CoT (risque d'erreur)</a:t>
            </a:r>
          </a:p>
        </p:txBody>
      </p:sp>
      <p:sp>
        <p:nvSpPr>
          <p:cNvPr id="9" name="TextBox 8"/>
          <p:cNvSpPr txBox="1"/>
          <p:nvPr/>
        </p:nvSpPr>
        <p:spPr>
          <a:xfrm>
            <a:off x="7315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«Est-ce que cette dépense</a:t>
            </a:r>
          </a:p>
          <a:p>
            <a:pPr>
              <a:spcAft>
                <a:spcPts val="400"/>
              </a:spcAft>
              <a:defRPr sz="1300">
                <a:solidFill>
                  <a:srgbClr val="2B2B2B"/>
                </a:solidFill>
                <a:latin typeface="Calibri"/>
              </a:defRPr>
            </a:pPr>
            <a:r>
              <a:t>est conforme à notre</a:t>
            </a:r>
          </a:p>
          <a:p>
            <a:pPr>
              <a:spcAft>
                <a:spcPts val="400"/>
              </a:spcAft>
              <a:defRPr sz="1300">
                <a:solidFill>
                  <a:srgbClr val="2B2B2B"/>
                </a:solidFill>
                <a:latin typeface="Calibri"/>
              </a:defRPr>
            </a:pPr>
            <a:r>
              <a:t>politique?»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répond vite,</a:t>
            </a:r>
          </a:p>
          <a:p>
            <a:pPr>
              <a:spcAft>
                <a:spcPts val="400"/>
              </a:spcAft>
              <a:defRPr sz="1300">
                <a:solidFill>
                  <a:srgbClr val="2B2B2B"/>
                </a:solidFill>
                <a:latin typeface="Calibri"/>
              </a:defRPr>
            </a:pPr>
            <a:r>
              <a:t>peut sauter des règles</a:t>
            </a:r>
          </a:p>
          <a:p>
            <a:pPr>
              <a:spcAft>
                <a:spcPts val="400"/>
              </a:spcAft>
              <a:defRPr sz="1300">
                <a:solidFill>
                  <a:srgbClr val="2B2B2B"/>
                </a:solidFill>
                <a:latin typeface="Calibri"/>
              </a:defRPr>
            </a:pPr>
            <a:r>
              <a:t>importantes.</a:t>
            </a:r>
          </a:p>
          <a:p>
            <a:pPr>
              <a:spcAft>
                <a:spcPts val="400"/>
              </a:spcAft>
              <a:defRPr sz="1300">
                <a:solidFill>
                  <a:srgbClr val="2B2B2B"/>
                </a:solidFill>
                <a:latin typeface="Calibri"/>
              </a:defRPr>
            </a:pPr>
            <a:r>
              <a:t>Résultat peu fiable.</a:t>
            </a:r>
          </a:p>
        </p:txBody>
      </p:sp>
      <p:sp>
        <p:nvSpPr>
          <p:cNvPr id="10" name="Rectangle 9"/>
          <p:cNvSpPr/>
          <p:nvPr/>
        </p:nvSpPr>
        <p:spPr>
          <a:xfrm>
            <a:off x="59436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st-ordered_00874E_30.png"/>
          <p:cNvPicPr>
            <a:picLocks noChangeAspect="1"/>
          </p:cNvPicPr>
          <p:nvPr/>
        </p:nvPicPr>
        <p:blipFill>
          <a:blip r:embed="rId4"/>
          <a:stretch>
            <a:fillRect/>
          </a:stretch>
        </p:blipFill>
        <p:spPr>
          <a:xfrm>
            <a:off x="6199632" y="3090672"/>
            <a:ext cx="292608" cy="292608"/>
          </a:xfrm>
          <a:prstGeom prst="rect">
            <a:avLst/>
          </a:prstGeom>
        </p:spPr>
      </p:pic>
      <p:sp>
        <p:nvSpPr>
          <p:cNvPr id="12" name="TextBox 11"/>
          <p:cNvSpPr txBox="1"/>
          <p:nvPr/>
        </p:nvSpPr>
        <p:spPr>
          <a:xfrm>
            <a:off x="6601968" y="310896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Avec CoT (fiable)</a:t>
            </a:r>
          </a:p>
        </p:txBody>
      </p:sp>
      <p:sp>
        <p:nvSpPr>
          <p:cNvPr id="13" name="TextBox 12"/>
          <p:cNvSpPr txBox="1"/>
          <p:nvPr/>
        </p:nvSpPr>
        <p:spPr>
          <a:xfrm>
            <a:off x="62179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«Analyse cette dépense</a:t>
            </a:r>
          </a:p>
          <a:p>
            <a:pPr>
              <a:spcAft>
                <a:spcPts val="400"/>
              </a:spcAft>
              <a:defRPr sz="1300">
                <a:solidFill>
                  <a:srgbClr val="2B2B2B"/>
                </a:solidFill>
                <a:latin typeface="Calibri"/>
              </a:defRPr>
            </a:pPr>
            <a:r>
              <a:t>étape par étape en</a:t>
            </a:r>
          </a:p>
          <a:p>
            <a:pPr>
              <a:spcAft>
                <a:spcPts val="400"/>
              </a:spcAft>
              <a:defRPr sz="1300">
                <a:solidFill>
                  <a:srgbClr val="2B2B2B"/>
                </a:solidFill>
                <a:latin typeface="Calibri"/>
              </a:defRPr>
            </a:pPr>
            <a:r>
              <a:t>suivant notre politique.</a:t>
            </a:r>
          </a:p>
          <a:p>
            <a:pPr>
              <a:spcAft>
                <a:spcPts val="400"/>
              </a:spcAft>
              <a:defRPr sz="1300">
                <a:solidFill>
                  <a:srgbClr val="2B2B2B"/>
                </a:solidFill>
                <a:latin typeface="Calibri"/>
              </a:defRPr>
            </a:pPr>
            <a:r>
              <a:t>Est-elle conforme?»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 Copilot liste chaque</a:t>
            </a:r>
          </a:p>
          <a:p>
            <a:pPr>
              <a:spcAft>
                <a:spcPts val="400"/>
              </a:spcAft>
              <a:defRPr sz="1300">
                <a:solidFill>
                  <a:srgbClr val="2B2B2B"/>
                </a:solidFill>
                <a:latin typeface="Calibri"/>
              </a:defRPr>
            </a:pPr>
            <a:r>
              <a:t>règle, vérifie une à une,</a:t>
            </a:r>
          </a:p>
          <a:p>
            <a:pPr>
              <a:spcAft>
                <a:spcPts val="400"/>
              </a:spcAft>
              <a:defRPr sz="1300">
                <a:solidFill>
                  <a:srgbClr val="2B2B2B"/>
                </a:solidFill>
                <a:latin typeface="Calibri"/>
              </a:defRPr>
            </a:pPr>
            <a:r>
              <a:t>conclut avec justification.</a:t>
            </a:r>
          </a:p>
        </p:txBody>
      </p:sp>
      <p:sp>
        <p:nvSpPr>
          <p:cNvPr id="14" name="Rectangle 13"/>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6" name="TextBox 15"/>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Tree of Thought (ToT) — Explorer plusieurs pistes</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Comme Chain of Thought, mais Copilot compare plusieurs chemins</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Copilot explore plusieurs scénarios ou solutions en parallèle</a:t>
            </a:r>
          </a:p>
          <a:p>
            <a:pPr>
              <a:spcAft>
                <a:spcPts val="400"/>
              </a:spcAft>
              <a:defRPr sz="1400">
                <a:solidFill>
                  <a:srgbClr val="2B2B2B"/>
                </a:solidFill>
                <a:latin typeface="Calibri"/>
              </a:defRPr>
            </a:pPr>
            <a:r>
              <a:t>• Compare les options selon des critères clairs (coût, risque, effort...)</a:t>
            </a:r>
          </a:p>
          <a:p>
            <a:pPr>
              <a:spcAft>
                <a:spcPts val="400"/>
              </a:spcAft>
              <a:defRPr sz="1400">
                <a:solidFill>
                  <a:srgbClr val="2B2B2B"/>
                </a:solidFill>
                <a:latin typeface="Calibri"/>
              </a:defRPr>
            </a:pPr>
            <a:r>
              <a:t>• Idéal pour prises de décision, appels d'offres, analyses comparatives</a:t>
            </a:r>
          </a:p>
        </p:txBody>
      </p:sp>
      <p:sp>
        <p:nvSpPr>
          <p:cNvPr id="6" name="Rectangle 5"/>
          <p:cNvSpPr/>
          <p:nvPr/>
        </p:nvSpPr>
        <p:spPr>
          <a:xfrm>
            <a:off x="4572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it-branch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4370832" cy="457200"/>
          </a:xfrm>
          <a:prstGeom prst="rect">
            <a:avLst/>
          </a:prstGeom>
          <a:noFill/>
        </p:spPr>
        <p:txBody>
          <a:bodyPr wrap="square" lIns="45720" rIns="45720" tIns="18288" bIns="18288">
            <a:spAutoFit/>
          </a:bodyPr>
          <a:lstStyle/>
          <a:p>
            <a:pPr algn="l">
              <a:defRPr sz="1700" b="1">
                <a:solidFill>
                  <a:srgbClr val="00874E"/>
                </a:solidFill>
                <a:latin typeface="Calibri"/>
              </a:defRPr>
            </a:pPr>
            <a:r>
              <a:t>Exemple institution financière</a:t>
            </a:r>
          </a:p>
        </p:txBody>
      </p:sp>
      <p:sp>
        <p:nvSpPr>
          <p:cNvPr id="9" name="TextBox 8"/>
          <p:cNvSpPr txBox="1"/>
          <p:nvPr/>
        </p:nvSpPr>
        <p:spPr>
          <a:xfrm>
            <a:off x="7315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«Nous devons choisir un</a:t>
            </a:r>
          </a:p>
          <a:p>
            <a:pPr>
              <a:spcAft>
                <a:spcPts val="400"/>
              </a:spcAft>
              <a:defRPr sz="1300">
                <a:solidFill>
                  <a:srgbClr val="2B2B2B"/>
                </a:solidFill>
                <a:latin typeface="Calibri"/>
              </a:defRPr>
            </a:pPr>
            <a:r>
              <a:t>fournisseur de solution</a:t>
            </a:r>
          </a:p>
          <a:p>
            <a:pPr>
              <a:spcAft>
                <a:spcPts val="400"/>
              </a:spcAft>
              <a:defRPr sz="1300">
                <a:solidFill>
                  <a:srgbClr val="2B2B2B"/>
                </a:solidFill>
                <a:latin typeface="Calibri"/>
              </a:defRPr>
            </a:pPr>
            <a:r>
              <a:t>de gestion documentaire.</a:t>
            </a:r>
          </a:p>
          <a:p>
            <a:pPr>
              <a:spcAft>
                <a:spcPts val="400"/>
              </a:spcAft>
              <a:defRPr sz="1300">
                <a:solidFill>
                  <a:srgbClr val="2B2B2B"/>
                </a:solidFill>
                <a:latin typeface="Calibri"/>
              </a:defRPr>
            </a:pPr>
            <a:r>
              <a:t>Explore 3 options.</a:t>
            </a:r>
          </a:p>
          <a:p>
            <a:pPr>
              <a:spcAft>
                <a:spcPts val="400"/>
              </a:spcAft>
              <a:defRPr sz="1300">
                <a:solidFill>
                  <a:srgbClr val="2B2B2B"/>
                </a:solidFill>
                <a:latin typeface="Calibri"/>
              </a:defRPr>
            </a:pPr>
            <a:r>
              <a:t>Compare: coûts, sécurité,</a:t>
            </a:r>
          </a:p>
          <a:p>
            <a:pPr>
              <a:spcAft>
                <a:spcPts val="400"/>
              </a:spcAft>
              <a:defRPr sz="1300">
                <a:solidFill>
                  <a:srgbClr val="2B2B2B"/>
                </a:solidFill>
                <a:latin typeface="Calibri"/>
              </a:defRPr>
            </a:pPr>
            <a:r>
              <a:t>conformité, effort.</a:t>
            </a:r>
          </a:p>
          <a:p>
            <a:pPr>
              <a:spcAft>
                <a:spcPts val="400"/>
              </a:spcAft>
              <a:defRPr sz="1300">
                <a:solidFill>
                  <a:srgbClr val="2B2B2B"/>
                </a:solidFill>
                <a:latin typeface="Calibri"/>
              </a:defRPr>
            </a:pPr>
            <a:r>
              <a:t>Recommande avec</a:t>
            </a:r>
          </a:p>
          <a:p>
            <a:pPr>
              <a:spcAft>
                <a:spcPts val="400"/>
              </a:spcAft>
              <a:defRPr sz="1300">
                <a:solidFill>
                  <a:srgbClr val="2B2B2B"/>
                </a:solidFill>
                <a:latin typeface="Calibri"/>
              </a:defRPr>
            </a:pPr>
            <a:r>
              <a:t>justification.»</a:t>
            </a:r>
          </a:p>
        </p:txBody>
      </p:sp>
      <p:sp>
        <p:nvSpPr>
          <p:cNvPr id="10" name="Rectangle 9"/>
          <p:cNvSpPr/>
          <p:nvPr/>
        </p:nvSpPr>
        <p:spPr>
          <a:xfrm>
            <a:off x="5943600" y="2926080"/>
            <a:ext cx="52120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circle-help_00874E_30.png"/>
          <p:cNvPicPr>
            <a:picLocks noChangeAspect="1"/>
          </p:cNvPicPr>
          <p:nvPr/>
        </p:nvPicPr>
        <p:blipFill>
          <a:blip r:embed="rId4"/>
          <a:stretch>
            <a:fillRect/>
          </a:stretch>
        </p:blipFill>
        <p:spPr>
          <a:xfrm>
            <a:off x="6199632" y="3090672"/>
            <a:ext cx="292608" cy="292608"/>
          </a:xfrm>
          <a:prstGeom prst="rect">
            <a:avLst/>
          </a:prstGeom>
        </p:spPr>
      </p:pic>
      <p:sp>
        <p:nvSpPr>
          <p:cNvPr id="12" name="TextBox 11"/>
          <p:cNvSpPr txBox="1"/>
          <p:nvPr/>
        </p:nvSpPr>
        <p:spPr>
          <a:xfrm>
            <a:off x="6601968" y="310896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Quand l'utiliser</a:t>
            </a:r>
          </a:p>
        </p:txBody>
      </p:sp>
      <p:sp>
        <p:nvSpPr>
          <p:cNvPr id="13" name="TextBox 12"/>
          <p:cNvSpPr txBox="1"/>
          <p:nvPr/>
        </p:nvSpPr>
        <p:spPr>
          <a:xfrm>
            <a:off x="6217920" y="3703320"/>
            <a:ext cx="4663440" cy="2331720"/>
          </a:xfrm>
          <a:prstGeom prst="rect">
            <a:avLst/>
          </a:prstGeom>
          <a:noFill/>
        </p:spPr>
        <p:txBody>
          <a:bodyPr wrap="square">
            <a:spAutoFit/>
          </a:bodyPr>
          <a:lstStyle/>
          <a:p>
            <a:pPr>
              <a:spcAft>
                <a:spcPts val="400"/>
              </a:spcAft>
              <a:defRPr sz="1300">
                <a:solidFill>
                  <a:srgbClr val="2B2B2B"/>
                </a:solidFill>
                <a:latin typeface="Calibri"/>
              </a:defRPr>
            </a:pPr>
            <a:r>
              <a:t>Sélection de fournisseur</a:t>
            </a:r>
          </a:p>
          <a:p>
            <a:pPr>
              <a:spcAft>
                <a:spcPts val="400"/>
              </a:spcAft>
              <a:defRPr sz="1300">
                <a:solidFill>
                  <a:srgbClr val="2B2B2B"/>
                </a:solidFill>
                <a:latin typeface="Calibri"/>
              </a:defRPr>
            </a:pPr>
            <a:r>
              <a:t>Approbation de budget</a:t>
            </a:r>
          </a:p>
          <a:p>
            <a:pPr>
              <a:spcAft>
                <a:spcPts val="400"/>
              </a:spcAft>
              <a:defRPr sz="1300">
                <a:solidFill>
                  <a:srgbClr val="2B2B2B"/>
                </a:solidFill>
                <a:latin typeface="Calibri"/>
              </a:defRPr>
            </a:pPr>
            <a:r>
              <a:t>Analyse coûts/bénéfices</a:t>
            </a:r>
          </a:p>
          <a:p>
            <a:pPr>
              <a:spcAft>
                <a:spcPts val="400"/>
              </a:spcAft>
              <a:defRPr sz="1300">
                <a:solidFill>
                  <a:srgbClr val="2B2B2B"/>
                </a:solidFill>
                <a:latin typeface="Calibri"/>
              </a:defRPr>
            </a:pPr>
            <a:r>
              <a:t>Choix d'architecture technique</a:t>
            </a:r>
          </a:p>
          <a:p>
            <a:pPr>
              <a:spcAft>
                <a:spcPts val="400"/>
              </a:spcAft>
              <a:defRPr sz="1300">
                <a:solidFill>
                  <a:srgbClr val="2B2B2B"/>
                </a:solidFill>
                <a:latin typeface="Calibri"/>
              </a:defRPr>
            </a:pPr>
            <a:r>
              <a:t>Planification de migration</a:t>
            </a:r>
          </a:p>
          <a:p>
            <a:pPr>
              <a:spcAft>
                <a:spcPts val="400"/>
              </a:spcAft>
              <a:defRPr sz="1300">
                <a:solidFill>
                  <a:srgbClr val="2B2B2B"/>
                </a:solidFill>
                <a:latin typeface="Calibri"/>
              </a:defRPr>
            </a:pPr>
          </a:p>
          <a:p>
            <a:pPr>
              <a:spcAft>
                <a:spcPts val="400"/>
              </a:spcAft>
              <a:defRPr sz="1300">
                <a:solidFill>
                  <a:srgbClr val="2B2B2B"/>
                </a:solidFill>
                <a:latin typeface="Calibri"/>
              </a:defRPr>
            </a:pPr>
            <a:r>
              <a:t>En mode Think Deeper</a:t>
            </a:r>
          </a:p>
          <a:p>
            <a:pPr>
              <a:spcAft>
                <a:spcPts val="400"/>
              </a:spcAft>
              <a:defRPr sz="1300">
                <a:solidFill>
                  <a:srgbClr val="2B2B2B"/>
                </a:solidFill>
                <a:latin typeface="Calibri"/>
              </a:defRPr>
            </a:pPr>
            <a:r>
              <a:t>pour meilleurs résultats</a:t>
            </a:r>
          </a:p>
        </p:txBody>
      </p:sp>
      <p:sp>
        <p:nvSpPr>
          <p:cNvPr id="14" name="Rectangle 13"/>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6" name="TextBox 15"/>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Red Team / Blue Team — Se challenger soi-même</a:t>
            </a:r>
          </a:p>
        </p:txBody>
      </p:sp>
      <p:sp>
        <p:nvSpPr>
          <p:cNvPr id="3" name="TextBox 2"/>
          <p:cNvSpPr txBox="1"/>
          <p:nvPr/>
        </p:nvSpPr>
        <p:spPr>
          <a:xfrm>
            <a:off x="457200" y="1005840"/>
            <a:ext cx="10972800" cy="411480"/>
          </a:xfrm>
          <a:prstGeom prst="rect">
            <a:avLst/>
          </a:prstGeom>
          <a:noFill/>
        </p:spPr>
        <p:txBody>
          <a:bodyPr wrap="square" lIns="45720" rIns="45720" tIns="18288" bIns="18288">
            <a:spAutoFit/>
          </a:bodyPr>
          <a:lstStyle/>
          <a:p>
            <a:pPr algn="l">
              <a:defRPr sz="1500" b="0">
                <a:solidFill>
                  <a:srgbClr val="6B6B6B"/>
                </a:solidFill>
                <a:latin typeface="Calibri"/>
              </a:defRPr>
            </a:pPr>
            <a:r>
              <a:t>Copilot propose une solution, puis en cherche les failles</a:t>
            </a:r>
          </a:p>
        </p:txBody>
      </p:sp>
      <p:sp>
        <p:nvSpPr>
          <p:cNvPr id="4" name="Rectangle 3"/>
          <p:cNvSpPr/>
          <p:nvPr/>
        </p:nvSpPr>
        <p:spPr>
          <a:xfrm>
            <a:off x="457200" y="150876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37360"/>
            <a:ext cx="10972800" cy="1188720"/>
          </a:xfrm>
          <a:prstGeom prst="rect">
            <a:avLst/>
          </a:prstGeom>
          <a:noFill/>
        </p:spPr>
        <p:txBody>
          <a:bodyPr wrap="square">
            <a:spAutoFit/>
          </a:bodyPr>
          <a:lstStyle/>
          <a:p>
            <a:pPr>
              <a:spcAft>
                <a:spcPts val="400"/>
              </a:spcAft>
              <a:defRPr sz="1400">
                <a:solidFill>
                  <a:srgbClr val="2B2B2B"/>
                </a:solidFill>
                <a:latin typeface="Calibri"/>
              </a:defRPr>
            </a:pPr>
            <a:r>
              <a:t>• Blue Team: propose la meilleure solution ou recommandation</a:t>
            </a:r>
          </a:p>
          <a:p>
            <a:pPr>
              <a:spcAft>
                <a:spcPts val="400"/>
              </a:spcAft>
              <a:defRPr sz="1400">
                <a:solidFill>
                  <a:srgbClr val="2B2B2B"/>
                </a:solidFill>
                <a:latin typeface="Calibri"/>
              </a:defRPr>
            </a:pPr>
            <a:r>
              <a:t>• Red Team: joue l'avocat du diable — cherche les failles et les risques</a:t>
            </a:r>
          </a:p>
          <a:p>
            <a:pPr>
              <a:spcAft>
                <a:spcPts val="400"/>
              </a:spcAft>
              <a:defRPr sz="1400">
                <a:solidFill>
                  <a:srgbClr val="2B2B2B"/>
                </a:solidFill>
                <a:latin typeface="Calibri"/>
              </a:defRPr>
            </a:pPr>
            <a:r>
              <a:t>• Tout dans un seul prompt — parfait pour conformité et décisions importantes</a:t>
            </a:r>
          </a:p>
        </p:txBody>
      </p:sp>
      <p:sp>
        <p:nvSpPr>
          <p:cNvPr id="6" name="Rectangle 5"/>
          <p:cNvSpPr/>
          <p:nvPr/>
        </p:nvSpPr>
        <p:spPr>
          <a:xfrm>
            <a:off x="4572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hield_00874E_30.png"/>
          <p:cNvPicPr>
            <a:picLocks noChangeAspect="1"/>
          </p:cNvPicPr>
          <p:nvPr/>
        </p:nvPicPr>
        <p:blipFill>
          <a:blip r:embed="rId3"/>
          <a:stretch>
            <a:fillRect/>
          </a:stretch>
        </p:blipFill>
        <p:spPr>
          <a:xfrm>
            <a:off x="713232" y="3090672"/>
            <a:ext cx="292608" cy="292608"/>
          </a:xfrm>
          <a:prstGeom prst="rect">
            <a:avLst/>
          </a:prstGeom>
        </p:spPr>
      </p:pic>
      <p:sp>
        <p:nvSpPr>
          <p:cNvPr id="8" name="TextBox 7"/>
          <p:cNvSpPr txBox="1"/>
          <p:nvPr/>
        </p:nvSpPr>
        <p:spPr>
          <a:xfrm>
            <a:off x="1115568" y="3108960"/>
            <a:ext cx="2542032" cy="457200"/>
          </a:xfrm>
          <a:prstGeom prst="rect">
            <a:avLst/>
          </a:prstGeom>
          <a:noFill/>
        </p:spPr>
        <p:txBody>
          <a:bodyPr wrap="square" lIns="45720" rIns="45720" tIns="18288" bIns="18288">
            <a:spAutoFit/>
          </a:bodyPr>
          <a:lstStyle/>
          <a:p>
            <a:pPr algn="l">
              <a:defRPr sz="1700" b="1">
                <a:solidFill>
                  <a:srgbClr val="00874E"/>
                </a:solidFill>
                <a:latin typeface="Calibri"/>
              </a:defRPr>
            </a:pPr>
            <a:r>
              <a:t>Blue Team</a:t>
            </a:r>
          </a:p>
        </p:txBody>
      </p:sp>
      <p:sp>
        <p:nvSpPr>
          <p:cNvPr id="9" name="TextBox 8"/>
          <p:cNvSpPr txBox="1"/>
          <p:nvPr/>
        </p:nvSpPr>
        <p:spPr>
          <a:xfrm>
            <a:off x="7315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Propose la meilleure</a:t>
            </a:r>
          </a:p>
          <a:p>
            <a:pPr>
              <a:spcAft>
                <a:spcPts val="400"/>
              </a:spcAft>
              <a:defRPr sz="1300">
                <a:solidFill>
                  <a:srgbClr val="2B2B2B"/>
                </a:solidFill>
                <a:latin typeface="Calibri"/>
              </a:defRPr>
            </a:pPr>
            <a:r>
              <a:t>solution</a:t>
            </a:r>
          </a:p>
          <a:p>
            <a:pPr>
              <a:spcAft>
                <a:spcPts val="400"/>
              </a:spcAft>
              <a:defRPr sz="1300">
                <a:solidFill>
                  <a:srgbClr val="2B2B2B"/>
                </a:solidFill>
                <a:latin typeface="Calibri"/>
              </a:defRPr>
            </a:pPr>
          </a:p>
          <a:p>
            <a:pPr>
              <a:spcAft>
                <a:spcPts val="400"/>
              </a:spcAft>
              <a:defRPr sz="1300">
                <a:solidFill>
                  <a:srgbClr val="2B2B2B"/>
                </a:solidFill>
                <a:latin typeface="Calibri"/>
              </a:defRPr>
            </a:pPr>
            <a:r>
              <a:t>Optimiste,</a:t>
            </a:r>
          </a:p>
          <a:p>
            <a:pPr>
              <a:spcAft>
                <a:spcPts val="400"/>
              </a:spcAft>
              <a:defRPr sz="1300">
                <a:solidFill>
                  <a:srgbClr val="2B2B2B"/>
                </a:solidFill>
                <a:latin typeface="Calibri"/>
              </a:defRPr>
            </a:pPr>
            <a:r>
              <a:t>centré sur les</a:t>
            </a:r>
          </a:p>
          <a:p>
            <a:pPr>
              <a:spcAft>
                <a:spcPts val="400"/>
              </a:spcAft>
              <a:defRPr sz="1300">
                <a:solidFill>
                  <a:srgbClr val="2B2B2B"/>
                </a:solidFill>
                <a:latin typeface="Calibri"/>
              </a:defRPr>
            </a:pPr>
            <a:r>
              <a:t>opportunités</a:t>
            </a:r>
          </a:p>
        </p:txBody>
      </p:sp>
      <p:sp>
        <p:nvSpPr>
          <p:cNvPr id="10" name="Rectangle 9"/>
          <p:cNvSpPr/>
          <p:nvPr/>
        </p:nvSpPr>
        <p:spPr>
          <a:xfrm>
            <a:off x="41148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words_EF4444_30.png"/>
          <p:cNvPicPr>
            <a:picLocks noChangeAspect="1"/>
          </p:cNvPicPr>
          <p:nvPr/>
        </p:nvPicPr>
        <p:blipFill>
          <a:blip r:embed="rId4"/>
          <a:stretch>
            <a:fillRect/>
          </a:stretch>
        </p:blipFill>
        <p:spPr>
          <a:xfrm>
            <a:off x="4370832" y="3090672"/>
            <a:ext cx="292608" cy="292608"/>
          </a:xfrm>
          <a:prstGeom prst="rect">
            <a:avLst/>
          </a:prstGeom>
        </p:spPr>
      </p:pic>
      <p:sp>
        <p:nvSpPr>
          <p:cNvPr id="12" name="TextBox 11"/>
          <p:cNvSpPr txBox="1"/>
          <p:nvPr/>
        </p:nvSpPr>
        <p:spPr>
          <a:xfrm>
            <a:off x="4773168" y="3108960"/>
            <a:ext cx="2542031" cy="457200"/>
          </a:xfrm>
          <a:prstGeom prst="rect">
            <a:avLst/>
          </a:prstGeom>
          <a:noFill/>
        </p:spPr>
        <p:txBody>
          <a:bodyPr wrap="square" lIns="45720" rIns="45720" tIns="18288" bIns="18288">
            <a:spAutoFit/>
          </a:bodyPr>
          <a:lstStyle/>
          <a:p>
            <a:pPr algn="l">
              <a:defRPr sz="1700" b="1">
                <a:solidFill>
                  <a:srgbClr val="EF4444"/>
                </a:solidFill>
                <a:latin typeface="Calibri"/>
              </a:defRPr>
            </a:pPr>
            <a:r>
              <a:t>Red Team</a:t>
            </a:r>
          </a:p>
        </p:txBody>
      </p:sp>
      <p:sp>
        <p:nvSpPr>
          <p:cNvPr id="13" name="TextBox 12"/>
          <p:cNvSpPr txBox="1"/>
          <p:nvPr/>
        </p:nvSpPr>
        <p:spPr>
          <a:xfrm>
            <a:off x="43891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Cherche les failles</a:t>
            </a:r>
          </a:p>
          <a:p>
            <a:pPr>
              <a:spcAft>
                <a:spcPts val="400"/>
              </a:spcAft>
              <a:defRPr sz="1300">
                <a:solidFill>
                  <a:srgbClr val="2B2B2B"/>
                </a:solidFill>
                <a:latin typeface="Calibri"/>
              </a:defRPr>
            </a:pPr>
            <a:r>
              <a:t>et les risques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Pessimiste,</a:t>
            </a:r>
          </a:p>
          <a:p>
            <a:pPr>
              <a:spcAft>
                <a:spcPts val="400"/>
              </a:spcAft>
              <a:defRPr sz="1300">
                <a:solidFill>
                  <a:srgbClr val="2B2B2B"/>
                </a:solidFill>
                <a:latin typeface="Calibri"/>
              </a:defRPr>
            </a:pPr>
            <a:r>
              <a:t>centré sur la</a:t>
            </a:r>
          </a:p>
          <a:p>
            <a:pPr>
              <a:spcAft>
                <a:spcPts val="400"/>
              </a:spcAft>
              <a:defRPr sz="1300">
                <a:solidFill>
                  <a:srgbClr val="2B2B2B"/>
                </a:solidFill>
                <a:latin typeface="Calibri"/>
              </a:defRPr>
            </a:pPr>
            <a:r>
              <a:t>sécurité et la conformité</a:t>
            </a:r>
          </a:p>
        </p:txBody>
      </p:sp>
      <p:sp>
        <p:nvSpPr>
          <p:cNvPr id="14" name="Rectangle 13"/>
          <p:cNvSpPr/>
          <p:nvPr/>
        </p:nvSpPr>
        <p:spPr>
          <a:xfrm>
            <a:off x="7772400" y="2926080"/>
            <a:ext cx="3383280" cy="329184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circle-check_F59E0B_30.png"/>
          <p:cNvPicPr>
            <a:picLocks noChangeAspect="1"/>
          </p:cNvPicPr>
          <p:nvPr/>
        </p:nvPicPr>
        <p:blipFill>
          <a:blip r:embed="rId5"/>
          <a:stretch>
            <a:fillRect/>
          </a:stretch>
        </p:blipFill>
        <p:spPr>
          <a:xfrm>
            <a:off x="8028431" y="3090672"/>
            <a:ext cx="292608" cy="292608"/>
          </a:xfrm>
          <a:prstGeom prst="rect">
            <a:avLst/>
          </a:prstGeom>
        </p:spPr>
      </p:pic>
      <p:sp>
        <p:nvSpPr>
          <p:cNvPr id="16" name="TextBox 15"/>
          <p:cNvSpPr txBox="1"/>
          <p:nvPr/>
        </p:nvSpPr>
        <p:spPr>
          <a:xfrm>
            <a:off x="8430767" y="3108960"/>
            <a:ext cx="2542032" cy="457200"/>
          </a:xfrm>
          <a:prstGeom prst="rect">
            <a:avLst/>
          </a:prstGeom>
          <a:noFill/>
        </p:spPr>
        <p:txBody>
          <a:bodyPr wrap="square" lIns="45720" rIns="45720" tIns="18288" bIns="18288">
            <a:spAutoFit/>
          </a:bodyPr>
          <a:lstStyle/>
          <a:p>
            <a:pPr algn="l">
              <a:defRPr sz="1700" b="1">
                <a:solidFill>
                  <a:srgbClr val="F59E0B"/>
                </a:solidFill>
                <a:latin typeface="Calibri"/>
              </a:defRPr>
            </a:pPr>
            <a:r>
              <a:t>Résultat</a:t>
            </a:r>
          </a:p>
        </p:txBody>
      </p:sp>
      <p:sp>
        <p:nvSpPr>
          <p:cNvPr id="17" name="TextBox 16"/>
          <p:cNvSpPr txBox="1"/>
          <p:nvPr/>
        </p:nvSpPr>
        <p:spPr>
          <a:xfrm>
            <a:off x="8046720" y="3703320"/>
            <a:ext cx="2834640" cy="2331720"/>
          </a:xfrm>
          <a:prstGeom prst="rect">
            <a:avLst/>
          </a:prstGeom>
          <a:noFill/>
        </p:spPr>
        <p:txBody>
          <a:bodyPr wrap="square">
            <a:spAutoFit/>
          </a:bodyPr>
          <a:lstStyle/>
          <a:p>
            <a:pPr>
              <a:spcAft>
                <a:spcPts val="400"/>
              </a:spcAft>
              <a:defRPr sz="1300">
                <a:solidFill>
                  <a:srgbClr val="2B2B2B"/>
                </a:solidFill>
                <a:latin typeface="Calibri"/>
              </a:defRPr>
            </a:pPr>
            <a:r>
              <a:t>Les deux visions</a:t>
            </a:r>
          </a:p>
          <a:p>
            <a:pPr>
              <a:spcAft>
                <a:spcPts val="400"/>
              </a:spcAft>
              <a:defRPr sz="1300">
                <a:solidFill>
                  <a:srgbClr val="2B2B2B"/>
                </a:solidFill>
                <a:latin typeface="Calibri"/>
              </a:defRPr>
            </a:pPr>
            <a:r>
              <a:t>combinées donnent</a:t>
            </a:r>
          </a:p>
          <a:p>
            <a:pPr>
              <a:spcAft>
                <a:spcPts val="400"/>
              </a:spcAft>
              <a:defRPr sz="1300">
                <a:solidFill>
                  <a:srgbClr val="2B2B2B"/>
                </a:solidFill>
                <a:latin typeface="Calibri"/>
              </a:defRPr>
            </a:pPr>
            <a:r>
              <a:t>une décision</a:t>
            </a:r>
          </a:p>
          <a:p>
            <a:pPr>
              <a:spcAft>
                <a:spcPts val="400"/>
              </a:spcAft>
              <a:defRPr sz="1300">
                <a:solidFill>
                  <a:srgbClr val="2B2B2B"/>
                </a:solidFill>
                <a:latin typeface="Calibri"/>
              </a:defRPr>
            </a:pPr>
            <a:r>
              <a:t>éclairée et robuste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Indispensable en</a:t>
            </a:r>
          </a:p>
          <a:p>
            <a:pPr>
              <a:spcAft>
                <a:spcPts val="400"/>
              </a:spcAft>
              <a:defRPr sz="1300">
                <a:solidFill>
                  <a:srgbClr val="2B2B2B"/>
                </a:solidFill>
                <a:latin typeface="Calibri"/>
              </a:defRPr>
            </a:pPr>
            <a:r>
              <a:t>institution financière!</a:t>
            </a:r>
          </a:p>
        </p:txBody>
      </p:sp>
      <p:sp>
        <p:nvSpPr>
          <p:cNvPr id="18" name="Rectangle 17"/>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20" name="TextBox 19"/>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6F0EA"/>
        </a:solidFill>
        <a:effectLst/>
      </p:bgPr>
    </p:bg>
    <p:spTree>
      <p:nvGrpSpPr>
        <p:cNvPr id="1" name=""/>
        <p:cNvGrpSpPr/>
        <p:nvPr/>
      </p:nvGrpSpPr>
      <p:grpSpPr/>
      <p:sp>
        <p:nvSpPr>
          <p:cNvPr id="2" name="TextBox 1"/>
          <p:cNvSpPr txBox="1"/>
          <p:nvPr/>
        </p:nvSpPr>
        <p:spPr>
          <a:xfrm>
            <a:off x="457200" y="365760"/>
            <a:ext cx="10972800" cy="731520"/>
          </a:xfrm>
          <a:prstGeom prst="rect">
            <a:avLst/>
          </a:prstGeom>
          <a:noFill/>
        </p:spPr>
        <p:txBody>
          <a:bodyPr wrap="square" lIns="45720" rIns="45720" tIns="18288" bIns="18288">
            <a:spAutoFit/>
          </a:bodyPr>
          <a:lstStyle/>
          <a:p>
            <a:pPr algn="l">
              <a:defRPr sz="2800" b="1">
                <a:solidFill>
                  <a:srgbClr val="006B3F"/>
                </a:solidFill>
                <a:latin typeface="Calibri"/>
              </a:defRPr>
            </a:pPr>
            <a:r>
              <a:t>Le prompt qui combine les 3 techniques</a:t>
            </a:r>
          </a:p>
        </p:txBody>
      </p:sp>
      <p:sp>
        <p:nvSpPr>
          <p:cNvPr id="3" name="Rectangle 2"/>
          <p:cNvSpPr/>
          <p:nvPr/>
        </p:nvSpPr>
        <p:spPr>
          <a:xfrm>
            <a:off x="457200" y="1234440"/>
            <a:ext cx="11274552" cy="18288"/>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463040"/>
            <a:ext cx="52120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le-code_00874E_30.png"/>
          <p:cNvPicPr>
            <a:picLocks noChangeAspect="1"/>
          </p:cNvPicPr>
          <p:nvPr/>
        </p:nvPicPr>
        <p:blipFill>
          <a:blip r:embed="rId3"/>
          <a:stretch>
            <a:fillRect/>
          </a:stretch>
        </p:blipFill>
        <p:spPr>
          <a:xfrm>
            <a:off x="713232" y="1627632"/>
            <a:ext cx="292608" cy="292608"/>
          </a:xfrm>
          <a:prstGeom prst="rect">
            <a:avLst/>
          </a:prstGeom>
        </p:spPr>
      </p:pic>
      <p:sp>
        <p:nvSpPr>
          <p:cNvPr id="6" name="TextBox 5"/>
          <p:cNvSpPr txBox="1"/>
          <p:nvPr/>
        </p:nvSpPr>
        <p:spPr>
          <a:xfrm>
            <a:off x="1115568" y="1645920"/>
            <a:ext cx="4370832" cy="457200"/>
          </a:xfrm>
          <a:prstGeom prst="rect">
            <a:avLst/>
          </a:prstGeom>
          <a:noFill/>
        </p:spPr>
        <p:txBody>
          <a:bodyPr wrap="square" lIns="45720" rIns="45720" tIns="18288" bIns="18288">
            <a:spAutoFit/>
          </a:bodyPr>
          <a:lstStyle/>
          <a:p>
            <a:pPr algn="l">
              <a:defRPr sz="1700" b="1">
                <a:solidFill>
                  <a:srgbClr val="00874E"/>
                </a:solidFill>
                <a:latin typeface="Calibri"/>
              </a:defRPr>
            </a:pPr>
            <a:r>
              <a:t>Le prompt complet</a:t>
            </a:r>
          </a:p>
        </p:txBody>
      </p:sp>
      <p:sp>
        <p:nvSpPr>
          <p:cNvPr id="7" name="TextBox 6"/>
          <p:cNvSpPr txBox="1"/>
          <p:nvPr/>
        </p:nvSpPr>
        <p:spPr>
          <a:xfrm>
            <a:off x="731520" y="2240280"/>
            <a:ext cx="4663440" cy="3794760"/>
          </a:xfrm>
          <a:prstGeom prst="rect">
            <a:avLst/>
          </a:prstGeom>
          <a:noFill/>
        </p:spPr>
        <p:txBody>
          <a:bodyPr wrap="square">
            <a:spAutoFit/>
          </a:bodyPr>
          <a:lstStyle/>
          <a:p>
            <a:pPr>
              <a:spcAft>
                <a:spcPts val="400"/>
              </a:spcAft>
              <a:defRPr sz="1300">
                <a:solidFill>
                  <a:srgbClr val="2B2B2B"/>
                </a:solidFill>
                <a:latin typeface="Calibri"/>
              </a:defRPr>
            </a:pPr>
            <a:r>
              <a:t>«En tant que chef de projet</a:t>
            </a:r>
          </a:p>
          <a:p>
            <a:pPr>
              <a:spcAft>
                <a:spcPts val="400"/>
              </a:spcAft>
              <a:defRPr sz="1300">
                <a:solidFill>
                  <a:srgbClr val="2B2B2B"/>
                </a:solidFill>
                <a:latin typeface="Calibri"/>
              </a:defRPr>
            </a:pPr>
            <a:r>
              <a:t>senior, analyse étape par</a:t>
            </a:r>
          </a:p>
          <a:p>
            <a:pPr>
              <a:spcAft>
                <a:spcPts val="400"/>
              </a:spcAft>
              <a:defRPr sz="1300">
                <a:solidFill>
                  <a:srgbClr val="2B2B2B"/>
                </a:solidFill>
                <a:latin typeface="Calibri"/>
              </a:defRPr>
            </a:pPr>
            <a:r>
              <a:t>étape si nous devons</a:t>
            </a:r>
          </a:p>
          <a:p>
            <a:pPr>
              <a:spcAft>
                <a:spcPts val="400"/>
              </a:spcAft>
              <a:defRPr sz="1300">
                <a:solidFill>
                  <a:srgbClr val="2B2B2B"/>
                </a:solidFill>
                <a:latin typeface="Calibri"/>
              </a:defRPr>
            </a:pPr>
            <a:r>
              <a:t>approuver ce budget.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Explore 2 scénarios:</a:t>
            </a:r>
          </a:p>
          <a:p>
            <a:pPr>
              <a:spcAft>
                <a:spcPts val="400"/>
              </a:spcAft>
              <a:defRPr sz="1300">
                <a:solidFill>
                  <a:srgbClr val="2B2B2B"/>
                </a:solidFill>
                <a:latin typeface="Calibri"/>
              </a:defRPr>
            </a:pPr>
            <a:r>
              <a:t>A) Approuver tel quel</a:t>
            </a:r>
          </a:p>
          <a:p>
            <a:pPr>
              <a:spcAft>
                <a:spcPts val="400"/>
              </a:spcAft>
              <a:defRPr sz="1300">
                <a:solidFill>
                  <a:srgbClr val="2B2B2B"/>
                </a:solidFill>
                <a:latin typeface="Calibri"/>
              </a:defRPr>
            </a:pPr>
            <a:r>
              <a:t>B) Demander des modifications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Puis joue le rôle de</a:t>
            </a:r>
          </a:p>
          <a:p>
            <a:pPr>
              <a:spcAft>
                <a:spcPts val="400"/>
              </a:spcAft>
              <a:defRPr sz="1300">
                <a:solidFill>
                  <a:srgbClr val="2B2B2B"/>
                </a:solidFill>
                <a:latin typeface="Calibri"/>
              </a:defRPr>
            </a:pPr>
            <a:r>
              <a:t>l'auditeur interne (Red Team)</a:t>
            </a:r>
          </a:p>
          <a:p>
            <a:pPr>
              <a:spcAft>
                <a:spcPts val="400"/>
              </a:spcAft>
              <a:defRPr sz="1300">
                <a:solidFill>
                  <a:srgbClr val="2B2B2B"/>
                </a:solidFill>
                <a:latin typeface="Calibri"/>
              </a:defRPr>
            </a:pPr>
            <a:r>
              <a:t>et challenge ta recommandation.»</a:t>
            </a:r>
          </a:p>
        </p:txBody>
      </p:sp>
      <p:sp>
        <p:nvSpPr>
          <p:cNvPr id="8" name="Rectangle 7"/>
          <p:cNvSpPr/>
          <p:nvPr/>
        </p:nvSpPr>
        <p:spPr>
          <a:xfrm>
            <a:off x="5943600" y="1463040"/>
            <a:ext cx="5212080" cy="4754880"/>
          </a:xfrm>
          <a:prstGeom prst="rect">
            <a:avLst/>
          </a:prstGeom>
          <a:solidFill>
            <a:srgbClr val="FFFFFF"/>
          </a:solidFill>
          <a:ln>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00874E_30.png"/>
          <p:cNvPicPr>
            <a:picLocks noChangeAspect="1"/>
          </p:cNvPicPr>
          <p:nvPr/>
        </p:nvPicPr>
        <p:blipFill>
          <a:blip r:embed="rId4"/>
          <a:stretch>
            <a:fillRect/>
          </a:stretch>
        </p:blipFill>
        <p:spPr>
          <a:xfrm>
            <a:off x="6199632" y="1627632"/>
            <a:ext cx="292608" cy="292608"/>
          </a:xfrm>
          <a:prstGeom prst="rect">
            <a:avLst/>
          </a:prstGeom>
        </p:spPr>
      </p:pic>
      <p:sp>
        <p:nvSpPr>
          <p:cNvPr id="10" name="TextBox 9"/>
          <p:cNvSpPr txBox="1"/>
          <p:nvPr/>
        </p:nvSpPr>
        <p:spPr>
          <a:xfrm>
            <a:off x="6601968" y="1645920"/>
            <a:ext cx="4370831" cy="457200"/>
          </a:xfrm>
          <a:prstGeom prst="rect">
            <a:avLst/>
          </a:prstGeom>
          <a:noFill/>
        </p:spPr>
        <p:txBody>
          <a:bodyPr wrap="square" lIns="45720" rIns="45720" tIns="18288" bIns="18288">
            <a:spAutoFit/>
          </a:bodyPr>
          <a:lstStyle/>
          <a:p>
            <a:pPr algn="l">
              <a:defRPr sz="1700" b="1">
                <a:solidFill>
                  <a:srgbClr val="00874E"/>
                </a:solidFill>
                <a:latin typeface="Calibri"/>
              </a:defRPr>
            </a:pPr>
            <a:r>
              <a:t>Pourquoi ça marche</a:t>
            </a:r>
          </a:p>
        </p:txBody>
      </p:sp>
      <p:sp>
        <p:nvSpPr>
          <p:cNvPr id="11" name="TextBox 10"/>
          <p:cNvSpPr txBox="1"/>
          <p:nvPr/>
        </p:nvSpPr>
        <p:spPr>
          <a:xfrm>
            <a:off x="6217920" y="2240280"/>
            <a:ext cx="4663440" cy="3794760"/>
          </a:xfrm>
          <a:prstGeom prst="rect">
            <a:avLst/>
          </a:prstGeom>
          <a:noFill/>
        </p:spPr>
        <p:txBody>
          <a:bodyPr wrap="square">
            <a:spAutoFit/>
          </a:bodyPr>
          <a:lstStyle/>
          <a:p>
            <a:pPr>
              <a:spcAft>
                <a:spcPts val="400"/>
              </a:spcAft>
              <a:defRPr sz="1300">
                <a:solidFill>
                  <a:srgbClr val="2B2B2B"/>
                </a:solidFill>
                <a:latin typeface="Calibri"/>
              </a:defRPr>
            </a:pPr>
            <a:r>
              <a:t>Persona: contexte expert</a:t>
            </a:r>
          </a:p>
          <a:p>
            <a:pPr>
              <a:spcAft>
                <a:spcPts val="400"/>
              </a:spcAft>
              <a:defRPr sz="1300">
                <a:solidFill>
                  <a:srgbClr val="2B2B2B"/>
                </a:solidFill>
                <a:latin typeface="Calibri"/>
              </a:defRPr>
            </a:pPr>
          </a:p>
          <a:p>
            <a:pPr>
              <a:spcAft>
                <a:spcPts val="400"/>
              </a:spcAft>
              <a:defRPr sz="1300">
                <a:solidFill>
                  <a:srgbClr val="2B2B2B"/>
                </a:solidFill>
                <a:latin typeface="Calibri"/>
              </a:defRPr>
            </a:pPr>
            <a:r>
              <a:t>CoT: raisonnement structuré,</a:t>
            </a:r>
          </a:p>
          <a:p>
            <a:pPr>
              <a:spcAft>
                <a:spcPts val="400"/>
              </a:spcAft>
              <a:defRPr sz="1300">
                <a:solidFill>
                  <a:srgbClr val="2B2B2B"/>
                </a:solidFill>
                <a:latin typeface="Calibri"/>
              </a:defRPr>
            </a:pPr>
            <a:r>
              <a:t>pas de raccourci</a:t>
            </a:r>
          </a:p>
          <a:p>
            <a:pPr>
              <a:spcAft>
                <a:spcPts val="400"/>
              </a:spcAft>
              <a:defRPr sz="1300">
                <a:solidFill>
                  <a:srgbClr val="2B2B2B"/>
                </a:solidFill>
                <a:latin typeface="Calibri"/>
              </a:defRPr>
            </a:pPr>
          </a:p>
          <a:p>
            <a:pPr>
              <a:spcAft>
                <a:spcPts val="400"/>
              </a:spcAft>
              <a:defRPr sz="1300">
                <a:solidFill>
                  <a:srgbClr val="2B2B2B"/>
                </a:solidFill>
                <a:latin typeface="Calibri"/>
              </a:defRPr>
            </a:pPr>
            <a:r>
              <a:t>ToT: 2 scénarios comparés</a:t>
            </a:r>
          </a:p>
          <a:p>
            <a:pPr>
              <a:spcAft>
                <a:spcPts val="400"/>
              </a:spcAft>
              <a:defRPr sz="1300">
                <a:solidFill>
                  <a:srgbClr val="2B2B2B"/>
                </a:solidFill>
                <a:latin typeface="Calibri"/>
              </a:defRPr>
            </a:pPr>
          </a:p>
          <a:p>
            <a:pPr>
              <a:spcAft>
                <a:spcPts val="400"/>
              </a:spcAft>
              <a:defRPr sz="1300">
                <a:solidFill>
                  <a:srgbClr val="2B2B2B"/>
                </a:solidFill>
                <a:latin typeface="Calibri"/>
              </a:defRPr>
            </a:pPr>
            <a:r>
              <a:t>Red Team: biais réduit,</a:t>
            </a:r>
          </a:p>
          <a:p>
            <a:pPr>
              <a:spcAft>
                <a:spcPts val="400"/>
              </a:spcAft>
              <a:defRPr sz="1300">
                <a:solidFill>
                  <a:srgbClr val="2B2B2B"/>
                </a:solidFill>
                <a:latin typeface="Calibri"/>
              </a:defRPr>
            </a:pPr>
            <a:r>
              <a:t>décision robuste</a:t>
            </a:r>
          </a:p>
          <a:p>
            <a:pPr>
              <a:spcAft>
                <a:spcPts val="400"/>
              </a:spcAft>
              <a:defRPr sz="1300">
                <a:solidFill>
                  <a:srgbClr val="2B2B2B"/>
                </a:solidFill>
                <a:latin typeface="Calibri"/>
              </a:defRPr>
            </a:pPr>
          </a:p>
          <a:p>
            <a:pPr>
              <a:spcAft>
                <a:spcPts val="400"/>
              </a:spcAft>
              <a:defRPr sz="1300">
                <a:solidFill>
                  <a:srgbClr val="2B2B2B"/>
                </a:solidFill>
                <a:latin typeface="Calibri"/>
              </a:defRPr>
            </a:pPr>
            <a:r>
              <a:t>Essayez sur votre</a:t>
            </a:r>
          </a:p>
          <a:p>
            <a:pPr>
              <a:spcAft>
                <a:spcPts val="400"/>
              </a:spcAft>
              <a:defRPr sz="1300">
                <a:solidFill>
                  <a:srgbClr val="2B2B2B"/>
                </a:solidFill>
                <a:latin typeface="Calibri"/>
              </a:defRPr>
            </a:pPr>
            <a:r>
              <a:t>prochaine décision!</a:t>
            </a:r>
          </a:p>
        </p:txBody>
      </p:sp>
      <p:sp>
        <p:nvSpPr>
          <p:cNvPr id="12" name="Rectangle 11"/>
          <p:cNvSpPr/>
          <p:nvPr/>
        </p:nvSpPr>
        <p:spPr>
          <a:xfrm>
            <a:off x="457200" y="6446520"/>
            <a:ext cx="11274552" cy="13716"/>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537960"/>
            <a:ext cx="5486400" cy="274320"/>
          </a:xfrm>
          <a:prstGeom prst="rect">
            <a:avLst/>
          </a:prstGeom>
          <a:noFill/>
        </p:spPr>
        <p:txBody>
          <a:bodyPr wrap="square" lIns="45720" rIns="45720" tIns="18288" bIns="18288">
            <a:spAutoFit/>
          </a:bodyPr>
          <a:lstStyle/>
          <a:p>
            <a:pPr algn="l">
              <a:defRPr sz="1000" b="0">
                <a:solidFill>
                  <a:srgbClr val="6B6B6B"/>
                </a:solidFill>
                <a:latin typeface="Calibri"/>
              </a:defRPr>
            </a:pPr>
            <a:r>
              <a:t>La minute Copilot</a:t>
            </a:r>
          </a:p>
        </p:txBody>
      </p:sp>
      <p:sp>
        <p:nvSpPr>
          <p:cNvPr id="14" name="TextBox 13"/>
          <p:cNvSpPr txBox="1"/>
          <p:nvPr/>
        </p:nvSpPr>
        <p:spPr>
          <a:xfrm>
            <a:off x="10972800" y="6537960"/>
            <a:ext cx="822960" cy="274320"/>
          </a:xfrm>
          <a:prstGeom prst="rect">
            <a:avLst/>
          </a:prstGeom>
          <a:noFill/>
        </p:spPr>
        <p:txBody>
          <a:bodyPr wrap="square" lIns="45720" rIns="45720" tIns="18288" bIns="18288">
            <a:spAutoFit/>
          </a:bodyPr>
          <a:lstStyle/>
          <a:p>
            <a:pPr algn="r">
              <a:defRPr sz="1000" b="0">
                <a:solidFill>
                  <a:srgbClr val="6B6B6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874E"/>
        </a:solidFill>
        <a:effectLst/>
      </p:bgPr>
    </p:bg>
    <p:spTree>
      <p:nvGrpSpPr>
        <p:cNvPr id="1" name=""/>
        <p:cNvGrpSpPr/>
        <p:nvPr/>
      </p:nvGrpSpPr>
      <p:grpSpPr/>
      <p:sp>
        <p:nvSpPr>
          <p:cNvPr id="2" name="TextBox 1"/>
          <p:cNvSpPr txBox="1"/>
          <p:nvPr/>
        </p:nvSpPr>
        <p:spPr>
          <a:xfrm>
            <a:off x="914400" y="731520"/>
            <a:ext cx="10360152" cy="822960"/>
          </a:xfrm>
          <a:prstGeom prst="rect">
            <a:avLst/>
          </a:prstGeom>
          <a:noFill/>
        </p:spPr>
        <p:txBody>
          <a:bodyPr wrap="square" lIns="45720" rIns="45720" tIns="18288" bIns="18288">
            <a:spAutoFit/>
          </a:bodyPr>
          <a:lstStyle/>
          <a:p>
            <a:pPr algn="ctr">
              <a:defRPr sz="3600" b="1">
                <a:solidFill>
                  <a:srgbClr val="FFFFFF"/>
                </a:solidFill>
                <a:latin typeface="Calibri"/>
              </a:defRPr>
            </a:pPr>
            <a:r>
              <a:t>Les 3 techniques avancées</a:t>
            </a:r>
          </a:p>
        </p:txBody>
      </p:sp>
      <p:sp>
        <p:nvSpPr>
          <p:cNvPr id="3" name="Rectangle 2"/>
          <p:cNvSpPr/>
          <p:nvPr/>
        </p:nvSpPr>
        <p:spPr>
          <a:xfrm>
            <a:off x="4572000" y="1691640"/>
            <a:ext cx="3044952" cy="365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06957"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st-ordered_006B3F_36.png"/>
          <p:cNvPicPr>
            <a:picLocks noChangeAspect="1"/>
          </p:cNvPicPr>
          <p:nvPr/>
        </p:nvPicPr>
        <p:blipFill>
          <a:blip r:embed="rId3"/>
          <a:stretch>
            <a:fillRect/>
          </a:stretch>
        </p:blipFill>
        <p:spPr>
          <a:xfrm>
            <a:off x="2279141" y="2176272"/>
            <a:ext cx="347472" cy="347472"/>
          </a:xfrm>
          <a:prstGeom prst="rect">
            <a:avLst/>
          </a:prstGeom>
        </p:spPr>
      </p:pic>
      <p:sp>
        <p:nvSpPr>
          <p:cNvPr id="6" name="TextBox 5"/>
          <p:cNvSpPr txBox="1"/>
          <p:nvPr/>
        </p:nvSpPr>
        <p:spPr>
          <a:xfrm>
            <a:off x="944117"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Chain of Thought</a:t>
            </a:r>
          </a:p>
        </p:txBody>
      </p:sp>
      <p:sp>
        <p:nvSpPr>
          <p:cNvPr id="7" name="TextBox 6"/>
          <p:cNvSpPr txBox="1"/>
          <p:nvPr/>
        </p:nvSpPr>
        <p:spPr>
          <a:xfrm>
            <a:off x="944117"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«Raisonne étape</a:t>
            </a:r>
            <a:br/>
            <a:r>
              <a:t>par étape»</a:t>
            </a:r>
            <a:br/>
            <a:r>
              <a:t>Moins d'erreurs</a:t>
            </a:r>
          </a:p>
        </p:txBody>
      </p:sp>
      <p:sp>
        <p:nvSpPr>
          <p:cNvPr id="8" name="Rectangle 7"/>
          <p:cNvSpPr/>
          <p:nvPr/>
        </p:nvSpPr>
        <p:spPr>
          <a:xfrm>
            <a:off x="4448556"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git-branch_006B3F_36.png"/>
          <p:cNvPicPr>
            <a:picLocks noChangeAspect="1"/>
          </p:cNvPicPr>
          <p:nvPr/>
        </p:nvPicPr>
        <p:blipFill>
          <a:blip r:embed="rId4"/>
          <a:stretch>
            <a:fillRect/>
          </a:stretch>
        </p:blipFill>
        <p:spPr>
          <a:xfrm>
            <a:off x="5920740" y="2176272"/>
            <a:ext cx="347472" cy="347472"/>
          </a:xfrm>
          <a:prstGeom prst="rect">
            <a:avLst/>
          </a:prstGeom>
        </p:spPr>
      </p:pic>
      <p:sp>
        <p:nvSpPr>
          <p:cNvPr id="10" name="TextBox 9"/>
          <p:cNvSpPr txBox="1"/>
          <p:nvPr/>
        </p:nvSpPr>
        <p:spPr>
          <a:xfrm>
            <a:off x="4585716"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Tree of Thought</a:t>
            </a:r>
          </a:p>
        </p:txBody>
      </p:sp>
      <p:sp>
        <p:nvSpPr>
          <p:cNvPr id="11" name="TextBox 10"/>
          <p:cNvSpPr txBox="1"/>
          <p:nvPr/>
        </p:nvSpPr>
        <p:spPr>
          <a:xfrm>
            <a:off x="4585716"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Explore plusieurs</a:t>
            </a:r>
            <a:br/>
            <a:r>
              <a:t>options, compare,</a:t>
            </a:r>
            <a:br/>
            <a:r>
              <a:t>recommande</a:t>
            </a:r>
          </a:p>
        </p:txBody>
      </p:sp>
      <p:sp>
        <p:nvSpPr>
          <p:cNvPr id="12" name="Rectangle 11"/>
          <p:cNvSpPr/>
          <p:nvPr/>
        </p:nvSpPr>
        <p:spPr>
          <a:xfrm>
            <a:off x="8090154" y="2103120"/>
            <a:ext cx="3291840" cy="2286000"/>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words_006B3F_36.png"/>
          <p:cNvPicPr>
            <a:picLocks noChangeAspect="1"/>
          </p:cNvPicPr>
          <p:nvPr/>
        </p:nvPicPr>
        <p:blipFill>
          <a:blip r:embed="rId5"/>
          <a:stretch>
            <a:fillRect/>
          </a:stretch>
        </p:blipFill>
        <p:spPr>
          <a:xfrm>
            <a:off x="9562338" y="2176272"/>
            <a:ext cx="347472" cy="347472"/>
          </a:xfrm>
          <a:prstGeom prst="rect">
            <a:avLst/>
          </a:prstGeom>
        </p:spPr>
      </p:pic>
      <p:sp>
        <p:nvSpPr>
          <p:cNvPr id="14" name="TextBox 13"/>
          <p:cNvSpPr txBox="1"/>
          <p:nvPr/>
        </p:nvSpPr>
        <p:spPr>
          <a:xfrm>
            <a:off x="8227314" y="2596896"/>
            <a:ext cx="3017520" cy="548640"/>
          </a:xfrm>
          <a:prstGeom prst="rect">
            <a:avLst/>
          </a:prstGeom>
          <a:noFill/>
        </p:spPr>
        <p:txBody>
          <a:bodyPr wrap="square" lIns="45720" rIns="45720" tIns="18288" bIns="18288">
            <a:spAutoFit/>
          </a:bodyPr>
          <a:lstStyle/>
          <a:p>
            <a:pPr algn="ctr">
              <a:defRPr sz="2200" b="1">
                <a:solidFill>
                  <a:srgbClr val="006B3F"/>
                </a:solidFill>
                <a:latin typeface="Calibri"/>
              </a:defRPr>
            </a:pPr>
            <a:r>
              <a:t>Red/Blue Team</a:t>
            </a:r>
          </a:p>
        </p:txBody>
      </p:sp>
      <p:sp>
        <p:nvSpPr>
          <p:cNvPr id="15" name="TextBox 14"/>
          <p:cNvSpPr txBox="1"/>
          <p:nvPr/>
        </p:nvSpPr>
        <p:spPr>
          <a:xfrm>
            <a:off x="8227314" y="3236976"/>
            <a:ext cx="3017520" cy="914400"/>
          </a:xfrm>
          <a:prstGeom prst="rect">
            <a:avLst/>
          </a:prstGeom>
          <a:noFill/>
        </p:spPr>
        <p:txBody>
          <a:bodyPr wrap="square" lIns="45720" rIns="45720" tIns="18288" bIns="18288">
            <a:spAutoFit/>
          </a:bodyPr>
          <a:lstStyle/>
          <a:p>
            <a:pPr algn="ctr">
              <a:defRPr sz="1500" b="0">
                <a:solidFill>
                  <a:srgbClr val="6B6B6B"/>
                </a:solidFill>
                <a:latin typeface="Calibri"/>
              </a:defRPr>
            </a:pPr>
            <a:r>
              <a:t>Propose + critique</a:t>
            </a:r>
            <a:br/>
            <a:r>
              <a:t>Décisions robustes</a:t>
            </a:r>
          </a:p>
        </p:txBody>
      </p:sp>
      <p:sp>
        <p:nvSpPr>
          <p:cNvPr id="16" name="Rectangle 15"/>
          <p:cNvSpPr/>
          <p:nvPr/>
        </p:nvSpPr>
        <p:spPr>
          <a:xfrm>
            <a:off x="2423160" y="4681728"/>
            <a:ext cx="7342631" cy="1078992"/>
          </a:xfrm>
          <a:prstGeom prst="rect">
            <a:avLst/>
          </a:prstGeom>
          <a:solidFill>
            <a:srgbClr val="FFFFFF"/>
          </a:solidFill>
          <a:ln>
            <a:solidFill>
              <a:srgbClr val="CCE0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423160" y="4681728"/>
            <a:ext cx="64008" cy="1078992"/>
          </a:xfrm>
          <a:prstGeom prst="rect">
            <a:avLst/>
          </a:prstGeom>
          <a:solidFill>
            <a:srgbClr val="0087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87752" y="4937760"/>
            <a:ext cx="7013447" cy="713231"/>
          </a:xfrm>
          <a:prstGeom prst="rect">
            <a:avLst/>
          </a:prstGeom>
          <a:noFill/>
        </p:spPr>
        <p:txBody>
          <a:bodyPr wrap="square" lIns="45720" rIns="45720" tIns="18288" bIns="18288">
            <a:spAutoFit/>
          </a:bodyPr>
          <a:lstStyle/>
          <a:p>
            <a:pPr algn="ctr">
              <a:defRPr sz="1500" b="1">
                <a:solidFill>
                  <a:srgbClr val="006B3F"/>
                </a:solidFill>
                <a:latin typeface="Calibri"/>
              </a:defRPr>
            </a:pPr>
            <a:r>
              <a:t>Défi: Commencez par CoT — ajoutez «étape par étape» à votre prochain prompt d'analyse!</a:t>
            </a:r>
          </a:p>
        </p:txBody>
      </p:sp>
      <p:sp>
        <p:nvSpPr>
          <p:cNvPr id="19" name="TextBox 18"/>
          <p:cNvSpPr txBox="1"/>
          <p:nvPr/>
        </p:nvSpPr>
        <p:spPr>
          <a:xfrm>
            <a:off x="914400" y="5989320"/>
            <a:ext cx="10360152" cy="365760"/>
          </a:xfrm>
          <a:prstGeom prst="rect">
            <a:avLst/>
          </a:prstGeom>
          <a:noFill/>
        </p:spPr>
        <p:txBody>
          <a:bodyPr wrap="square" lIns="45720" rIns="45720" tIns="18288" bIns="18288">
            <a:spAutoFit/>
          </a:bodyPr>
          <a:lstStyle/>
          <a:p>
            <a:pPr algn="ctr">
              <a:defRPr sz="1300" b="0">
                <a:solidFill>
                  <a:srgbClr val="CCE0D2"/>
                </a:solidFill>
                <a:latin typeface="Calibri"/>
              </a:defRPr>
            </a:pPr>
            <a:r>
              <a:t>La minute Copilot — À la semaine prochaine!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