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Accueil : «Bonjour à tous! Bienvenue à cette nouvelle minute Copilot. Aujourd'hui, on va voir comment Copilot peut vous faire gagner du temps dans Outlook — résumés, statut de projet, planification de la journée et de la semaine.»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Démo : ouvrir un long fil Outlook. Montrer le bouton Copilot. Cliquer sur «Résumer». Montrer le résumé avec les décisions et les actions à prendre. Insister : «Plus besoin de tout lire!»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Démo : répondre à un courriel. Montrer l'icône Copilot dans la fenêtre de réponse. Taper : «Remercie Jean, confirme la livraison vendredi». Montrer le résultat. Puis montrer l'ajustement de ton : «Rends ça plus professionnel».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Démo : ouvrir le volet Copilot. Montrer le prompt. Expliquer que c'est utile le lundi matin ou après un congé. Rappeler qu'on peut tout demander en français.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Démo : ouvrir un fil de discussion lié à un projet (comité, livrable, migration). Dans le volet Copilot, coller le prompt de statut. Montrer la réponse structurée : où en est le projet, qui doit faire quoi, et ce qui bloque en attente d'une autre équipe. Astuce : nommer le projet entre crochets dans le prompt. Proposer de sauvegarder ce prompt en QuickPart «[CP] Statut projet».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Démo rapide des trois moments : 16 h vendredi → planifier demain ; lundi 8 h → planifier la semaine ; vendredi après-midi → semaine prochaine. Insister : Copilot s'appuie sur vos courriels récents et votre calendrier Outlook. Conseiller de sauvegarder les 3 prompts en QuickPart : [CP] Plan demain, [CP] Plan semaine, [CP] Semaine prochaine.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Astuce préférée! Les prompts Copilot ne se sauvegardent pas automatiquement. Avec les QuickPart, on les réutilise en un clic. Montrer la démo : créer un QuickPart, l'utiliser dans un nouveau courriel.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Récapitulation : résumer, rédiger, prioriser, statut de projet, planifier (demain / semaine / semaine prochaine). Encourager à créer les 3 QuickPart de planification dès cette semaine. Rappeler le prochain rendez-vous!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766560" cy="6858000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5669280" cy="1463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La minute Copilot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46120"/>
            <a:ext cx="2926080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429000"/>
            <a:ext cx="5669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Calibri"/>
              </a:defRPr>
            </a:pPr>
            <a:r>
              <a:t>Copilot dans Outlook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7200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300" b="0">
                <a:solidFill>
                  <a:srgbClr val="CCE0D2"/>
                </a:solidFill>
                <a:latin typeface="Calibri"/>
              </a:defRPr>
            </a:pPr>
            <a:r>
              <a:t>5 astuces pour TI et non-TI • Sauvegarder ses prompts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29200"/>
            <a:ext cx="56692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Martin Fournier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49240"/>
            <a:ext cx="5669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200" b="0">
                <a:solidFill>
                  <a:srgbClr val="CCE0D2"/>
                </a:solidFill>
                <a:latin typeface="Calibri"/>
              </a:defRPr>
            </a:pPr>
            <a:r>
              <a:t>2026-05-17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2800" b="1">
                <a:solidFill>
                  <a:srgbClr val="006B3F"/>
                </a:solidFill>
                <a:latin typeface="Calibri"/>
              </a:defRPr>
            </a:pPr>
            <a:r>
              <a:t>Astuce 1 — Résumer un fil de 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500" b="0">
                <a:solidFill>
                  <a:srgbClr val="6B6B6B"/>
                </a:solidFill>
                <a:latin typeface="Calibri"/>
              </a:defRPr>
            </a:pPr>
            <a:r>
              <a:t>Fini les longues lectures de 15 courriels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11274552" cy="18288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Ouvrir un courriel dans un long fil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Cliquer sur l'icône Copilot dans le ruban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Choisir «Résumer» ou taper sa propre demande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926080"/>
            <a:ext cx="521208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essage-square_00874E_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090672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15568" y="3108960"/>
            <a:ext cx="4370832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00874E"/>
                </a:solidFill>
                <a:latin typeface="Calibri"/>
              </a:defRPr>
            </a:pPr>
            <a:r>
              <a:t>Exemples de prompts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03320"/>
            <a:ext cx="4663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«Résume ce fil et liste les décisions prises»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«Quelles sont les dates de livraison?»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«Extrais les actions à prendre avec échéances»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926080"/>
            <a:ext cx="521208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_F59E0B_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9632" y="3090672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01968" y="3108960"/>
            <a:ext cx="4370831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F59E0B"/>
                </a:solidFill>
                <a:latin typeface="Calibri"/>
              </a:defRPr>
            </a:pPr>
            <a:r>
              <a:t>Qui? Pourquoi?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703320"/>
            <a:ext cx="4663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Gestionnaires : suivre plusieurs projets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TI : retour de congé → 50 courriels résumés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Non-TI : comprendre une demande client sans relire 12 réponses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6446520"/>
            <a:ext cx="11274552" cy="13716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000" b="0">
                <a:solidFill>
                  <a:srgbClr val="6B6B6B"/>
                </a:solidFill>
                <a:latin typeface="Calibri"/>
              </a:defRPr>
            </a:pPr>
            <a:r>
              <a:t>La minute Copilot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defRPr sz="1000" b="0">
                <a:solidFill>
                  <a:srgbClr val="6B6B6B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2800" b="1">
                <a:solidFill>
                  <a:srgbClr val="006B3F"/>
                </a:solidFill>
                <a:latin typeface="Calibri"/>
              </a:defRPr>
            </a:pPr>
            <a:r>
              <a:t>Astuce 2 — Rédiger une réponse en 2 clics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500" b="0">
                <a:solidFill>
                  <a:srgbClr val="6B6B6B"/>
                </a:solidFill>
                <a:latin typeface="Calibri"/>
              </a:defRPr>
            </a:pPr>
            <a:r>
              <a:t>Décrivez en 5 mots, Copilot écrit le reste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11274552" cy="18288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Cliquer «Répondre» → icône Copilot dans la fenêtre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Taper ce qu'on veut dire en langage naturel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Ajuster le ton : professionnel, amical, concis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926080"/>
            <a:ext cx="1069848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liders-horizontal_00874E_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090672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15568" y="3108960"/>
            <a:ext cx="9857232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00874E"/>
                </a:solidFill>
                <a:latin typeface="Calibri"/>
              </a:defRPr>
            </a:pPr>
            <a:r>
              <a:t>Ajustement de ton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03320"/>
            <a:ext cx="101498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«Rends ça plus professionnel»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«Rends ça plus amical»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«Rends ça plus concis»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«Réécris dans un ton neutre»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Pour tout le monde!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46520"/>
            <a:ext cx="11274552" cy="13716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000" b="0">
                <a:solidFill>
                  <a:srgbClr val="6B6B6B"/>
                </a:solidFill>
                <a:latin typeface="Calibri"/>
              </a:defRPr>
            </a:pPr>
            <a:r>
              <a:t>La minute Copilot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defRPr sz="1000" b="0">
                <a:solidFill>
                  <a:srgbClr val="6B6B6B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2800" b="1">
                <a:solidFill>
                  <a:srgbClr val="006B3F"/>
                </a:solidFill>
                <a:latin typeface="Calibri"/>
              </a:defRPr>
            </a:pPr>
            <a:r>
              <a:t>Astuce 3 — Prioriser sa boîte de réception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500" b="0">
                <a:solidFill>
                  <a:srgbClr val="6B6B6B"/>
                </a:solidFill>
                <a:latin typeface="Calibri"/>
              </a:defRPr>
            </a:pPr>
            <a:r>
              <a:t>Laissez Copilot trier vos 50+ courriels non lus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11274552" cy="18288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Ouvrir le volet Copilot (icône dans le ruban à droite)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Écrire : «Montre-moi mes courriels non lus les plus urgents d'aujourd'hui»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Copilot trie et explique pourquoi chaque courriel est prioritaire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926080"/>
            <a:ext cx="521208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ist_00874E_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090672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15568" y="3108960"/>
            <a:ext cx="4370832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00874E"/>
                </a:solidFill>
                <a:latin typeface="Calibri"/>
              </a:defRPr>
            </a:pPr>
            <a:r>
              <a:t>Variations utiles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03320"/>
            <a:ext cx="4663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«Priorise mes courriels cette semaine»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«Quels courriels nécessitent une action?»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«Résume les courriels de mon gestionnaire»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926080"/>
            <a:ext cx="521208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alendar-days_F59E0B_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9632" y="3090672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01968" y="3108960"/>
            <a:ext cx="4370831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F59E0B"/>
                </a:solidFill>
                <a:latin typeface="Calibri"/>
              </a:defRPr>
            </a:pPr>
            <a:r>
              <a:t>Scénarios gagnants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703320"/>
            <a:ext cx="4663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Lundi matin : 50 courriels, 30 secondes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Retour de vacances : tout savoir rapidement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Fin de mois : ne rien oublier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6446520"/>
            <a:ext cx="11274552" cy="13716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000" b="0">
                <a:solidFill>
                  <a:srgbClr val="6B6B6B"/>
                </a:solidFill>
                <a:latin typeface="Calibri"/>
              </a:defRPr>
            </a:pPr>
            <a:r>
              <a:t>La minute Copilot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defRPr sz="1000" b="0">
                <a:solidFill>
                  <a:srgbClr val="6B6B6B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2800" b="1">
                <a:solidFill>
                  <a:srgbClr val="006B3F"/>
                </a:solidFill>
                <a:latin typeface="Calibri"/>
              </a:defRPr>
            </a:pPr>
            <a:r>
              <a:t>Astuce 4 — Statut d'un projet en un prompt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500" b="0">
                <a:solidFill>
                  <a:srgbClr val="6B6B6B"/>
                </a:solidFill>
                <a:latin typeface="Calibri"/>
              </a:defRPr>
            </a:pPr>
            <a:r>
              <a:t>Avancement, actions à prendre et éléments en attente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11274552" cy="18288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Ouvrir le fil de discussion du projet (ou les courriels concernés)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Ouvrir le volet Copilot dans Outlook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Demander le statut, les actions à prendre et les points en attente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926080"/>
            <a:ext cx="521208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lipboard-list_00874E_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090672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15568" y="3108960"/>
            <a:ext cx="4370832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00874E"/>
                </a:solidFill>
                <a:latin typeface="Calibri"/>
              </a:defRPr>
            </a:pPr>
            <a:r>
              <a:t>Exemples de prompts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03320"/>
            <a:ext cx="4663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«Donne le statut du projet [nom] : avancement, risques et prochaines étapes»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«Liste les actions à prendre avec responsable et date limite»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«Quels éléments sont en attente, de qui on attend une réponse, et depuis quand?»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Tout en un :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«Bilan du projet [nom] : statut, actions à prendre, en attente»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926080"/>
            <a:ext cx="521208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older-kanban_F59E0B_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9632" y="3090672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01968" y="3108960"/>
            <a:ext cx="4370831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F59E0B"/>
                </a:solidFill>
                <a:latin typeface="Calibri"/>
              </a:defRPr>
            </a:pPr>
            <a:r>
              <a:t>Qui? Pourquoi?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703320"/>
            <a:ext cx="4663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Chefs de projet : lister risques et échéances avant un point avec les parties prenantes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Gestionnaires : suivre plusieurs projets sans tout relire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TI et non-TI : savoir qui bloque et sur quoi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Idéal avant une réunion de suivi ou après une absence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6446520"/>
            <a:ext cx="11274552" cy="13716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000" b="0">
                <a:solidFill>
                  <a:srgbClr val="6B6B6B"/>
                </a:solidFill>
                <a:latin typeface="Calibri"/>
              </a:defRPr>
            </a:pPr>
            <a:r>
              <a:t>La minute Copilot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defRPr sz="1000" b="0">
                <a:solidFill>
                  <a:srgbClr val="6B6B6B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2800" b="1">
                <a:solidFill>
                  <a:srgbClr val="006B3F"/>
                </a:solidFill>
                <a:latin typeface="Calibri"/>
              </a:defRPr>
            </a:pPr>
            <a:r>
              <a:t>Astuce 5 — Planifier sa journée et sa semaine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500" b="0">
                <a:solidFill>
                  <a:srgbClr val="6B6B6B"/>
                </a:solidFill>
                <a:latin typeface="Calibri"/>
              </a:defRPr>
            </a:pPr>
            <a:r>
              <a:t>Fin de journée, lundi ou vendredi — le bon prompt au bon moment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11274552" cy="18288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Ouvrir le volet Copilot en fin de journée, le lundi matin ou le vendredi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S'appuyer sur les courriels récents, les fils ouverts et le calendrier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Choisir le prompt selon l'horizon : demain, cette semaine ou la suivante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926080"/>
            <a:ext cx="521208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alendar-range_00874E_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090672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15568" y="3108960"/>
            <a:ext cx="4370832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00874E"/>
                </a:solidFill>
                <a:latin typeface="Calibri"/>
              </a:defRPr>
            </a:pPr>
            <a:r>
              <a:t>Prompts selon le moment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03320"/>
            <a:ext cx="4663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Fin de journée (planifier demain) :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«À partir de mes courriels et réunions d'aujourd'hui, propose un plan pour demain : priorités, actions à prendre et créneaux suggérés»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Lundi (planifier la semaine) :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«Aide-moi à planifier ma semaine : courriels urgents, échéances, réunions et 3 priorités par jour»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Vendredi (semaine prochaine) :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«Prépare ma semaine prochaine : sujets en suspens, échéances à venir et actions avant lundi»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926080"/>
            <a:ext cx="521208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alendar-check_F59E0B_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9632" y="3090672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01968" y="3108960"/>
            <a:ext cx="4370831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F59E0B"/>
                </a:solidFill>
                <a:latin typeface="Calibri"/>
              </a:defRPr>
            </a:pPr>
            <a:r>
              <a:t>Qui? Pourquoi?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703320"/>
            <a:ext cx="4663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Fin de journée : quitter sans oublier un suivi important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Lundi matin : démarrer la semaine avec une vue claire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Vendredi : anticiper la semaine prochaine, esprit plus léger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Gestionnaires, TI et non-TI : même rituel, 3 minutes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6446520"/>
            <a:ext cx="11274552" cy="13716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000" b="0">
                <a:solidFill>
                  <a:srgbClr val="6B6B6B"/>
                </a:solidFill>
                <a:latin typeface="Calibri"/>
              </a:defRPr>
            </a:pPr>
            <a:r>
              <a:t>La minute Copilot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defRPr sz="1000" b="0">
                <a:solidFill>
                  <a:srgbClr val="6B6B6B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2800" b="1">
                <a:solidFill>
                  <a:srgbClr val="006B3F"/>
                </a:solidFill>
                <a:latin typeface="Calibri"/>
              </a:defRPr>
            </a:pPr>
            <a:r>
              <a:t>Bonus — Sauvegarder ses prompts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1274552" cy="18288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463040"/>
            <a:ext cx="521208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ookmark_00874E_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627632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" y="1645920"/>
            <a:ext cx="4370832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00874E"/>
                </a:solidFill>
                <a:latin typeface="Calibri"/>
              </a:defRPr>
            </a:pPr>
            <a:r>
              <a:t>QuickPart (recommandé)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466344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1. Nouveau courriel → tapez votre prompt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2. Sélectionnez le texte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3. Insertion → QuickPart → Enregistrer la sélection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4. Nommez : «[CP] Résumer fil», «[CP] Statut projet»,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«[CP] Plan demain», «[CP] Plan semaine», «[CP] Semaine prochaine»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Pour réutiliser :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Insertion → QuickPart → votre prompt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1463040"/>
            <a:ext cx="521208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otebook_00874E_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9632" y="1627632"/>
            <a:ext cx="292608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01968" y="1645920"/>
            <a:ext cx="4370831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00874E"/>
                </a:solidFill>
                <a:latin typeface="Calibri"/>
              </a:defRPr>
            </a:pPr>
            <a:r>
              <a:t>OneNote ou Copilot Lab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240280"/>
            <a:ext cx="466344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OneNote : page partagée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«Mes prompts Copilot»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Copilot Lab :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copilot.cloud.microsoft/prompts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Des centaines de prompts officiels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446520"/>
            <a:ext cx="11274552" cy="13716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000" b="0">
                <a:solidFill>
                  <a:srgbClr val="6B6B6B"/>
                </a:solidFill>
                <a:latin typeface="Calibri"/>
              </a:defRPr>
            </a:pPr>
            <a:r>
              <a:t>La minute Copilot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defRPr sz="1000" b="0">
                <a:solidFill>
                  <a:srgbClr val="6B6B6B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87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Les 5 astuces + le bonus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691640"/>
            <a:ext cx="3044952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19" y="2103120"/>
            <a:ext cx="1925726" cy="2286000"/>
          </a:xfrm>
          <a:prstGeom prst="rect">
            <a:avLst/>
          </a:prstGeom>
          <a:solidFill>
            <a:srgbClr val="FFFFFF"/>
          </a:solidFill>
          <a:ln>
            <a:solidFill>
              <a:srgbClr val="CC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le-text_006B3F_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223" y="217627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79" y="2523744"/>
            <a:ext cx="1651406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1700" b="1">
                <a:solidFill>
                  <a:srgbClr val="006B3F"/>
                </a:solidFill>
                <a:latin typeface="Calibri"/>
              </a:defRPr>
            </a:pPr>
            <a:r>
              <a:t>Résumer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79" y="3163824"/>
            <a:ext cx="1651406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1200" b="0">
                <a:solidFill>
                  <a:srgbClr val="6B6B6B"/>
                </a:solidFill>
                <a:latin typeface="Calibri"/>
              </a:defRPr>
            </a:pPr>
            <a:r>
              <a:t>Fini les longs fils</a:t>
            </a:r>
          </a:p>
        </p:txBody>
      </p:sp>
      <p:sp>
        <p:nvSpPr>
          <p:cNvPr id="8" name="Rectangle 7"/>
          <p:cNvSpPr/>
          <p:nvPr/>
        </p:nvSpPr>
        <p:spPr>
          <a:xfrm>
            <a:off x="2931566" y="2103120"/>
            <a:ext cx="1925726" cy="2286000"/>
          </a:xfrm>
          <a:prstGeom prst="rect">
            <a:avLst/>
          </a:prstGeom>
          <a:solidFill>
            <a:srgbClr val="FFFFFF"/>
          </a:solidFill>
          <a:ln>
            <a:solidFill>
              <a:srgbClr val="CC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en-line_006B3F_2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7269" y="2176272"/>
            <a:ext cx="274320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068726" y="2523744"/>
            <a:ext cx="1651406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1700" b="1">
                <a:solidFill>
                  <a:srgbClr val="006B3F"/>
                </a:solidFill>
                <a:latin typeface="Calibri"/>
              </a:defRPr>
            </a:pPr>
            <a:r>
              <a:t>Rédiger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8726" y="3163824"/>
            <a:ext cx="1651406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1200" b="0">
                <a:solidFill>
                  <a:srgbClr val="6B6B6B"/>
                </a:solidFill>
                <a:latin typeface="Calibri"/>
              </a:defRPr>
            </a:pPr>
            <a:r>
              <a:t>5 mots → Copilot écrit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31612" y="2103120"/>
            <a:ext cx="1925726" cy="2286000"/>
          </a:xfrm>
          <a:prstGeom prst="rect">
            <a:avLst/>
          </a:prstGeom>
          <a:solidFill>
            <a:srgbClr val="FFFFFF"/>
          </a:solidFill>
          <a:ln>
            <a:solidFill>
              <a:srgbClr val="CC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nbox_006B3F_2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7316" y="2176272"/>
            <a:ext cx="274320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268772" y="2523744"/>
            <a:ext cx="1651406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1700" b="1">
                <a:solidFill>
                  <a:srgbClr val="006B3F"/>
                </a:solidFill>
                <a:latin typeface="Calibri"/>
              </a:defRPr>
            </a:pPr>
            <a:r>
              <a:t>Prioriser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68772" y="3163824"/>
            <a:ext cx="1651406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1200" b="0">
                <a:solidFill>
                  <a:srgbClr val="6B6B6B"/>
                </a:solidFill>
                <a:latin typeface="Calibri"/>
              </a:defRPr>
            </a:pPr>
            <a:r>
              <a:t>50 courriels triés en 30 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31659" y="2103120"/>
            <a:ext cx="1925726" cy="2286000"/>
          </a:xfrm>
          <a:prstGeom prst="rect">
            <a:avLst/>
          </a:prstGeom>
          <a:solidFill>
            <a:srgbClr val="FFFFFF"/>
          </a:solidFill>
          <a:ln>
            <a:solidFill>
              <a:srgbClr val="CC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older-kanban_006B3F_2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7362" y="217627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468819" y="2523744"/>
            <a:ext cx="1651406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1700" b="1">
                <a:solidFill>
                  <a:srgbClr val="006B3F"/>
                </a:solidFill>
                <a:latin typeface="Calibri"/>
              </a:defRPr>
            </a:pPr>
            <a:r>
              <a:t>Statut projet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68819" y="3163824"/>
            <a:ext cx="1651406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1200" b="0">
                <a:solidFill>
                  <a:srgbClr val="6B6B6B"/>
                </a:solidFill>
                <a:latin typeface="Calibri"/>
              </a:defRPr>
            </a:pPr>
            <a:r>
              <a:t>Actions + en attente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31705" y="2103120"/>
            <a:ext cx="1925726" cy="2286000"/>
          </a:xfrm>
          <a:prstGeom prst="rect">
            <a:avLst/>
          </a:prstGeom>
          <a:solidFill>
            <a:srgbClr val="FFFFFF"/>
          </a:solidFill>
          <a:ln>
            <a:solidFill>
              <a:srgbClr val="CC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alendar-range_006B3F_2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57408" y="2176272"/>
            <a:ext cx="274320" cy="274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668865" y="2523744"/>
            <a:ext cx="1651406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1700" b="1">
                <a:solidFill>
                  <a:srgbClr val="006B3F"/>
                </a:solidFill>
                <a:latin typeface="Calibri"/>
              </a:defRPr>
            </a:pPr>
            <a:r>
              <a:t>Planifier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68865" y="3163824"/>
            <a:ext cx="1651406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1200" b="0">
                <a:solidFill>
                  <a:srgbClr val="6B6B6B"/>
                </a:solidFill>
                <a:latin typeface="Calibri"/>
              </a:defRPr>
            </a:pPr>
            <a:r>
              <a:t>Demain, semaine, +1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23160" y="4681728"/>
            <a:ext cx="7342631" cy="1078992"/>
          </a:xfrm>
          <a:prstGeom prst="rect">
            <a:avLst/>
          </a:prstGeom>
          <a:solidFill>
            <a:srgbClr val="FFFFFF"/>
          </a:solidFill>
          <a:ln>
            <a:solidFill>
              <a:srgbClr val="CC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23160" y="4681728"/>
            <a:ext cx="64008" cy="1078992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587752" y="4937760"/>
            <a:ext cx="7013447" cy="713231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1500" b="1">
                <a:solidFill>
                  <a:srgbClr val="006B3F"/>
                </a:solidFill>
                <a:latin typeface="Calibri"/>
              </a:defRPr>
            </a:pPr>
            <a:r>
              <a:t>Sauvegardez vos prompts avec les QuickPart!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89320"/>
            <a:ext cx="10360152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1300" b="0">
                <a:solidFill>
                  <a:srgbClr val="CCE0D2"/>
                </a:solidFill>
                <a:latin typeface="Calibri"/>
              </a:defRPr>
            </a:pPr>
            <a:r>
              <a:t>La minute Copilot — À la semaine prochaine!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