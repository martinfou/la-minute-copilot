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«Vous avez peut-être remarqué que Copilot propose plusieurs modes et modèles. Auto, Quick Response, Think Deeper... GPT-5.2 à 5.5. On démystifie ça en 5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l'interface Copilot. Expliquer les 3 modes simplement. L'AUTO c'est le mode par défaut, Copilot choisit pour vous. Le QUICK c'est pour les questions rapides. Le THINK DEEPER c'est pour les problèmes complexes qui méritent une réflexion approfondie.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la hiérarchie: 5.2 est l'ancien modèle encore disponible. 5.3 et 5.5 Quick sont rapides. 5.4 et 5.5 Think Deeper sont les modèles de raisonnement. L'important c'est de choisir le bon outil pour la bonne tâche — pas besoin de Think Deeper pour un courriel!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Adapter au contexte financier. Expliquer pourquoi Think Deeper est crucial pour l'analyse de risques mais overkill pour un courriel. Insister: AUTO fait le bon choix 80% du temps. Les experts peuvent forcer le mode pour des cas spécifiques.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que le mode est persistant — si vous passez en Think Deeper, il reste pour la session suivante. Pensez à revenir à Auto! Aussi: les prompts longs et détaillés bénéficient plus du Think Deeper. Pour la conformité, le Think Deeper est plus fiable car il raisonne plus longtemps.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Résumé: Auto par défaut, Quick pour la vitesse, Think Deeper pour la profondeur. Les modèles (5.2 à 5.5) sont gérés automatiquement par Copilot — vous n'avez pas à y penser. Défi de la semaine: essayer Think Deeper sur une tâche que vous faites normalement en Auto!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78D4"/>
        </a:solidFill>
        <a:effectLst/>
      </p:bgPr>
    </p:bg>
    <p:spTree>
      <p:nvGrpSpPr>
        <p:cNvPr id="1" name=""/>
        <p:cNvGrpSpPr/>
        <p:nvPr/>
      </p:nvGrpSpPr>
      <p:grpSpPr/>
      <p:sp>
        <p:nvSpPr>
          <p:cNvPr id="2" name="TextBox 1"/>
          <p:cNvSpPr txBox="1"/>
          <p:nvPr/>
        </p:nvSpPr>
        <p:spPr>
          <a:xfrm>
            <a:off x="914400" y="1828800"/>
            <a:ext cx="10058400" cy="1097280"/>
          </a:xfrm>
          <a:prstGeom prst="rect">
            <a:avLst/>
          </a:prstGeom>
          <a:noFill/>
        </p:spPr>
        <p:txBody>
          <a:bodyPr wrap="square">
            <a:spAutoFit/>
          </a:bodyPr>
          <a:lstStyle/>
          <a:p>
            <a:pPr algn="ctr">
              <a:defRPr sz="4800" b="1">
                <a:solidFill>
                  <a:srgbClr val="FFFFFF"/>
                </a:solidFill>
                <a:latin typeface="Calibri"/>
              </a:defRPr>
            </a:pPr>
            <a:r>
              <a:t>🤖 La minute Copilot</a:t>
            </a:r>
          </a:p>
        </p:txBody>
      </p:sp>
      <p:sp>
        <p:nvSpPr>
          <p:cNvPr id="3" name="TextBox 2"/>
          <p:cNvSpPr txBox="1"/>
          <p:nvPr/>
        </p:nvSpPr>
        <p:spPr>
          <a:xfrm>
            <a:off x="914400" y="2926080"/>
            <a:ext cx="10058400" cy="731520"/>
          </a:xfrm>
          <a:prstGeom prst="rect">
            <a:avLst/>
          </a:prstGeom>
          <a:noFill/>
        </p:spPr>
        <p:txBody>
          <a:bodyPr wrap="square">
            <a:spAutoFit/>
          </a:bodyPr>
          <a:lstStyle/>
          <a:p>
            <a:pPr algn="ctr">
              <a:defRPr sz="2800" b="0">
                <a:solidFill>
                  <a:srgbClr val="AAD4F0"/>
                </a:solidFill>
                <a:latin typeface="Calibri"/>
              </a:defRPr>
            </a:pPr>
            <a:r>
              <a:t>🧠 Les modèles Copilot Web</a:t>
            </a:r>
          </a:p>
        </p:txBody>
      </p:sp>
      <p:sp>
        <p:nvSpPr>
          <p:cNvPr id="4" name="TextBox 3"/>
          <p:cNvSpPr txBox="1"/>
          <p:nvPr/>
        </p:nvSpPr>
        <p:spPr>
          <a:xfrm>
            <a:off x="914400" y="4114800"/>
            <a:ext cx="10058400" cy="548640"/>
          </a:xfrm>
          <a:prstGeom prst="rect">
            <a:avLst/>
          </a:prstGeom>
          <a:noFill/>
        </p:spPr>
        <p:txBody>
          <a:bodyPr wrap="square">
            <a:spAutoFit/>
          </a:bodyPr>
          <a:lstStyle/>
          <a:p>
            <a:pPr algn="ctr">
              <a:defRPr sz="1600" b="0">
                <a:solidFill>
                  <a:srgbClr val="AAD4F0"/>
                </a:solidFill>
                <a:latin typeface="Calibri"/>
              </a:defRPr>
            </a:pPr>
            <a:r>
              <a:t>Auto · Quick Response · Think Deeper · GPT-5.2 à 5.5 • Pour IT et non-IT • Institution financière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2B2B2B"/>
                </a:solidFill>
                <a:latin typeface="Calibri"/>
              </a:defRPr>
            </a:pPr>
            <a:r>
              <a:t>🎯 Les 3 modes de Copilot Web</a:t>
            </a:r>
          </a:p>
        </p:txBody>
      </p:sp>
      <p:sp>
        <p:nvSpPr>
          <p:cNvPr id="3" name="TextBox 2"/>
          <p:cNvSpPr txBox="1"/>
          <p:nvPr/>
        </p:nvSpPr>
        <p:spPr>
          <a:xfrm>
            <a:off x="457200" y="914400"/>
            <a:ext cx="10972800" cy="457200"/>
          </a:xfrm>
          <a:prstGeom prst="rect">
            <a:avLst/>
          </a:prstGeom>
          <a:noFill/>
        </p:spPr>
        <p:txBody>
          <a:bodyPr wrap="square">
            <a:spAutoFit/>
          </a:bodyPr>
          <a:lstStyle/>
          <a:p>
            <a:pPr algn="l">
              <a:defRPr sz="1800" b="0">
                <a:solidFill>
                  <a:srgbClr val="6B6B6B"/>
                </a:solidFill>
                <a:latin typeface="Calibri"/>
              </a:defRPr>
            </a:pPr>
            <a:r>
              <a:t>Le sélecteur en haut de votre écran Copilot — un outil, trois façons de penser</a:t>
            </a:r>
          </a:p>
        </p:txBody>
      </p:sp>
      <p:sp>
        <p:nvSpPr>
          <p:cNvPr id="4" name="TextBox 3"/>
          <p:cNvSpPr txBox="1"/>
          <p:nvPr/>
        </p:nvSpPr>
        <p:spPr>
          <a:xfrm>
            <a:off x="457200" y="1554480"/>
            <a:ext cx="10972800" cy="1371600"/>
          </a:xfrm>
          <a:prstGeom prst="rect">
            <a:avLst/>
          </a:prstGeom>
          <a:noFill/>
        </p:spPr>
        <p:txBody>
          <a:bodyPr wrap="square">
            <a:spAutoFit/>
          </a:bodyPr>
          <a:lstStyle/>
          <a:p>
            <a:pPr>
              <a:spcAft>
                <a:spcPts val="400"/>
              </a:spcAft>
              <a:defRPr sz="1400">
                <a:solidFill>
                  <a:srgbClr val="2B2B2B"/>
                </a:solidFill>
                <a:latin typeface="Calibri"/>
              </a:defRPr>
            </a:pPr>
            <a:r>
              <a:t>• Auto (par défaut) → Copilot choisit le meilleur modèle selon la tâche</a:t>
            </a:r>
          </a:p>
          <a:p>
            <a:pPr>
              <a:spcAft>
                <a:spcPts val="400"/>
              </a:spcAft>
              <a:defRPr sz="1400">
                <a:solidFill>
                  <a:srgbClr val="2B2B2B"/>
                </a:solidFill>
                <a:latin typeface="Calibri"/>
              </a:defRPr>
            </a:pPr>
            <a:r>
              <a:t>• Quick Response → Réponse instantanée, idéal pour tâches simples</a:t>
            </a:r>
          </a:p>
          <a:p>
            <a:pPr>
              <a:spcAft>
                <a:spcPts val="400"/>
              </a:spcAft>
              <a:defRPr sz="1400">
                <a:solidFill>
                  <a:srgbClr val="2B2B2B"/>
                </a:solidFill>
                <a:latin typeface="Calibri"/>
              </a:defRPr>
            </a:pPr>
            <a:r>
              <a:t>• Think Deeper → Raisonnement approfondi, pour problèmes complexes</a:t>
            </a:r>
          </a:p>
        </p:txBody>
      </p:sp>
      <p:sp>
        <p:nvSpPr>
          <p:cNvPr id="5" name="Rectangle 4"/>
          <p:cNvSpPr/>
          <p:nvPr/>
        </p:nvSpPr>
        <p:spPr>
          <a:xfrm>
            <a:off x="4572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00400"/>
            <a:ext cx="2834640" cy="457200"/>
          </a:xfrm>
          <a:prstGeom prst="rect">
            <a:avLst/>
          </a:prstGeom>
          <a:noFill/>
        </p:spPr>
        <p:txBody>
          <a:bodyPr wrap="square">
            <a:spAutoFit/>
          </a:bodyPr>
          <a:lstStyle/>
          <a:p>
            <a:pPr algn="l">
              <a:defRPr sz="1800" b="1">
                <a:solidFill>
                  <a:srgbClr val="0078D4"/>
                </a:solidFill>
                <a:latin typeface="Calibri"/>
              </a:defRPr>
            </a:pPr>
            <a:r>
              <a:t>⚡ Auto (recommandé)</a:t>
            </a:r>
          </a:p>
        </p:txBody>
      </p:sp>
      <p:sp>
        <p:nvSpPr>
          <p:cNvPr id="7" name="TextBox 6"/>
          <p:cNvSpPr txBox="1"/>
          <p:nvPr/>
        </p:nvSpPr>
        <p:spPr>
          <a:xfrm>
            <a:off x="7315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Utilisé 80% du temps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Délègue au bon modèle</a:t>
            </a:r>
          </a:p>
          <a:p>
            <a:pPr>
              <a:spcAft>
                <a:spcPts val="400"/>
              </a:spcAft>
              <a:defRPr sz="1300">
                <a:solidFill>
                  <a:srgbClr val="2B2B2B"/>
                </a:solidFill>
                <a:latin typeface="Calibri"/>
              </a:defRPr>
            </a:pPr>
            <a:r>
              <a:t>selon la complexité</a:t>
            </a:r>
          </a:p>
          <a:p>
            <a:pPr>
              <a:spcAft>
                <a:spcPts val="400"/>
              </a:spcAft>
              <a:defRPr sz="1300">
                <a:solidFill>
                  <a:srgbClr val="2B2B2B"/>
                </a:solidFill>
                <a:latin typeface="Calibri"/>
              </a:defRPr>
            </a:pPr>
            <a:r>
              <a:t>de votre demande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Meilleur choix</a:t>
            </a:r>
          </a:p>
          <a:p>
            <a:pPr>
              <a:spcAft>
                <a:spcPts val="400"/>
              </a:spcAft>
              <a:defRPr sz="1300">
                <a:solidFill>
                  <a:srgbClr val="2B2B2B"/>
                </a:solidFill>
                <a:latin typeface="Calibri"/>
              </a:defRPr>
            </a:pPr>
            <a:r>
              <a:t>   par défaut</a:t>
            </a:r>
          </a:p>
        </p:txBody>
      </p:sp>
      <p:sp>
        <p:nvSpPr>
          <p:cNvPr id="8" name="Rectangle 7"/>
          <p:cNvSpPr/>
          <p:nvPr/>
        </p:nvSpPr>
        <p:spPr>
          <a:xfrm>
            <a:off x="41148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3200400"/>
            <a:ext cx="2834640" cy="457200"/>
          </a:xfrm>
          <a:prstGeom prst="rect">
            <a:avLst/>
          </a:prstGeom>
          <a:noFill/>
        </p:spPr>
        <p:txBody>
          <a:bodyPr wrap="square">
            <a:spAutoFit/>
          </a:bodyPr>
          <a:lstStyle/>
          <a:p>
            <a:pPr algn="l">
              <a:defRPr sz="1800" b="1">
                <a:solidFill>
                  <a:srgbClr val="10B981"/>
                </a:solidFill>
                <a:latin typeface="Calibri"/>
              </a:defRPr>
            </a:pPr>
            <a:r>
              <a:t>🚀 Quick Response</a:t>
            </a:r>
          </a:p>
        </p:txBody>
      </p:sp>
      <p:sp>
        <p:nvSpPr>
          <p:cNvPr id="10" name="TextBox 9"/>
          <p:cNvSpPr txBox="1"/>
          <p:nvPr/>
        </p:nvSpPr>
        <p:spPr>
          <a:xfrm>
            <a:off x="43891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Réponse en 2-5 secondes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Utilise GPT-5.5 Quick</a:t>
            </a:r>
          </a:p>
          <a:p>
            <a:pPr>
              <a:spcAft>
                <a:spcPts val="400"/>
              </a:spcAft>
              <a:defRPr sz="1300">
                <a:solidFill>
                  <a:srgbClr val="2B2B2B"/>
                </a:solidFill>
                <a:latin typeface="Calibri"/>
              </a:defRPr>
            </a:pPr>
            <a:r>
              <a:t>ou GPT-5.3 Instant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Idéal pour:</a:t>
            </a:r>
          </a:p>
          <a:p>
            <a:pPr>
              <a:spcAft>
                <a:spcPts val="400"/>
              </a:spcAft>
              <a:defRPr sz="1300">
                <a:solidFill>
                  <a:srgbClr val="2B2B2B"/>
                </a:solidFill>
                <a:latin typeface="Calibri"/>
              </a:defRPr>
            </a:pPr>
            <a:r>
              <a:t>   courriels, résumés,</a:t>
            </a:r>
          </a:p>
          <a:p>
            <a:pPr>
              <a:spcAft>
                <a:spcPts val="400"/>
              </a:spcAft>
              <a:defRPr sz="1300">
                <a:solidFill>
                  <a:srgbClr val="2B2B2B"/>
                </a:solidFill>
                <a:latin typeface="Calibri"/>
              </a:defRPr>
            </a:pPr>
            <a:r>
              <a:t>   questions rapides</a:t>
            </a:r>
          </a:p>
        </p:txBody>
      </p:sp>
      <p:sp>
        <p:nvSpPr>
          <p:cNvPr id="11" name="Rectangle 10"/>
          <p:cNvSpPr/>
          <p:nvPr/>
        </p:nvSpPr>
        <p:spPr>
          <a:xfrm>
            <a:off x="77724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3200400"/>
            <a:ext cx="2834640" cy="457200"/>
          </a:xfrm>
          <a:prstGeom prst="rect">
            <a:avLst/>
          </a:prstGeom>
          <a:noFill/>
        </p:spPr>
        <p:txBody>
          <a:bodyPr wrap="square">
            <a:spAutoFit/>
          </a:bodyPr>
          <a:lstStyle/>
          <a:p>
            <a:pPr algn="l">
              <a:defRPr sz="1800" b="1">
                <a:solidFill>
                  <a:srgbClr val="F59E0B"/>
                </a:solidFill>
                <a:latin typeface="Calibri"/>
              </a:defRPr>
            </a:pPr>
            <a:r>
              <a:t>🧠 Think Deeper</a:t>
            </a:r>
          </a:p>
        </p:txBody>
      </p:sp>
      <p:sp>
        <p:nvSpPr>
          <p:cNvPr id="13" name="TextBox 12"/>
          <p:cNvSpPr txBox="1"/>
          <p:nvPr/>
        </p:nvSpPr>
        <p:spPr>
          <a:xfrm>
            <a:off x="80467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Réponse en 15-60 secondes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Utilise GPT-5.5 Think</a:t>
            </a:r>
          </a:p>
          <a:p>
            <a:pPr>
              <a:spcAft>
                <a:spcPts val="400"/>
              </a:spcAft>
              <a:defRPr sz="1300">
                <a:solidFill>
                  <a:srgbClr val="2B2B2B"/>
                </a:solidFill>
                <a:latin typeface="Calibri"/>
              </a:defRPr>
            </a:pPr>
            <a:r>
              <a:t>Deeper ou GPT-5.4</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Idéal pour:</a:t>
            </a:r>
          </a:p>
          <a:p>
            <a:pPr>
              <a:spcAft>
                <a:spcPts val="400"/>
              </a:spcAft>
              <a:defRPr sz="1300">
                <a:solidFill>
                  <a:srgbClr val="2B2B2B"/>
                </a:solidFill>
                <a:latin typeface="Calibri"/>
              </a:defRPr>
            </a:pPr>
            <a:r>
              <a:t>   analyse, code,</a:t>
            </a:r>
          </a:p>
          <a:p>
            <a:pPr>
              <a:spcAft>
                <a:spcPts val="400"/>
              </a:spcAft>
              <a:defRPr sz="1300">
                <a:solidFill>
                  <a:srgbClr val="2B2B2B"/>
                </a:solidFill>
                <a:latin typeface="Calibri"/>
              </a:defRPr>
            </a:pPr>
            <a:r>
              <a:t>   décisions complexes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2B2B2B"/>
                </a:solidFill>
                <a:latin typeface="Calibri"/>
              </a:defRPr>
            </a:pPr>
            <a:r>
              <a:t>📊 La gamme de modèles — GPT-5.x</a:t>
            </a:r>
          </a:p>
        </p:txBody>
      </p:sp>
      <p:sp>
        <p:nvSpPr>
          <p:cNvPr id="3" name="TextBox 2"/>
          <p:cNvSpPr txBox="1"/>
          <p:nvPr/>
        </p:nvSpPr>
        <p:spPr>
          <a:xfrm>
            <a:off x="457200" y="914400"/>
            <a:ext cx="10972800" cy="457200"/>
          </a:xfrm>
          <a:prstGeom prst="rect">
            <a:avLst/>
          </a:prstGeom>
          <a:noFill/>
        </p:spPr>
        <p:txBody>
          <a:bodyPr wrap="square">
            <a:spAutoFit/>
          </a:bodyPr>
          <a:lstStyle/>
          <a:p>
            <a:pPr algn="l">
              <a:defRPr sz="1800" b="0">
                <a:solidFill>
                  <a:srgbClr val="6B6B6B"/>
                </a:solidFill>
                <a:latin typeface="Calibri"/>
              </a:defRPr>
            </a:pPr>
            <a:r>
              <a:t>Chaque version est plus puissante — mais pas toujours nécessaire</a:t>
            </a:r>
          </a:p>
        </p:txBody>
      </p:sp>
      <p:sp>
        <p:nvSpPr>
          <p:cNvPr id="4" name="TextBox 3"/>
          <p:cNvSpPr txBox="1"/>
          <p:nvPr/>
        </p:nvSpPr>
        <p:spPr>
          <a:xfrm>
            <a:off x="457200" y="1554480"/>
            <a:ext cx="10972800" cy="1371600"/>
          </a:xfrm>
          <a:prstGeom prst="rect">
            <a:avLst/>
          </a:prstGeom>
          <a:noFill/>
        </p:spPr>
        <p:txBody>
          <a:bodyPr wrap="square">
            <a:spAutoFit/>
          </a:bodyPr>
          <a:lstStyle/>
          <a:p>
            <a:pPr>
              <a:spcAft>
                <a:spcPts val="400"/>
              </a:spcAft>
              <a:defRPr sz="1400">
                <a:solidFill>
                  <a:srgbClr val="2B2B2B"/>
                </a:solidFill>
                <a:latin typeface="Calibri"/>
              </a:defRPr>
            </a:pPr>
            <a:r>
              <a:t>• GPT-5.5 Quick et 5.5 Think Deeper: les plus récents (avril 2026)</a:t>
            </a:r>
          </a:p>
          <a:p>
            <a:pPr>
              <a:spcAft>
                <a:spcPts val="400"/>
              </a:spcAft>
              <a:defRPr sz="1400">
                <a:solidFill>
                  <a:srgbClr val="2B2B2B"/>
                </a:solidFill>
                <a:latin typeface="Calibri"/>
              </a:defRPr>
            </a:pPr>
            <a:r>
              <a:t>• GPT-5.4 Thinking: raisonnement, conservateur, fiable</a:t>
            </a:r>
          </a:p>
          <a:p>
            <a:pPr>
              <a:spcAft>
                <a:spcPts val="400"/>
              </a:spcAft>
              <a:defRPr sz="1400">
                <a:solidFill>
                  <a:srgbClr val="2B2B2B"/>
                </a:solidFill>
                <a:latin typeface="Calibri"/>
              </a:defRPr>
            </a:pPr>
            <a:r>
              <a:t>• GPT-5.3 Instant: rapide, bon équilibre vitesse/qualité</a:t>
            </a:r>
          </a:p>
          <a:p>
            <a:pPr>
              <a:spcAft>
                <a:spcPts val="400"/>
              </a:spcAft>
              <a:defRPr sz="1400">
                <a:solidFill>
                  <a:srgbClr val="2B2B2B"/>
                </a:solidFill>
                <a:latin typeface="Calibri"/>
              </a:defRPr>
            </a:pPr>
            <a:r>
              <a:t>• GPT-5.2: modèle hérité, toujours disponible si nécessaire</a:t>
            </a:r>
          </a:p>
        </p:txBody>
      </p:sp>
      <p:sp>
        <p:nvSpPr>
          <p:cNvPr id="5" name="Rectangle 4"/>
          <p:cNvSpPr/>
          <p:nvPr/>
        </p:nvSpPr>
        <p:spPr>
          <a:xfrm>
            <a:off x="4572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00400"/>
            <a:ext cx="2834640" cy="457200"/>
          </a:xfrm>
          <a:prstGeom prst="rect">
            <a:avLst/>
          </a:prstGeom>
          <a:noFill/>
        </p:spPr>
        <p:txBody>
          <a:bodyPr wrap="square">
            <a:spAutoFit/>
          </a:bodyPr>
          <a:lstStyle/>
          <a:p>
            <a:pPr algn="l">
              <a:defRPr sz="1800" b="1">
                <a:solidFill>
                  <a:srgbClr val="0078D4"/>
                </a:solidFill>
                <a:latin typeface="Calibri"/>
              </a:defRPr>
            </a:pPr>
            <a:r>
              <a:t>🚀 Quick Response</a:t>
            </a:r>
          </a:p>
        </p:txBody>
      </p:sp>
      <p:sp>
        <p:nvSpPr>
          <p:cNvPr id="7" name="TextBox 6"/>
          <p:cNvSpPr txBox="1"/>
          <p:nvPr/>
        </p:nvSpPr>
        <p:spPr>
          <a:xfrm>
            <a:off x="7315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GPT-5.5 Quick</a:t>
            </a:r>
          </a:p>
          <a:p>
            <a:pPr>
              <a:spcAft>
                <a:spcPts val="400"/>
              </a:spcAft>
              <a:defRPr sz="1300">
                <a:solidFill>
                  <a:srgbClr val="2B2B2B"/>
                </a:solidFill>
                <a:latin typeface="Calibri"/>
              </a:defRPr>
            </a:pPr>
            <a:r>
              <a:t>   (dernier cri)</a:t>
            </a:r>
          </a:p>
          <a:p>
            <a:pPr>
              <a:spcAft>
                <a:spcPts val="400"/>
              </a:spcAft>
              <a:defRPr sz="1300">
                <a:solidFill>
                  <a:srgbClr val="2B2B2B"/>
                </a:solidFill>
                <a:latin typeface="Calibri"/>
              </a:defRPr>
            </a:pPr>
          </a:p>
          <a:p>
            <a:pPr>
              <a:spcAft>
                <a:spcPts val="400"/>
              </a:spcAft>
              <a:defRPr sz="1300">
                <a:solidFill>
                  <a:srgbClr val="2B2B2B"/>
                </a:solidFill>
                <a:latin typeface="Calibri"/>
              </a:defRPr>
            </a:pPr>
            <a:r>
              <a:t>GPT-5.3 Instant</a:t>
            </a:r>
          </a:p>
          <a:p>
            <a:pPr>
              <a:spcAft>
                <a:spcPts val="400"/>
              </a:spcAft>
              <a:defRPr sz="1300">
                <a:solidFill>
                  <a:srgbClr val="2B2B2B"/>
                </a:solidFill>
                <a:latin typeface="Calibri"/>
              </a:defRPr>
            </a:pPr>
            <a:r>
              <a:t>   (équilibré)</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Secondes</a:t>
            </a:r>
          </a:p>
          <a:p>
            <a:pPr>
              <a:spcAft>
                <a:spcPts val="400"/>
              </a:spcAft>
              <a:defRPr sz="1300">
                <a:solidFill>
                  <a:srgbClr val="2B2B2B"/>
                </a:solidFill>
                <a:latin typeface="Calibri"/>
              </a:defRPr>
            </a:pPr>
            <a:r>
              <a:t>   Tâches quotidiennes</a:t>
            </a:r>
          </a:p>
        </p:txBody>
      </p:sp>
      <p:sp>
        <p:nvSpPr>
          <p:cNvPr id="8" name="Rectangle 7"/>
          <p:cNvSpPr/>
          <p:nvPr/>
        </p:nvSpPr>
        <p:spPr>
          <a:xfrm>
            <a:off x="41148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3200400"/>
            <a:ext cx="2834640" cy="457200"/>
          </a:xfrm>
          <a:prstGeom prst="rect">
            <a:avLst/>
          </a:prstGeom>
          <a:noFill/>
        </p:spPr>
        <p:txBody>
          <a:bodyPr wrap="square">
            <a:spAutoFit/>
          </a:bodyPr>
          <a:lstStyle/>
          <a:p>
            <a:pPr algn="l">
              <a:defRPr sz="1800" b="1">
                <a:solidFill>
                  <a:srgbClr val="F59E0B"/>
                </a:solidFill>
                <a:latin typeface="Calibri"/>
              </a:defRPr>
            </a:pPr>
            <a:r>
              <a:t>🧠 Think Deeper</a:t>
            </a:r>
          </a:p>
        </p:txBody>
      </p:sp>
      <p:sp>
        <p:nvSpPr>
          <p:cNvPr id="10" name="TextBox 9"/>
          <p:cNvSpPr txBox="1"/>
          <p:nvPr/>
        </p:nvSpPr>
        <p:spPr>
          <a:xfrm>
            <a:off x="43891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GPT-5.5 Think Deeper</a:t>
            </a:r>
          </a:p>
          <a:p>
            <a:pPr>
              <a:spcAft>
                <a:spcPts val="400"/>
              </a:spcAft>
              <a:defRPr sz="1300">
                <a:solidFill>
                  <a:srgbClr val="2B2B2B"/>
                </a:solidFill>
                <a:latin typeface="Calibri"/>
              </a:defRPr>
            </a:pPr>
            <a:r>
              <a:t>   (dernier cri)</a:t>
            </a:r>
          </a:p>
          <a:p>
            <a:pPr>
              <a:spcAft>
                <a:spcPts val="400"/>
              </a:spcAft>
              <a:defRPr sz="1300">
                <a:solidFill>
                  <a:srgbClr val="2B2B2B"/>
                </a:solidFill>
                <a:latin typeface="Calibri"/>
              </a:defRPr>
            </a:pPr>
          </a:p>
          <a:p>
            <a:pPr>
              <a:spcAft>
                <a:spcPts val="400"/>
              </a:spcAft>
              <a:defRPr sz="1300">
                <a:solidFill>
                  <a:srgbClr val="2B2B2B"/>
                </a:solidFill>
                <a:latin typeface="Calibri"/>
              </a:defRPr>
            </a:pPr>
            <a:r>
              <a:t>GPT-5.4 Thinking</a:t>
            </a:r>
          </a:p>
          <a:p>
            <a:pPr>
              <a:spcAft>
                <a:spcPts val="400"/>
              </a:spcAft>
              <a:defRPr sz="1300">
                <a:solidFill>
                  <a:srgbClr val="2B2B2B"/>
                </a:solidFill>
                <a:latin typeface="Calibri"/>
              </a:defRPr>
            </a:pPr>
            <a:r>
              <a:t>   (fiable, conservateur)</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Minutes</a:t>
            </a:r>
          </a:p>
          <a:p>
            <a:pPr>
              <a:spcAft>
                <a:spcPts val="400"/>
              </a:spcAft>
              <a:defRPr sz="1300">
                <a:solidFill>
                  <a:srgbClr val="2B2B2B"/>
                </a:solidFill>
                <a:latin typeface="Calibri"/>
              </a:defRPr>
            </a:pPr>
            <a:r>
              <a:t>   Analyse, code, risque</a:t>
            </a:r>
          </a:p>
        </p:txBody>
      </p:sp>
      <p:sp>
        <p:nvSpPr>
          <p:cNvPr id="11" name="Rectangle 10"/>
          <p:cNvSpPr/>
          <p:nvPr/>
        </p:nvSpPr>
        <p:spPr>
          <a:xfrm>
            <a:off x="77724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3200400"/>
            <a:ext cx="2834640" cy="457200"/>
          </a:xfrm>
          <a:prstGeom prst="rect">
            <a:avLst/>
          </a:prstGeom>
          <a:noFill/>
        </p:spPr>
        <p:txBody>
          <a:bodyPr wrap="square">
            <a:spAutoFit/>
          </a:bodyPr>
          <a:lstStyle/>
          <a:p>
            <a:pPr algn="l">
              <a:defRPr sz="1800" b="1">
                <a:solidFill>
                  <a:srgbClr val="EF4444"/>
                </a:solidFill>
                <a:latin typeface="Calibri"/>
              </a:defRPr>
            </a:pPr>
            <a:r>
              <a:t>🕰️ Héritage</a:t>
            </a:r>
          </a:p>
        </p:txBody>
      </p:sp>
      <p:sp>
        <p:nvSpPr>
          <p:cNvPr id="13" name="TextBox 12"/>
          <p:cNvSpPr txBox="1"/>
          <p:nvPr/>
        </p:nvSpPr>
        <p:spPr>
          <a:xfrm>
            <a:off x="80467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GPT-5.2</a:t>
            </a:r>
          </a:p>
          <a:p>
            <a:pPr>
              <a:spcAft>
                <a:spcPts val="400"/>
              </a:spcAft>
              <a:defRPr sz="1300">
                <a:solidFill>
                  <a:srgbClr val="2B2B2B"/>
                </a:solidFill>
                <a:latin typeface="Calibri"/>
              </a:defRPr>
            </a:pPr>
          </a:p>
          <a:p>
            <a:pPr>
              <a:spcAft>
                <a:spcPts val="400"/>
              </a:spcAft>
              <a:defRPr sz="1300">
                <a:solidFill>
                  <a:srgbClr val="2B2B2B"/>
                </a:solidFill>
                <a:latin typeface="Calibri"/>
              </a:defRPr>
            </a:pPr>
            <a:r>
              <a:t>Modèle précédent</a:t>
            </a:r>
          </a:p>
          <a:p>
            <a:pPr>
              <a:spcAft>
                <a:spcPts val="400"/>
              </a:spcAft>
              <a:defRPr sz="1300">
                <a:solidFill>
                  <a:srgbClr val="2B2B2B"/>
                </a:solidFill>
                <a:latin typeface="Calibri"/>
              </a:defRPr>
            </a:pPr>
            <a:r>
              <a:t>encore disponible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Compatibilité</a:t>
            </a:r>
          </a:p>
          <a:p>
            <a:pPr>
              <a:spcAft>
                <a:spcPts val="400"/>
              </a:spcAft>
              <a:defRPr sz="1300">
                <a:solidFill>
                  <a:srgbClr val="2B2B2B"/>
                </a:solidFill>
                <a:latin typeface="Calibri"/>
              </a:defRPr>
            </a:pPr>
            <a:r>
              <a:t>pour tâches</a:t>
            </a:r>
          </a:p>
          <a:p>
            <a:pPr>
              <a:spcAft>
                <a:spcPts val="400"/>
              </a:spcAft>
              <a:defRPr sz="1300">
                <a:solidFill>
                  <a:srgbClr val="2B2B2B"/>
                </a:solidFill>
                <a:latin typeface="Calibri"/>
              </a:defRPr>
            </a:pPr>
            <a:r>
              <a:t>existantes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2B2B2B"/>
                </a:solidFill>
                <a:latin typeface="Calibri"/>
              </a:defRPr>
            </a:pPr>
            <a:r>
              <a:t>🏦 Scénarios en institution financière</a:t>
            </a:r>
          </a:p>
        </p:txBody>
      </p:sp>
      <p:sp>
        <p:nvSpPr>
          <p:cNvPr id="3" name="TextBox 2"/>
          <p:cNvSpPr txBox="1"/>
          <p:nvPr/>
        </p:nvSpPr>
        <p:spPr>
          <a:xfrm>
            <a:off x="457200" y="914400"/>
            <a:ext cx="10972800" cy="457200"/>
          </a:xfrm>
          <a:prstGeom prst="rect">
            <a:avLst/>
          </a:prstGeom>
          <a:noFill/>
        </p:spPr>
        <p:txBody>
          <a:bodyPr wrap="square">
            <a:spAutoFit/>
          </a:bodyPr>
          <a:lstStyle/>
          <a:p>
            <a:pPr algn="l">
              <a:defRPr sz="1800" b="0">
                <a:solidFill>
                  <a:srgbClr val="6B6B6B"/>
                </a:solidFill>
                <a:latin typeface="Calibri"/>
              </a:defRPr>
            </a:pPr>
            <a:r>
              <a:t>Quand utiliser quel mode — exemples concrets</a:t>
            </a:r>
          </a:p>
        </p:txBody>
      </p:sp>
      <p:sp>
        <p:nvSpPr>
          <p:cNvPr id="4" name="TextBox 3"/>
          <p:cNvSpPr txBox="1"/>
          <p:nvPr/>
        </p:nvSpPr>
        <p:spPr>
          <a:xfrm>
            <a:off x="457200" y="1554480"/>
            <a:ext cx="10972800" cy="1371600"/>
          </a:xfrm>
          <a:prstGeom prst="rect">
            <a:avLst/>
          </a:prstGeom>
          <a:noFill/>
        </p:spPr>
        <p:txBody>
          <a:bodyPr wrap="square">
            <a:spAutoFit/>
          </a:bodyPr>
          <a:lstStyle/>
          <a:p>
            <a:pPr>
              <a:spcAft>
                <a:spcPts val="400"/>
              </a:spcAft>
              <a:defRPr sz="1400">
                <a:solidFill>
                  <a:srgbClr val="2B2B2B"/>
                </a:solidFill>
                <a:latin typeface="Calibri"/>
              </a:defRPr>
            </a:pPr>
            <a:r>
              <a:t>• Auto: 80% du temps — laissez Copilot décider</a:t>
            </a:r>
          </a:p>
          <a:p>
            <a:pPr>
              <a:spcAft>
                <a:spcPts val="400"/>
              </a:spcAft>
              <a:defRPr sz="1400">
                <a:solidFill>
                  <a:srgbClr val="2B2B2B"/>
                </a:solidFill>
                <a:latin typeface="Calibri"/>
              </a:defRPr>
            </a:pPr>
            <a:r>
              <a:t>• Quick Response: tâches simples, courriels, résumés rapides</a:t>
            </a:r>
          </a:p>
          <a:p>
            <a:pPr>
              <a:spcAft>
                <a:spcPts val="400"/>
              </a:spcAft>
              <a:defRPr sz="1400">
                <a:solidFill>
                  <a:srgbClr val="2B2B2B"/>
                </a:solidFill>
                <a:latin typeface="Calibri"/>
              </a:defRPr>
            </a:pPr>
            <a:r>
              <a:t>• Think Deeper: analyse de risques, code complexe, conformité</a:t>
            </a:r>
          </a:p>
        </p:txBody>
      </p:sp>
      <p:sp>
        <p:nvSpPr>
          <p:cNvPr id="5" name="Rectangle 4"/>
          <p:cNvSpPr/>
          <p:nvPr/>
        </p:nvSpPr>
        <p:spPr>
          <a:xfrm>
            <a:off x="4572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00400"/>
            <a:ext cx="2834640" cy="457200"/>
          </a:xfrm>
          <a:prstGeom prst="rect">
            <a:avLst/>
          </a:prstGeom>
          <a:noFill/>
        </p:spPr>
        <p:txBody>
          <a:bodyPr wrap="square">
            <a:spAutoFit/>
          </a:bodyPr>
          <a:lstStyle/>
          <a:p>
            <a:pPr algn="l">
              <a:defRPr sz="1800" b="1">
                <a:solidFill>
                  <a:srgbClr val="0078D4"/>
                </a:solidFill>
                <a:latin typeface="Calibri"/>
              </a:defRPr>
            </a:pPr>
            <a:r>
              <a:t>🚀 Quick Response</a:t>
            </a:r>
          </a:p>
        </p:txBody>
      </p:sp>
      <p:sp>
        <p:nvSpPr>
          <p:cNvPr id="7" name="TextBox 6"/>
          <p:cNvSpPr txBox="1"/>
          <p:nvPr/>
        </p:nvSpPr>
        <p:spPr>
          <a:xfrm>
            <a:off x="7315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 Répondre à un courriel</a:t>
            </a:r>
          </a:p>
          <a:p>
            <a:pPr>
              <a:spcAft>
                <a:spcPts val="400"/>
              </a:spcAft>
              <a:defRPr sz="1300">
                <a:solidFill>
                  <a:srgbClr val="2B2B2B"/>
                </a:solidFill>
                <a:latin typeface="Calibri"/>
              </a:defRPr>
            </a:pPr>
            <a:r>
              <a:t>📋 Résumer un fil Teams</a:t>
            </a:r>
          </a:p>
          <a:p>
            <a:pPr>
              <a:spcAft>
                <a:spcPts val="400"/>
              </a:spcAft>
              <a:defRPr sz="1300">
                <a:solidFill>
                  <a:srgbClr val="2B2B2B"/>
                </a:solidFill>
                <a:latin typeface="Calibri"/>
              </a:defRPr>
            </a:pPr>
            <a:r>
              <a:t>📝 Rédiger un document</a:t>
            </a:r>
          </a:p>
          <a:p>
            <a:pPr>
              <a:spcAft>
                <a:spcPts val="400"/>
              </a:spcAft>
              <a:defRPr sz="1300">
                <a:solidFill>
                  <a:srgbClr val="2B2B2B"/>
                </a:solidFill>
                <a:latin typeface="Calibri"/>
              </a:defRPr>
            </a:pPr>
            <a:r>
              <a:t>🔍 Chercher une information</a:t>
            </a:r>
          </a:p>
          <a:p>
            <a:pPr>
              <a:spcAft>
                <a:spcPts val="400"/>
              </a:spcAft>
              <a:defRPr sz="1300">
                <a:solidFill>
                  <a:srgbClr val="2B2B2B"/>
                </a:solidFill>
                <a:latin typeface="Calibri"/>
              </a:defRPr>
            </a:pPr>
            <a:r>
              <a:t>✅ Quand tu veux une</a:t>
            </a:r>
          </a:p>
          <a:p>
            <a:pPr>
              <a:spcAft>
                <a:spcPts val="400"/>
              </a:spcAft>
              <a:defRPr sz="1300">
                <a:solidFill>
                  <a:srgbClr val="2B2B2B"/>
                </a:solidFill>
                <a:latin typeface="Calibri"/>
              </a:defRPr>
            </a:pPr>
            <a:r>
              <a:t>   réponse vite</a:t>
            </a:r>
          </a:p>
        </p:txBody>
      </p:sp>
      <p:sp>
        <p:nvSpPr>
          <p:cNvPr id="8" name="Rectangle 7"/>
          <p:cNvSpPr/>
          <p:nvPr/>
        </p:nvSpPr>
        <p:spPr>
          <a:xfrm>
            <a:off x="41148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3200400"/>
            <a:ext cx="2834640" cy="457200"/>
          </a:xfrm>
          <a:prstGeom prst="rect">
            <a:avLst/>
          </a:prstGeom>
          <a:noFill/>
        </p:spPr>
        <p:txBody>
          <a:bodyPr wrap="square">
            <a:spAutoFit/>
          </a:bodyPr>
          <a:lstStyle/>
          <a:p>
            <a:pPr algn="l">
              <a:defRPr sz="1800" b="1">
                <a:solidFill>
                  <a:srgbClr val="F59E0B"/>
                </a:solidFill>
                <a:latin typeface="Calibri"/>
              </a:defRPr>
            </a:pPr>
            <a:r>
              <a:t>🧠 Think Deeper</a:t>
            </a:r>
          </a:p>
        </p:txBody>
      </p:sp>
      <p:sp>
        <p:nvSpPr>
          <p:cNvPr id="10" name="TextBox 9"/>
          <p:cNvSpPr txBox="1"/>
          <p:nvPr/>
        </p:nvSpPr>
        <p:spPr>
          <a:xfrm>
            <a:off x="43891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 Analyser des données</a:t>
            </a:r>
          </a:p>
          <a:p>
            <a:pPr>
              <a:spcAft>
                <a:spcPts val="400"/>
              </a:spcAft>
              <a:defRPr sz="1300">
                <a:solidFill>
                  <a:srgbClr val="2B2B2B"/>
                </a:solidFill>
                <a:latin typeface="Calibri"/>
              </a:defRPr>
            </a:pPr>
            <a:r>
              <a:t>💻 Écrire du code complexe</a:t>
            </a:r>
          </a:p>
          <a:p>
            <a:pPr>
              <a:spcAft>
                <a:spcPts val="400"/>
              </a:spcAft>
              <a:defRPr sz="1300">
                <a:solidFill>
                  <a:srgbClr val="2B2B2B"/>
                </a:solidFill>
                <a:latin typeface="Calibri"/>
              </a:defRPr>
            </a:pPr>
            <a:r>
              <a:t>⚖️ Évaluer la conformité</a:t>
            </a:r>
          </a:p>
          <a:p>
            <a:pPr>
              <a:spcAft>
                <a:spcPts val="400"/>
              </a:spcAft>
              <a:defRPr sz="1300">
                <a:solidFill>
                  <a:srgbClr val="2B2B2B"/>
                </a:solidFill>
                <a:latin typeface="Calibri"/>
              </a:defRPr>
            </a:pPr>
            <a:r>
              <a:t>📈 Analyse de risques</a:t>
            </a:r>
          </a:p>
          <a:p>
            <a:pPr>
              <a:spcAft>
                <a:spcPts val="400"/>
              </a:spcAft>
              <a:defRPr sz="1300">
                <a:solidFill>
                  <a:srgbClr val="2B2B2B"/>
                </a:solidFill>
                <a:latin typeface="Calibri"/>
              </a:defRPr>
            </a:pPr>
            <a:r>
              <a:t>✅ Quand la précision</a:t>
            </a:r>
          </a:p>
          <a:p>
            <a:pPr>
              <a:spcAft>
                <a:spcPts val="400"/>
              </a:spcAft>
              <a:defRPr sz="1300">
                <a:solidFill>
                  <a:srgbClr val="2B2B2B"/>
                </a:solidFill>
                <a:latin typeface="Calibri"/>
              </a:defRPr>
            </a:pPr>
            <a:r>
              <a:t>   prime sur la vitesse</a:t>
            </a:r>
          </a:p>
        </p:txBody>
      </p:sp>
      <p:sp>
        <p:nvSpPr>
          <p:cNvPr id="11" name="Rectangle 10"/>
          <p:cNvSpPr/>
          <p:nvPr/>
        </p:nvSpPr>
        <p:spPr>
          <a:xfrm>
            <a:off x="7772400" y="3017520"/>
            <a:ext cx="3383280" cy="36576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3200400"/>
            <a:ext cx="2834640" cy="457200"/>
          </a:xfrm>
          <a:prstGeom prst="rect">
            <a:avLst/>
          </a:prstGeom>
          <a:noFill/>
        </p:spPr>
        <p:txBody>
          <a:bodyPr wrap="square">
            <a:spAutoFit/>
          </a:bodyPr>
          <a:lstStyle/>
          <a:p>
            <a:pPr algn="l">
              <a:defRPr sz="1800" b="1">
                <a:solidFill>
                  <a:srgbClr val="10B981"/>
                </a:solidFill>
                <a:latin typeface="Calibri"/>
              </a:defRPr>
            </a:pPr>
            <a:r>
              <a:t>⚡ Auto (le bon choix)</a:t>
            </a:r>
          </a:p>
        </p:txBody>
      </p:sp>
      <p:sp>
        <p:nvSpPr>
          <p:cNvPr id="13" name="TextBox 12"/>
          <p:cNvSpPr txBox="1"/>
          <p:nvPr/>
        </p:nvSpPr>
        <p:spPr>
          <a:xfrm>
            <a:off x="8046720" y="3657600"/>
            <a:ext cx="2834640" cy="2743200"/>
          </a:xfrm>
          <a:prstGeom prst="rect">
            <a:avLst/>
          </a:prstGeom>
          <a:noFill/>
        </p:spPr>
        <p:txBody>
          <a:bodyPr wrap="square">
            <a:spAutoFit/>
          </a:bodyPr>
          <a:lstStyle/>
          <a:p>
            <a:pPr>
              <a:spcAft>
                <a:spcPts val="400"/>
              </a:spcAft>
              <a:defRPr sz="1300">
                <a:solidFill>
                  <a:srgbClr val="2B2B2B"/>
                </a:solidFill>
                <a:latin typeface="Calibri"/>
              </a:defRPr>
            </a:pPr>
            <a:r>
              <a:t>80% des cas</a:t>
            </a:r>
          </a:p>
          <a:p>
            <a:pPr>
              <a:spcAft>
                <a:spcPts val="400"/>
              </a:spcAft>
              <a:defRPr sz="1300">
                <a:solidFill>
                  <a:srgbClr val="2B2B2B"/>
                </a:solidFill>
                <a:latin typeface="Calibri"/>
              </a:defRPr>
            </a:pPr>
            <a:r>
              <a:t>Copilot choisit le bon</a:t>
            </a:r>
          </a:p>
          <a:p>
            <a:pPr>
              <a:spcAft>
                <a:spcPts val="400"/>
              </a:spcAft>
              <a:defRPr sz="1300">
                <a:solidFill>
                  <a:srgbClr val="2B2B2B"/>
                </a:solidFill>
                <a:latin typeface="Calibri"/>
              </a:defRPr>
            </a:pPr>
            <a:r>
              <a:t>modèle pour vous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Vous n'avez pas à</a:t>
            </a:r>
          </a:p>
          <a:p>
            <a:pPr>
              <a:spcAft>
                <a:spcPts val="400"/>
              </a:spcAft>
              <a:defRPr sz="1300">
                <a:solidFill>
                  <a:srgbClr val="2B2B2B"/>
                </a:solidFill>
                <a:latin typeface="Calibri"/>
              </a:defRPr>
            </a:pPr>
            <a:r>
              <a:t>y penser!</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Laisser faire!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2B2B2B"/>
                </a:solidFill>
                <a:latin typeface="Calibri"/>
              </a:defRPr>
            </a:pPr>
            <a:r>
              <a:t>💡 Trucs et astuces</a:t>
            </a:r>
          </a:p>
        </p:txBody>
      </p:sp>
      <p:sp>
        <p:nvSpPr>
          <p:cNvPr id="3" name="Rectangle 2"/>
          <p:cNvSpPr/>
          <p:nvPr/>
        </p:nvSpPr>
        <p:spPr>
          <a:xfrm>
            <a:off x="457200" y="1188720"/>
            <a:ext cx="3383280" cy="50292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2834640" cy="457200"/>
          </a:xfrm>
          <a:prstGeom prst="rect">
            <a:avLst/>
          </a:prstGeom>
          <a:noFill/>
        </p:spPr>
        <p:txBody>
          <a:bodyPr wrap="square">
            <a:spAutoFit/>
          </a:bodyPr>
          <a:lstStyle/>
          <a:p>
            <a:pPr algn="l">
              <a:defRPr sz="1800" b="1">
                <a:solidFill>
                  <a:srgbClr val="0078D4"/>
                </a:solidFill>
                <a:latin typeface="Calibri"/>
              </a:defRPr>
            </a:pPr>
            <a:r>
              <a:t>💡 Astuce 1</a:t>
            </a:r>
          </a:p>
        </p:txBody>
      </p:sp>
      <p:sp>
        <p:nvSpPr>
          <p:cNvPr id="5" name="TextBox 4"/>
          <p:cNvSpPr txBox="1"/>
          <p:nvPr/>
        </p:nvSpPr>
        <p:spPr>
          <a:xfrm>
            <a:off x="731520" y="1828800"/>
            <a:ext cx="2834640" cy="4114800"/>
          </a:xfrm>
          <a:prstGeom prst="rect">
            <a:avLst/>
          </a:prstGeom>
          <a:noFill/>
        </p:spPr>
        <p:txBody>
          <a:bodyPr wrap="square">
            <a:spAutoFit/>
          </a:bodyPr>
          <a:lstStyle/>
          <a:p>
            <a:pPr>
              <a:spcAft>
                <a:spcPts val="400"/>
              </a:spcAft>
              <a:defRPr sz="1300">
                <a:solidFill>
                  <a:srgbClr val="2B2B2B"/>
                </a:solidFill>
                <a:latin typeface="Calibri"/>
              </a:defRPr>
            </a:pPr>
            <a:r>
              <a:t>Le mode Auto est excellent</a:t>
            </a:r>
          </a:p>
          <a:p>
            <a:pPr>
              <a:spcAft>
                <a:spcPts val="400"/>
              </a:spcAft>
              <a:defRPr sz="1300">
                <a:solidFill>
                  <a:srgbClr val="2B2B2B"/>
                </a:solidFill>
                <a:latin typeface="Calibri"/>
              </a:defRPr>
            </a:pPr>
            <a:r>
              <a:t>mais si votre tâche est</a:t>
            </a:r>
          </a:p>
          <a:p>
            <a:pPr>
              <a:spcAft>
                <a:spcPts val="400"/>
              </a:spcAft>
              <a:defRPr sz="1300">
                <a:solidFill>
                  <a:srgbClr val="2B2B2B"/>
                </a:solidFill>
                <a:latin typeface="Calibri"/>
              </a:defRPr>
            </a:pPr>
            <a:r>
              <a:t>complexe, passez en</a:t>
            </a:r>
          </a:p>
          <a:p>
            <a:pPr>
              <a:spcAft>
                <a:spcPts val="400"/>
              </a:spcAft>
              <a:defRPr sz="1300">
                <a:solidFill>
                  <a:srgbClr val="2B2B2B"/>
                </a:solidFill>
                <a:latin typeface="Calibri"/>
              </a:defRPr>
            </a:pPr>
            <a:r>
              <a:t>Think Deeper manuellement</a:t>
            </a:r>
          </a:p>
        </p:txBody>
      </p:sp>
      <p:sp>
        <p:nvSpPr>
          <p:cNvPr id="6" name="Rectangle 5"/>
          <p:cNvSpPr/>
          <p:nvPr/>
        </p:nvSpPr>
        <p:spPr>
          <a:xfrm>
            <a:off x="4114800" y="1188720"/>
            <a:ext cx="3383280" cy="50292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0" y="1371600"/>
            <a:ext cx="2834640" cy="457200"/>
          </a:xfrm>
          <a:prstGeom prst="rect">
            <a:avLst/>
          </a:prstGeom>
          <a:noFill/>
        </p:spPr>
        <p:txBody>
          <a:bodyPr wrap="square">
            <a:spAutoFit/>
          </a:bodyPr>
          <a:lstStyle/>
          <a:p>
            <a:pPr algn="l">
              <a:defRPr sz="1800" b="1">
                <a:solidFill>
                  <a:srgbClr val="10B981"/>
                </a:solidFill>
                <a:latin typeface="Calibri"/>
              </a:defRPr>
            </a:pPr>
            <a:r>
              <a:t>💡 Astuce 2</a:t>
            </a:r>
          </a:p>
        </p:txBody>
      </p:sp>
      <p:sp>
        <p:nvSpPr>
          <p:cNvPr id="8" name="TextBox 7"/>
          <p:cNvSpPr txBox="1"/>
          <p:nvPr/>
        </p:nvSpPr>
        <p:spPr>
          <a:xfrm>
            <a:off x="4389120" y="1828800"/>
            <a:ext cx="2834640" cy="4114800"/>
          </a:xfrm>
          <a:prstGeom prst="rect">
            <a:avLst/>
          </a:prstGeom>
          <a:noFill/>
        </p:spPr>
        <p:txBody>
          <a:bodyPr wrap="square">
            <a:spAutoFit/>
          </a:bodyPr>
          <a:lstStyle/>
          <a:p>
            <a:pPr>
              <a:spcAft>
                <a:spcPts val="400"/>
              </a:spcAft>
              <a:defRPr sz="1300">
                <a:solidFill>
                  <a:srgbClr val="2B2B2B"/>
                </a:solidFill>
                <a:latin typeface="Calibri"/>
              </a:defRPr>
            </a:pPr>
            <a:r>
              <a:t>En institution financière,</a:t>
            </a:r>
          </a:p>
          <a:p>
            <a:pPr>
              <a:spcAft>
                <a:spcPts val="400"/>
              </a:spcAft>
              <a:defRPr sz="1300">
                <a:solidFill>
                  <a:srgbClr val="2B2B2B"/>
                </a:solidFill>
                <a:latin typeface="Calibri"/>
              </a:defRPr>
            </a:pPr>
            <a:r>
              <a:t>utilisez Think Deeper pour</a:t>
            </a:r>
          </a:p>
          <a:p>
            <a:pPr>
              <a:spcAft>
                <a:spcPts val="400"/>
              </a:spcAft>
              <a:defRPr sz="1300">
                <a:solidFill>
                  <a:srgbClr val="2B2B2B"/>
                </a:solidFill>
                <a:latin typeface="Calibri"/>
              </a:defRPr>
            </a:pPr>
            <a:r>
              <a:t>toute analyse impliquant</a:t>
            </a:r>
          </a:p>
          <a:p>
            <a:pPr>
              <a:spcAft>
                <a:spcPts val="400"/>
              </a:spcAft>
              <a:defRPr sz="1300">
                <a:solidFill>
                  <a:srgbClr val="2B2B2B"/>
                </a:solidFill>
                <a:latin typeface="Calibri"/>
              </a:defRPr>
            </a:pPr>
            <a:r>
              <a:t>des données sensibles</a:t>
            </a:r>
          </a:p>
        </p:txBody>
      </p:sp>
      <p:sp>
        <p:nvSpPr>
          <p:cNvPr id="9" name="Rectangle 8"/>
          <p:cNvSpPr/>
          <p:nvPr/>
        </p:nvSpPr>
        <p:spPr>
          <a:xfrm>
            <a:off x="7772400" y="1188720"/>
            <a:ext cx="3383280" cy="5029200"/>
          </a:xfrm>
          <a:prstGeom prst="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371600"/>
            <a:ext cx="2834640" cy="457200"/>
          </a:xfrm>
          <a:prstGeom prst="rect">
            <a:avLst/>
          </a:prstGeom>
          <a:noFill/>
        </p:spPr>
        <p:txBody>
          <a:bodyPr wrap="square">
            <a:spAutoFit/>
          </a:bodyPr>
          <a:lstStyle/>
          <a:p>
            <a:pPr algn="l">
              <a:defRPr sz="1800" b="1">
                <a:solidFill>
                  <a:srgbClr val="F59E0B"/>
                </a:solidFill>
                <a:latin typeface="Calibri"/>
              </a:defRPr>
            </a:pPr>
            <a:r>
              <a:t>💡 Astuce 3</a:t>
            </a:r>
          </a:p>
        </p:txBody>
      </p:sp>
      <p:sp>
        <p:nvSpPr>
          <p:cNvPr id="11" name="TextBox 10"/>
          <p:cNvSpPr txBox="1"/>
          <p:nvPr/>
        </p:nvSpPr>
        <p:spPr>
          <a:xfrm>
            <a:off x="8046720" y="1828800"/>
            <a:ext cx="2834640" cy="4114800"/>
          </a:xfrm>
          <a:prstGeom prst="rect">
            <a:avLst/>
          </a:prstGeom>
          <a:noFill/>
        </p:spPr>
        <p:txBody>
          <a:bodyPr wrap="square">
            <a:spAutoFit/>
          </a:bodyPr>
          <a:lstStyle/>
          <a:p>
            <a:pPr>
              <a:spcAft>
                <a:spcPts val="400"/>
              </a:spcAft>
              <a:defRPr sz="1300">
                <a:solidFill>
                  <a:srgbClr val="2B2B2B"/>
                </a:solidFill>
                <a:latin typeface="Calibri"/>
              </a:defRPr>
            </a:pPr>
            <a:r>
              <a:t>Quick Response pour les</a:t>
            </a:r>
          </a:p>
          <a:p>
            <a:pPr>
              <a:spcAft>
                <a:spcPts val="400"/>
              </a:spcAft>
              <a:defRPr sz="1300">
                <a:solidFill>
                  <a:srgbClr val="2B2B2B"/>
                </a:solidFill>
                <a:latin typeface="Calibri"/>
              </a:defRPr>
            </a:pPr>
            <a:r>
              <a:t>courriels, Auto pour le</a:t>
            </a:r>
          </a:p>
          <a:p>
            <a:pPr>
              <a:spcAft>
                <a:spcPts val="400"/>
              </a:spcAft>
              <a:defRPr sz="1300">
                <a:solidFill>
                  <a:srgbClr val="2B2B2B"/>
                </a:solidFill>
                <a:latin typeface="Calibri"/>
              </a:defRPr>
            </a:pPr>
            <a:r>
              <a:t>reste. Vous gagnerez</a:t>
            </a:r>
          </a:p>
          <a:p>
            <a:pPr>
              <a:spcAft>
                <a:spcPts val="400"/>
              </a:spcAft>
              <a:defRPr sz="1300">
                <a:solidFill>
                  <a:srgbClr val="2B2B2B"/>
                </a:solidFill>
                <a:latin typeface="Calibri"/>
              </a:defRPr>
            </a:pPr>
            <a:r>
              <a:t>du temps chaque jour!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78D4"/>
        </a:solidFill>
        <a:effectLst/>
      </p:bgPr>
    </p:bg>
    <p:spTree>
      <p:nvGrpSpPr>
        <p:cNvPr id="1" name=""/>
        <p:cNvGrpSpPr/>
        <p:nvPr/>
      </p:nvGrpSpPr>
      <p:grpSpPr/>
      <p:sp>
        <p:nvSpPr>
          <p:cNvPr id="2" name="TextBox 1"/>
          <p:cNvSpPr txBox="1"/>
          <p:nvPr/>
        </p:nvSpPr>
        <p:spPr>
          <a:xfrm>
            <a:off x="914400" y="914400"/>
            <a:ext cx="10058400" cy="731520"/>
          </a:xfrm>
          <a:prstGeom prst="rect">
            <a:avLst/>
          </a:prstGeom>
          <a:noFill/>
        </p:spPr>
        <p:txBody>
          <a:bodyPr wrap="square">
            <a:spAutoFit/>
          </a:bodyPr>
          <a:lstStyle/>
          <a:p>
            <a:pPr algn="ctr">
              <a:defRPr sz="4000" b="1">
                <a:solidFill>
                  <a:srgbClr val="FFFFFF"/>
                </a:solidFill>
                <a:latin typeface="Calibri"/>
              </a:defRPr>
            </a:pPr>
            <a:r>
              <a:t>🎯 À retenir — Les modèles Copilot</a:t>
            </a:r>
          </a:p>
        </p:txBody>
      </p:sp>
      <p:sp>
        <p:nvSpPr>
          <p:cNvPr id="3" name="Rectangle 2"/>
          <p:cNvSpPr/>
          <p:nvPr/>
        </p:nvSpPr>
        <p:spPr>
          <a:xfrm>
            <a:off x="365760" y="2011680"/>
            <a:ext cx="3474720" cy="2286000"/>
          </a:xfrm>
          <a:prstGeom prst="rect">
            <a:avLst/>
          </a:prstGeom>
          <a:solidFill>
            <a:srgbClr val="FFFFFF"/>
          </a:solidFill>
          <a:ln>
            <a:solidFill>
              <a:srgbClr val="AA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2926079" cy="548640"/>
          </a:xfrm>
          <a:prstGeom prst="rect">
            <a:avLst/>
          </a:prstGeom>
          <a:noFill/>
        </p:spPr>
        <p:txBody>
          <a:bodyPr wrap="square">
            <a:spAutoFit/>
          </a:bodyPr>
          <a:lstStyle/>
          <a:p>
            <a:pPr algn="ctr">
              <a:defRPr sz="2200" b="1">
                <a:solidFill>
                  <a:srgbClr val="2B2B2B"/>
                </a:solidFill>
                <a:latin typeface="Calibri"/>
              </a:defRPr>
            </a:pPr>
            <a:r>
              <a:t>⚡ Auto (défaut)</a:t>
            </a:r>
          </a:p>
        </p:txBody>
      </p:sp>
      <p:sp>
        <p:nvSpPr>
          <p:cNvPr id="5" name="TextBox 4"/>
          <p:cNvSpPr txBox="1"/>
          <p:nvPr/>
        </p:nvSpPr>
        <p:spPr>
          <a:xfrm>
            <a:off x="640080" y="2926080"/>
            <a:ext cx="2926079" cy="914400"/>
          </a:xfrm>
          <a:prstGeom prst="rect">
            <a:avLst/>
          </a:prstGeom>
          <a:noFill/>
        </p:spPr>
        <p:txBody>
          <a:bodyPr wrap="square">
            <a:spAutoFit/>
          </a:bodyPr>
          <a:lstStyle/>
          <a:p>
            <a:pPr algn="ctr">
              <a:defRPr sz="1600" b="0">
                <a:solidFill>
                  <a:srgbClr val="6B6B6B"/>
                </a:solidFill>
                <a:latin typeface="Calibri"/>
              </a:defRPr>
            </a:pPr>
            <a:r>
              <a:t>80% du temps</a:t>
            </a:r>
            <a:br/>
            <a:r>
              <a:t>Copilot choisit pour vous</a:t>
            </a:r>
          </a:p>
        </p:txBody>
      </p:sp>
      <p:sp>
        <p:nvSpPr>
          <p:cNvPr id="6" name="Rectangle 5"/>
          <p:cNvSpPr/>
          <p:nvPr/>
        </p:nvSpPr>
        <p:spPr>
          <a:xfrm>
            <a:off x="3749040" y="2011680"/>
            <a:ext cx="3474720" cy="2286000"/>
          </a:xfrm>
          <a:prstGeom prst="rect">
            <a:avLst/>
          </a:prstGeom>
          <a:solidFill>
            <a:srgbClr val="FFFFFF"/>
          </a:solidFill>
          <a:ln>
            <a:solidFill>
              <a:srgbClr val="AA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23360" y="2194560"/>
            <a:ext cx="2926079" cy="548640"/>
          </a:xfrm>
          <a:prstGeom prst="rect">
            <a:avLst/>
          </a:prstGeom>
          <a:noFill/>
        </p:spPr>
        <p:txBody>
          <a:bodyPr wrap="square">
            <a:spAutoFit/>
          </a:bodyPr>
          <a:lstStyle/>
          <a:p>
            <a:pPr algn="ctr">
              <a:defRPr sz="2200" b="1">
                <a:solidFill>
                  <a:srgbClr val="2B2B2B"/>
                </a:solidFill>
                <a:latin typeface="Calibri"/>
              </a:defRPr>
            </a:pPr>
            <a:r>
              <a:t>🚀 Quick Response</a:t>
            </a:r>
          </a:p>
        </p:txBody>
      </p:sp>
      <p:sp>
        <p:nvSpPr>
          <p:cNvPr id="8" name="TextBox 7"/>
          <p:cNvSpPr txBox="1"/>
          <p:nvPr/>
        </p:nvSpPr>
        <p:spPr>
          <a:xfrm>
            <a:off x="4023360" y="2926080"/>
            <a:ext cx="2926079" cy="914400"/>
          </a:xfrm>
          <a:prstGeom prst="rect">
            <a:avLst/>
          </a:prstGeom>
          <a:noFill/>
        </p:spPr>
        <p:txBody>
          <a:bodyPr wrap="square">
            <a:spAutoFit/>
          </a:bodyPr>
          <a:lstStyle/>
          <a:p>
            <a:pPr algn="ctr">
              <a:defRPr sz="1600" b="0">
                <a:solidFill>
                  <a:srgbClr val="6B6B6B"/>
                </a:solidFill>
                <a:latin typeface="Calibri"/>
              </a:defRPr>
            </a:pPr>
            <a:r>
              <a:t>Tâches simples</a:t>
            </a:r>
            <a:br/>
            <a:r>
              <a:t>Courriels, résumés</a:t>
            </a:r>
          </a:p>
        </p:txBody>
      </p:sp>
      <p:sp>
        <p:nvSpPr>
          <p:cNvPr id="9" name="Rectangle 8"/>
          <p:cNvSpPr/>
          <p:nvPr/>
        </p:nvSpPr>
        <p:spPr>
          <a:xfrm>
            <a:off x="7132320" y="2011680"/>
            <a:ext cx="3474720" cy="2286000"/>
          </a:xfrm>
          <a:prstGeom prst="rect">
            <a:avLst/>
          </a:prstGeom>
          <a:solidFill>
            <a:srgbClr val="FFFFFF"/>
          </a:solidFill>
          <a:ln>
            <a:solidFill>
              <a:srgbClr val="AA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2194560"/>
            <a:ext cx="2926079" cy="548640"/>
          </a:xfrm>
          <a:prstGeom prst="rect">
            <a:avLst/>
          </a:prstGeom>
          <a:noFill/>
        </p:spPr>
        <p:txBody>
          <a:bodyPr wrap="square">
            <a:spAutoFit/>
          </a:bodyPr>
          <a:lstStyle/>
          <a:p>
            <a:pPr algn="ctr">
              <a:defRPr sz="2200" b="1">
                <a:solidFill>
                  <a:srgbClr val="2B2B2B"/>
                </a:solidFill>
                <a:latin typeface="Calibri"/>
              </a:defRPr>
            </a:pPr>
            <a:r>
              <a:t>🧠 Think Deeper</a:t>
            </a:r>
          </a:p>
        </p:txBody>
      </p:sp>
      <p:sp>
        <p:nvSpPr>
          <p:cNvPr id="11" name="TextBox 10"/>
          <p:cNvSpPr txBox="1"/>
          <p:nvPr/>
        </p:nvSpPr>
        <p:spPr>
          <a:xfrm>
            <a:off x="7406640" y="2926080"/>
            <a:ext cx="2926079" cy="914400"/>
          </a:xfrm>
          <a:prstGeom prst="rect">
            <a:avLst/>
          </a:prstGeom>
          <a:noFill/>
        </p:spPr>
        <p:txBody>
          <a:bodyPr wrap="square">
            <a:spAutoFit/>
          </a:bodyPr>
          <a:lstStyle/>
          <a:p>
            <a:pPr algn="ctr">
              <a:defRPr sz="1600" b="0">
                <a:solidFill>
                  <a:srgbClr val="6B6B6B"/>
                </a:solidFill>
                <a:latin typeface="Calibri"/>
              </a:defRPr>
            </a:pPr>
            <a:r>
              <a:t>Analyse complexe</a:t>
            </a:r>
            <a:br/>
            <a:r>
              <a:t>Code, risques, conformité</a:t>
            </a:r>
          </a:p>
        </p:txBody>
      </p:sp>
      <p:sp>
        <p:nvSpPr>
          <p:cNvPr id="12" name="Rectangle 11"/>
          <p:cNvSpPr/>
          <p:nvPr/>
        </p:nvSpPr>
        <p:spPr>
          <a:xfrm>
            <a:off x="3200400" y="4754880"/>
            <a:ext cx="5760720" cy="1097280"/>
          </a:xfrm>
          <a:prstGeom prst="rect">
            <a:avLst/>
          </a:prstGeom>
          <a:solidFill>
            <a:srgbClr val="FFF3CD"/>
          </a:solidFill>
          <a:ln>
            <a:solidFill>
              <a:srgbClr val="FFE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4937760"/>
            <a:ext cx="5394960" cy="548640"/>
          </a:xfrm>
          <a:prstGeom prst="rect">
            <a:avLst/>
          </a:prstGeom>
          <a:noFill/>
        </p:spPr>
        <p:txBody>
          <a:bodyPr wrap="square">
            <a:spAutoFit/>
          </a:bodyPr>
          <a:lstStyle/>
          <a:p>
            <a:pPr algn="ctr">
              <a:defRPr sz="1600" b="1">
                <a:solidFill>
                  <a:srgbClr val="856E04"/>
                </a:solidFill>
                <a:latin typeface="Calibri"/>
              </a:defRPr>
            </a:pPr>
            <a:r>
              <a:t>🎯 Défi: Essayez Think Deeper sur votre prochaine tâche complexe!</a:t>
            </a:r>
          </a:p>
        </p:txBody>
      </p:sp>
      <p:sp>
        <p:nvSpPr>
          <p:cNvPr id="14" name="TextBox 13"/>
          <p:cNvSpPr txBox="1"/>
          <p:nvPr/>
        </p:nvSpPr>
        <p:spPr>
          <a:xfrm>
            <a:off x="914400" y="6126480"/>
            <a:ext cx="10058400" cy="457200"/>
          </a:xfrm>
          <a:prstGeom prst="rect">
            <a:avLst/>
          </a:prstGeom>
          <a:noFill/>
        </p:spPr>
        <p:txBody>
          <a:bodyPr wrap="square">
            <a:spAutoFit/>
          </a:bodyPr>
          <a:lstStyle/>
          <a:p>
            <a:pPr algn="ctr">
              <a:defRPr sz="1400" b="0">
                <a:solidFill>
                  <a:srgbClr val="AAD4F0"/>
                </a:solidFill>
                <a:latin typeface="Calibri"/>
              </a:defRPr>
            </a:pPr>
            <a:r>
              <a:t>La minute Copilot — À la semaine prochaine!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