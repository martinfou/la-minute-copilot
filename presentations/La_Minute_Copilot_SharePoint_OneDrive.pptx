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Accueil: «Saviez-vous que Copilot peut lire vos documents SharePoint, OneDrive et Teams pour vous donner des réponses basées sur VOS données d'entreprise? Aujourd'hui on voit comment ça marche, pourquoi c'est puissant — et pourquoi c'est sécuritaire.»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Commencer par la valeur, pas la technologie. Insister: sans connexion à vos docs, Copilot répond comme s'il ne connaissait pas votre organisation. Avec connexion, il répond à partir de VOS politiques, VOS procédures, VOS rapports. C'est ça la vraie valeur de Copilot en entreprise. Microsoft Graph est le mécanisme sous-jacent — mentionner pour les TI curieux, mais ce n'est pas ce que les utilisateurs ont besoin de comprendre.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les trois sources simplement. SharePoint = documents d'équipe et de département (procédures, politiques, bibliothèques). OneDrive = fichiers personnels. Teams = notes de canal, fichiers partagés dans les conversations. Tous les trois sont accessibles via Copilot selon les permissions existantes.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Adapter au contexte de l'institution financière. Scénarios pratiques que les gens vivent au quotidien. Insister: les données restent dans le tenant Microsoft 365 — elles ne quittent pas l'organisation. Les permissions SharePoint sont appliquées — rien de plus, rien de moins.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Conseils pratiques: être précis dans la demande, mentionner le site SharePoint ou le nom du fichier. Si Copilot ne trouve pas, vérifier les permissions ou ouvrir le fichier récemment. Les fichiers ouverts récemment sont prioritaires dans la recherche.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Résumé: Copilot + SharePoint/OneDrive/Teams = réponses basées sur VOS documents. Mentionner le fichier ou le site dans votre prompt. Les permissions sont respectées — pas de risque de sécurité supplémentaire. Défi: choisissez une procédure que vous consultez souvent et demandez à Copilot de la résumer.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Rectangle 1"/>
          <p:cNvSpPr/>
          <p:nvPr/>
        </p:nvSpPr>
        <p:spPr>
          <a:xfrm>
            <a:off x="0" y="0"/>
            <a:ext cx="6766560" cy="6858000"/>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5669280" cy="1463040"/>
          </a:xfrm>
          <a:prstGeom prst="rect">
            <a:avLst/>
          </a:prstGeom>
          <a:noFill/>
        </p:spPr>
        <p:txBody>
          <a:bodyPr wrap="square" lIns="45720" rIns="45720" tIns="18288" bIns="18288">
            <a:spAutoFit/>
          </a:bodyPr>
          <a:lstStyle/>
          <a:p>
            <a:pPr algn="l">
              <a:defRPr sz="4400" b="1">
                <a:solidFill>
                  <a:srgbClr val="FFFFFF"/>
                </a:solidFill>
                <a:latin typeface="Calibri"/>
              </a:defRPr>
            </a:pPr>
            <a:r>
              <a:t>La minute Copilot</a:t>
            </a:r>
          </a:p>
        </p:txBody>
      </p:sp>
      <p:sp>
        <p:nvSpPr>
          <p:cNvPr id="4" name="Rectangle 3"/>
          <p:cNvSpPr/>
          <p:nvPr/>
        </p:nvSpPr>
        <p:spPr>
          <a:xfrm>
            <a:off x="640080" y="3246120"/>
            <a:ext cx="292608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429000"/>
            <a:ext cx="5669280" cy="640080"/>
          </a:xfrm>
          <a:prstGeom prst="rect">
            <a:avLst/>
          </a:prstGeom>
          <a:noFill/>
        </p:spPr>
        <p:txBody>
          <a:bodyPr wrap="square" lIns="45720" rIns="45720" tIns="18288" bIns="18288">
            <a:spAutoFit/>
          </a:bodyPr>
          <a:lstStyle/>
          <a:p>
            <a:pPr algn="l">
              <a:defRPr sz="2200" b="0">
                <a:solidFill>
                  <a:srgbClr val="FFFFFF"/>
                </a:solidFill>
                <a:latin typeface="Calibri"/>
              </a:defRPr>
            </a:pPr>
            <a:r>
              <a:t>Copilot se connecte à vos données</a:t>
            </a:r>
          </a:p>
        </p:txBody>
      </p:sp>
      <p:sp>
        <p:nvSpPr>
          <p:cNvPr id="6" name="TextBox 5"/>
          <p:cNvSpPr txBox="1"/>
          <p:nvPr/>
        </p:nvSpPr>
        <p:spPr>
          <a:xfrm>
            <a:off x="640080" y="4572000"/>
            <a:ext cx="5669280" cy="365760"/>
          </a:xfrm>
          <a:prstGeom prst="rect">
            <a:avLst/>
          </a:prstGeom>
          <a:noFill/>
        </p:spPr>
        <p:txBody>
          <a:bodyPr wrap="square" lIns="45720" rIns="45720" tIns="18288" bIns="18288">
            <a:spAutoFit/>
          </a:bodyPr>
          <a:lstStyle/>
          <a:p>
            <a:pPr algn="l">
              <a:defRPr sz="1300" b="0">
                <a:solidFill>
                  <a:srgbClr val="CCE0D2"/>
                </a:solidFill>
                <a:latin typeface="Calibri"/>
              </a:defRPr>
            </a:pPr>
            <a:r>
              <a:t>SharePoint · OneDrive · Teams · Contexte · Sécurité · IT &amp; non-IT</a:t>
            </a:r>
          </a:p>
        </p:txBody>
      </p:sp>
      <p:sp>
        <p:nvSpPr>
          <p:cNvPr id="7" name="TextBox 6"/>
          <p:cNvSpPr txBox="1"/>
          <p:nvPr/>
        </p:nvSpPr>
        <p:spPr>
          <a:xfrm>
            <a:off x="640080" y="5029200"/>
            <a:ext cx="5669280" cy="320040"/>
          </a:xfrm>
          <a:prstGeom prst="rect">
            <a:avLst/>
          </a:prstGeom>
          <a:noFill/>
        </p:spPr>
        <p:txBody>
          <a:bodyPr wrap="square" lIns="45720" rIns="45720" tIns="18288" bIns="18288">
            <a:spAutoFit/>
          </a:bodyPr>
          <a:lstStyle/>
          <a:p>
            <a:pPr algn="l">
              <a:defRPr sz="1300" b="1">
                <a:solidFill>
                  <a:srgbClr val="FFFFFF"/>
                </a:solidFill>
                <a:latin typeface="Calibri"/>
              </a:defRPr>
            </a:pPr>
            <a:r>
              <a:t>Martin Fournier</a:t>
            </a:r>
          </a:p>
        </p:txBody>
      </p:sp>
      <p:sp>
        <p:nvSpPr>
          <p:cNvPr id="8" name="TextBox 7"/>
          <p:cNvSpPr txBox="1"/>
          <p:nvPr/>
        </p:nvSpPr>
        <p:spPr>
          <a:xfrm>
            <a:off x="640080" y="5349240"/>
            <a:ext cx="5669280" cy="274320"/>
          </a:xfrm>
          <a:prstGeom prst="rect">
            <a:avLst/>
          </a:prstGeom>
          <a:noFill/>
        </p:spPr>
        <p:txBody>
          <a:bodyPr wrap="square" lIns="45720" rIns="45720" tIns="18288" bIns="18288">
            <a:spAutoFit/>
          </a:bodyPr>
          <a:lstStyle/>
          <a:p>
            <a:pPr algn="l">
              <a:defRPr sz="1200" b="0">
                <a:solidFill>
                  <a:srgbClr val="CCE0D2"/>
                </a:solidFill>
                <a:latin typeface="Calibri"/>
              </a:defRPr>
            </a:pPr>
            <a:r>
              <a:t>2026-05-17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Réponses personnalisées à partir de VOS documents</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Copilot connaît votre organisation — si vous lui donnez le contexte</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Copilot peut lire vos fichiers SharePoint, OneDrive et Teams</a:t>
            </a:r>
          </a:p>
          <a:p>
            <a:pPr>
              <a:spcAft>
                <a:spcPts val="400"/>
              </a:spcAft>
              <a:defRPr sz="1400">
                <a:solidFill>
                  <a:srgbClr val="2B2B2B"/>
                </a:solidFill>
                <a:latin typeface="Calibri"/>
              </a:defRPr>
            </a:pPr>
            <a:r>
              <a:t>• Il répond à partir de VOS politiques et procédures — pas de réponses génériques</a:t>
            </a:r>
          </a:p>
          <a:p>
            <a:pPr>
              <a:spcAft>
                <a:spcPts val="400"/>
              </a:spcAft>
              <a:defRPr sz="1400">
                <a:solidFill>
                  <a:srgbClr val="2B2B2B"/>
                </a:solidFill>
                <a:latin typeface="Calibri"/>
              </a:defRPr>
            </a:pPr>
            <a:r>
              <a:t>• Vos permissions existantes s'appliquent: il ne voit que ce que vous pouvez voir</a:t>
            </a:r>
          </a:p>
          <a:p>
            <a:pPr>
              <a:spcAft>
                <a:spcPts val="400"/>
              </a:spcAft>
              <a:defRPr sz="1400">
                <a:solidFill>
                  <a:srgbClr val="2B2B2B"/>
                </a:solidFill>
                <a:latin typeface="Calibri"/>
              </a:defRPr>
            </a:pPr>
            <a:r>
              <a:t>• Les données restent dans le périmètre Microsoft 365 de l'institution</a:t>
            </a:r>
          </a:p>
        </p:txBody>
      </p:sp>
      <p:sp>
        <p:nvSpPr>
          <p:cNvPr id="6" name="Rectangle 5"/>
          <p:cNvSpPr/>
          <p:nvPr/>
        </p:nvSpPr>
        <p:spPr>
          <a:xfrm>
            <a:off x="4572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nlink_EF4444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2542032" cy="457200"/>
          </a:xfrm>
          <a:prstGeom prst="rect">
            <a:avLst/>
          </a:prstGeom>
          <a:noFill/>
        </p:spPr>
        <p:txBody>
          <a:bodyPr wrap="square" lIns="45720" rIns="45720" tIns="18288" bIns="18288">
            <a:spAutoFit/>
          </a:bodyPr>
          <a:lstStyle/>
          <a:p>
            <a:pPr algn="l">
              <a:defRPr sz="1700" b="1">
                <a:solidFill>
                  <a:srgbClr val="EF4444"/>
                </a:solidFill>
                <a:latin typeface="Calibri"/>
              </a:defRPr>
            </a:pPr>
            <a:r>
              <a:t>Sans contexte (générique)</a:t>
            </a:r>
          </a:p>
        </p:txBody>
      </p:sp>
      <p:sp>
        <p:nvSpPr>
          <p:cNvPr id="9" name="TextBox 8"/>
          <p:cNvSpPr txBox="1"/>
          <p:nvPr/>
        </p:nvSpPr>
        <p:spPr>
          <a:xfrm>
            <a:off x="7315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«Écris une politique de</a:t>
            </a:r>
          </a:p>
          <a:p>
            <a:pPr>
              <a:spcAft>
                <a:spcPts val="400"/>
              </a:spcAft>
              <a:defRPr sz="1300">
                <a:solidFill>
                  <a:srgbClr val="2B2B2B"/>
                </a:solidFill>
                <a:latin typeface="Calibri"/>
              </a:defRPr>
            </a:pPr>
            <a:r>
              <a:t>sécurité informatique»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Réponse qui pourrait</a:t>
            </a:r>
          </a:p>
          <a:p>
            <a:pPr>
              <a:spcAft>
                <a:spcPts val="400"/>
              </a:spcAft>
              <a:defRPr sz="1300">
                <a:solidFill>
                  <a:srgbClr val="2B2B2B"/>
                </a:solidFill>
                <a:latin typeface="Calibri"/>
              </a:defRPr>
            </a:pPr>
            <a:r>
              <a:t>être celle de n'importe</a:t>
            </a:r>
          </a:p>
          <a:p>
            <a:pPr>
              <a:spcAft>
                <a:spcPts val="400"/>
              </a:spcAft>
              <a:defRPr sz="1300">
                <a:solidFill>
                  <a:srgbClr val="2B2B2B"/>
                </a:solidFill>
                <a:latin typeface="Calibri"/>
              </a:defRPr>
            </a:pPr>
            <a:r>
              <a:t>quelle organisation.</a:t>
            </a:r>
          </a:p>
          <a:p>
            <a:pPr>
              <a:spcAft>
                <a:spcPts val="400"/>
              </a:spcAft>
              <a:defRPr sz="1300">
                <a:solidFill>
                  <a:srgbClr val="2B2B2B"/>
                </a:solidFill>
                <a:latin typeface="Calibri"/>
              </a:defRPr>
            </a:pPr>
            <a:r>
              <a:t>À réécrire entièrement.</a:t>
            </a:r>
          </a:p>
        </p:txBody>
      </p:sp>
      <p:sp>
        <p:nvSpPr>
          <p:cNvPr id="10" name="Rectangle 9"/>
          <p:cNvSpPr/>
          <p:nvPr/>
        </p:nvSpPr>
        <p:spPr>
          <a:xfrm>
            <a:off x="41148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nk_00874E_30.png"/>
          <p:cNvPicPr>
            <a:picLocks noChangeAspect="1"/>
          </p:cNvPicPr>
          <p:nvPr/>
        </p:nvPicPr>
        <p:blipFill>
          <a:blip r:embed="rId4"/>
          <a:stretch>
            <a:fillRect/>
          </a:stretch>
        </p:blipFill>
        <p:spPr>
          <a:xfrm>
            <a:off x="4370832" y="3090672"/>
            <a:ext cx="292608" cy="292608"/>
          </a:xfrm>
          <a:prstGeom prst="rect">
            <a:avLst/>
          </a:prstGeom>
        </p:spPr>
      </p:pic>
      <p:sp>
        <p:nvSpPr>
          <p:cNvPr id="12" name="TextBox 11"/>
          <p:cNvSpPr txBox="1"/>
          <p:nvPr/>
        </p:nvSpPr>
        <p:spPr>
          <a:xfrm>
            <a:off x="4773168" y="3108960"/>
            <a:ext cx="2542031" cy="457200"/>
          </a:xfrm>
          <a:prstGeom prst="rect">
            <a:avLst/>
          </a:prstGeom>
          <a:noFill/>
        </p:spPr>
        <p:txBody>
          <a:bodyPr wrap="square" lIns="45720" rIns="45720" tIns="18288" bIns="18288">
            <a:spAutoFit/>
          </a:bodyPr>
          <a:lstStyle/>
          <a:p>
            <a:pPr algn="l">
              <a:defRPr sz="1700" b="1">
                <a:solidFill>
                  <a:srgbClr val="00874E"/>
                </a:solidFill>
                <a:latin typeface="Calibri"/>
              </a:defRPr>
            </a:pPr>
            <a:r>
              <a:t>Avec contexte (personnalisé)</a:t>
            </a:r>
          </a:p>
        </p:txBody>
      </p:sp>
      <p:sp>
        <p:nvSpPr>
          <p:cNvPr id="13" name="TextBox 12"/>
          <p:cNvSpPr txBox="1"/>
          <p:nvPr/>
        </p:nvSpPr>
        <p:spPr>
          <a:xfrm>
            <a:off x="43891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«Résume notre politique</a:t>
            </a:r>
          </a:p>
          <a:p>
            <a:pPr>
              <a:spcAft>
                <a:spcPts val="400"/>
              </a:spcAft>
              <a:defRPr sz="1300">
                <a:solidFill>
                  <a:srgbClr val="2B2B2B"/>
                </a:solidFill>
                <a:latin typeface="Calibri"/>
              </a:defRPr>
            </a:pPr>
            <a:r>
              <a:t>de sécurité disponible</a:t>
            </a:r>
          </a:p>
          <a:p>
            <a:pPr>
              <a:spcAft>
                <a:spcPts val="400"/>
              </a:spcAft>
              <a:defRPr sz="1300">
                <a:solidFill>
                  <a:srgbClr val="2B2B2B"/>
                </a:solidFill>
                <a:latin typeface="Calibri"/>
              </a:defRPr>
            </a:pPr>
            <a:r>
              <a:t>sur SharePoint»</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Copilot lit le document,</a:t>
            </a:r>
          </a:p>
          <a:p>
            <a:pPr>
              <a:spcAft>
                <a:spcPts val="400"/>
              </a:spcAft>
              <a:defRPr sz="1300">
                <a:solidFill>
                  <a:srgbClr val="2B2B2B"/>
                </a:solidFill>
                <a:latin typeface="Calibri"/>
              </a:defRPr>
            </a:pPr>
            <a:r>
              <a:t>résume les points clés</a:t>
            </a:r>
          </a:p>
          <a:p>
            <a:pPr>
              <a:spcAft>
                <a:spcPts val="400"/>
              </a:spcAft>
              <a:defRPr sz="1300">
                <a:solidFill>
                  <a:srgbClr val="2B2B2B"/>
                </a:solidFill>
                <a:latin typeface="Calibri"/>
              </a:defRPr>
            </a:pPr>
            <a:r>
              <a:t>de VOTRE politique.</a:t>
            </a:r>
          </a:p>
          <a:p>
            <a:pPr>
              <a:spcAft>
                <a:spcPts val="400"/>
              </a:spcAft>
              <a:defRPr sz="1300">
                <a:solidFill>
                  <a:srgbClr val="2B2B2B"/>
                </a:solidFill>
                <a:latin typeface="Calibri"/>
              </a:defRPr>
            </a:pPr>
            <a:r>
              <a:t>Prêt à utiliser!</a:t>
            </a:r>
          </a:p>
        </p:txBody>
      </p:sp>
      <p:sp>
        <p:nvSpPr>
          <p:cNvPr id="14" name="Rectangle 13"/>
          <p:cNvSpPr/>
          <p:nvPr/>
        </p:nvSpPr>
        <p:spPr>
          <a:xfrm>
            <a:off x="77724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ock-keyhole_F59E0B_30.png"/>
          <p:cNvPicPr>
            <a:picLocks noChangeAspect="1"/>
          </p:cNvPicPr>
          <p:nvPr/>
        </p:nvPicPr>
        <p:blipFill>
          <a:blip r:embed="rId5"/>
          <a:stretch>
            <a:fillRect/>
          </a:stretch>
        </p:blipFill>
        <p:spPr>
          <a:xfrm>
            <a:off x="8028431" y="3090672"/>
            <a:ext cx="292608" cy="292608"/>
          </a:xfrm>
          <a:prstGeom prst="rect">
            <a:avLst/>
          </a:prstGeom>
        </p:spPr>
      </p:pic>
      <p:sp>
        <p:nvSpPr>
          <p:cNvPr id="16" name="TextBox 15"/>
          <p:cNvSpPr txBox="1"/>
          <p:nvPr/>
        </p:nvSpPr>
        <p:spPr>
          <a:xfrm>
            <a:off x="8430767" y="3108960"/>
            <a:ext cx="2542032" cy="457200"/>
          </a:xfrm>
          <a:prstGeom prst="rect">
            <a:avLst/>
          </a:prstGeom>
          <a:noFill/>
        </p:spPr>
        <p:txBody>
          <a:bodyPr wrap="square" lIns="45720" rIns="45720" tIns="18288" bIns="18288">
            <a:spAutoFit/>
          </a:bodyPr>
          <a:lstStyle/>
          <a:p>
            <a:pPr algn="l">
              <a:defRPr sz="1700" b="1">
                <a:solidFill>
                  <a:srgbClr val="F59E0B"/>
                </a:solidFill>
                <a:latin typeface="Calibri"/>
              </a:defRPr>
            </a:pPr>
            <a:r>
              <a:t>Sécurité — à savoir</a:t>
            </a:r>
          </a:p>
        </p:txBody>
      </p:sp>
      <p:sp>
        <p:nvSpPr>
          <p:cNvPr id="17" name="TextBox 16"/>
          <p:cNvSpPr txBox="1"/>
          <p:nvPr/>
        </p:nvSpPr>
        <p:spPr>
          <a:xfrm>
            <a:off x="80467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Mêmes permissions</a:t>
            </a:r>
          </a:p>
          <a:p>
            <a:pPr>
              <a:spcAft>
                <a:spcPts val="400"/>
              </a:spcAft>
              <a:defRPr sz="1300">
                <a:solidFill>
                  <a:srgbClr val="2B2B2B"/>
                </a:solidFill>
                <a:latin typeface="Calibri"/>
              </a:defRPr>
            </a:pPr>
            <a:r>
              <a:t>que votre compte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Aucun accès à des</a:t>
            </a:r>
          </a:p>
          <a:p>
            <a:pPr>
              <a:spcAft>
                <a:spcPts val="400"/>
              </a:spcAft>
              <a:defRPr sz="1300">
                <a:solidFill>
                  <a:srgbClr val="2B2B2B"/>
                </a:solidFill>
                <a:latin typeface="Calibri"/>
              </a:defRPr>
            </a:pPr>
            <a:r>
              <a:t>documents que vous</a:t>
            </a:r>
          </a:p>
          <a:p>
            <a:pPr>
              <a:spcAft>
                <a:spcPts val="400"/>
              </a:spcAft>
              <a:defRPr sz="1300">
                <a:solidFill>
                  <a:srgbClr val="2B2B2B"/>
                </a:solidFill>
                <a:latin typeface="Calibri"/>
              </a:defRPr>
            </a:pPr>
            <a:r>
              <a:t>ne pouvez pas voir</a:t>
            </a:r>
          </a:p>
          <a:p>
            <a:pPr>
              <a:spcAft>
                <a:spcPts val="400"/>
              </a:spcAft>
              <a:defRPr sz="1300">
                <a:solidFill>
                  <a:srgbClr val="2B2B2B"/>
                </a:solidFill>
                <a:latin typeface="Calibri"/>
              </a:defRPr>
            </a:pPr>
          </a:p>
          <a:p>
            <a:pPr>
              <a:spcAft>
                <a:spcPts val="400"/>
              </a:spcAft>
              <a:defRPr sz="1300">
                <a:solidFill>
                  <a:srgbClr val="2B2B2B"/>
                </a:solidFill>
                <a:latin typeface="Calibri"/>
              </a:defRPr>
            </a:pPr>
            <a:r>
              <a:t>Aucune donnée ne</a:t>
            </a:r>
          </a:p>
          <a:p>
            <a:pPr>
              <a:spcAft>
                <a:spcPts val="400"/>
              </a:spcAft>
              <a:defRPr sz="1300">
                <a:solidFill>
                  <a:srgbClr val="2B2B2B"/>
                </a:solidFill>
                <a:latin typeface="Calibri"/>
              </a:defRPr>
            </a:pPr>
            <a:r>
              <a:t>quitte le tenant M365</a:t>
            </a:r>
          </a:p>
        </p:txBody>
      </p:sp>
      <p:sp>
        <p:nvSpPr>
          <p:cNvPr id="18" name="Rectangle 17"/>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20" name="TextBox 19"/>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Où Copilot peut chercher vos données</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SharePoint, OneDrive et Teams — les trois sources clés</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SharePoint: sites d'équipe, bibliothèques departementales, procédures, politiques</a:t>
            </a:r>
          </a:p>
          <a:p>
            <a:pPr>
              <a:spcAft>
                <a:spcPts val="400"/>
              </a:spcAft>
              <a:defRPr sz="1400">
                <a:solidFill>
                  <a:srgbClr val="2B2B2B"/>
                </a:solidFill>
                <a:latin typeface="Calibri"/>
              </a:defRPr>
            </a:pPr>
            <a:r>
              <a:t>• OneDrive: vos fichiers personnels Word, Excel, PowerPoint, PDF</a:t>
            </a:r>
          </a:p>
          <a:p>
            <a:pPr>
              <a:spcAft>
                <a:spcPts val="400"/>
              </a:spcAft>
              <a:defRPr sz="1400">
                <a:solidFill>
                  <a:srgbClr val="2B2B2B"/>
                </a:solidFill>
                <a:latin typeface="Calibri"/>
              </a:defRPr>
            </a:pPr>
            <a:r>
              <a:t>• Teams: notes de canal, fichiers partagés dans vos conversations</a:t>
            </a:r>
          </a:p>
        </p:txBody>
      </p:sp>
      <p:sp>
        <p:nvSpPr>
          <p:cNvPr id="6" name="Rectangle 5"/>
          <p:cNvSpPr/>
          <p:nvPr/>
        </p:nvSpPr>
        <p:spPr>
          <a:xfrm>
            <a:off x="4572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oud_00874E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2542032" cy="457200"/>
          </a:xfrm>
          <a:prstGeom prst="rect">
            <a:avLst/>
          </a:prstGeom>
          <a:noFill/>
        </p:spPr>
        <p:txBody>
          <a:bodyPr wrap="square" lIns="45720" rIns="45720" tIns="18288" bIns="18288">
            <a:spAutoFit/>
          </a:bodyPr>
          <a:lstStyle/>
          <a:p>
            <a:pPr algn="l">
              <a:defRPr sz="1700" b="1">
                <a:solidFill>
                  <a:srgbClr val="00874E"/>
                </a:solidFill>
                <a:latin typeface="Calibri"/>
              </a:defRPr>
            </a:pPr>
            <a:r>
              <a:t>OneDrive</a:t>
            </a:r>
          </a:p>
        </p:txBody>
      </p:sp>
      <p:sp>
        <p:nvSpPr>
          <p:cNvPr id="9" name="TextBox 8"/>
          <p:cNvSpPr txBox="1"/>
          <p:nvPr/>
        </p:nvSpPr>
        <p:spPr>
          <a:xfrm>
            <a:off x="7315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Vos fichiers personnels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Documents Word, Excel,</a:t>
            </a:r>
          </a:p>
          <a:p>
            <a:pPr>
              <a:spcAft>
                <a:spcPts val="400"/>
              </a:spcAft>
              <a:defRPr sz="1300">
                <a:solidFill>
                  <a:srgbClr val="2B2B2B"/>
                </a:solidFill>
                <a:latin typeface="Calibri"/>
              </a:defRPr>
            </a:pPr>
            <a:r>
              <a:t>PowerPoint, PDF...</a:t>
            </a:r>
          </a:p>
          <a:p>
            <a:pPr>
              <a:spcAft>
                <a:spcPts val="400"/>
              </a:spcAft>
              <a:defRPr sz="1300">
                <a:solidFill>
                  <a:srgbClr val="2B2B2B"/>
                </a:solidFill>
                <a:latin typeface="Calibri"/>
              </a:defRPr>
            </a:pPr>
          </a:p>
          <a:p>
            <a:pPr>
              <a:spcAft>
                <a:spcPts val="400"/>
              </a:spcAft>
              <a:defRPr sz="1300">
                <a:solidFill>
                  <a:srgbClr val="2B2B2B"/>
                </a:solidFill>
                <a:latin typeface="Calibri"/>
              </a:defRPr>
            </a:pPr>
            <a:r>
              <a:t>Accessibles si vous</a:t>
            </a:r>
          </a:p>
          <a:p>
            <a:pPr>
              <a:spcAft>
                <a:spcPts val="400"/>
              </a:spcAft>
              <a:defRPr sz="1300">
                <a:solidFill>
                  <a:srgbClr val="2B2B2B"/>
                </a:solidFill>
                <a:latin typeface="Calibri"/>
              </a:defRPr>
            </a:pPr>
            <a:r>
              <a:t>êtes le propriétaire</a:t>
            </a:r>
          </a:p>
          <a:p>
            <a:pPr>
              <a:spcAft>
                <a:spcPts val="400"/>
              </a:spcAft>
              <a:defRPr sz="1300">
                <a:solidFill>
                  <a:srgbClr val="2B2B2B"/>
                </a:solidFill>
                <a:latin typeface="Calibri"/>
              </a:defRPr>
            </a:pPr>
            <a:r>
              <a:t>ou avez accès</a:t>
            </a:r>
          </a:p>
        </p:txBody>
      </p:sp>
      <p:sp>
        <p:nvSpPr>
          <p:cNvPr id="10" name="Rectangle 9"/>
          <p:cNvSpPr/>
          <p:nvPr/>
        </p:nvSpPr>
        <p:spPr>
          <a:xfrm>
            <a:off x="41148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uilding-2_00874E_30.png"/>
          <p:cNvPicPr>
            <a:picLocks noChangeAspect="1"/>
          </p:cNvPicPr>
          <p:nvPr/>
        </p:nvPicPr>
        <p:blipFill>
          <a:blip r:embed="rId4"/>
          <a:stretch>
            <a:fillRect/>
          </a:stretch>
        </p:blipFill>
        <p:spPr>
          <a:xfrm>
            <a:off x="4370832" y="3090672"/>
            <a:ext cx="292608" cy="292608"/>
          </a:xfrm>
          <a:prstGeom prst="rect">
            <a:avLst/>
          </a:prstGeom>
        </p:spPr>
      </p:pic>
      <p:sp>
        <p:nvSpPr>
          <p:cNvPr id="12" name="TextBox 11"/>
          <p:cNvSpPr txBox="1"/>
          <p:nvPr/>
        </p:nvSpPr>
        <p:spPr>
          <a:xfrm>
            <a:off x="4773168" y="3108960"/>
            <a:ext cx="2542031" cy="457200"/>
          </a:xfrm>
          <a:prstGeom prst="rect">
            <a:avLst/>
          </a:prstGeom>
          <a:noFill/>
        </p:spPr>
        <p:txBody>
          <a:bodyPr wrap="square" lIns="45720" rIns="45720" tIns="18288" bIns="18288">
            <a:spAutoFit/>
          </a:bodyPr>
          <a:lstStyle/>
          <a:p>
            <a:pPr algn="l">
              <a:defRPr sz="1700" b="1">
                <a:solidFill>
                  <a:srgbClr val="00874E"/>
                </a:solidFill>
                <a:latin typeface="Calibri"/>
              </a:defRPr>
            </a:pPr>
            <a:r>
              <a:t>SharePoint</a:t>
            </a:r>
          </a:p>
        </p:txBody>
      </p:sp>
      <p:sp>
        <p:nvSpPr>
          <p:cNvPr id="13" name="TextBox 12"/>
          <p:cNvSpPr txBox="1"/>
          <p:nvPr/>
        </p:nvSpPr>
        <p:spPr>
          <a:xfrm>
            <a:off x="43891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Sites d'équipe et de</a:t>
            </a:r>
          </a:p>
          <a:p>
            <a:pPr>
              <a:spcAft>
                <a:spcPts val="400"/>
              </a:spcAft>
              <a:defRPr sz="1300">
                <a:solidFill>
                  <a:srgbClr val="2B2B2B"/>
                </a:solidFill>
                <a:latin typeface="Calibri"/>
              </a:defRPr>
            </a:pPr>
            <a:r>
              <a:t>département</a:t>
            </a:r>
          </a:p>
          <a:p>
            <a:pPr>
              <a:spcAft>
                <a:spcPts val="400"/>
              </a:spcAft>
              <a:defRPr sz="1300">
                <a:solidFill>
                  <a:srgbClr val="2B2B2B"/>
                </a:solidFill>
                <a:latin typeface="Calibri"/>
              </a:defRPr>
            </a:pPr>
          </a:p>
          <a:p>
            <a:pPr>
              <a:spcAft>
                <a:spcPts val="400"/>
              </a:spcAft>
              <a:defRPr sz="1300">
                <a:solidFill>
                  <a:srgbClr val="2B2B2B"/>
                </a:solidFill>
                <a:latin typeface="Calibri"/>
              </a:defRPr>
            </a:pPr>
            <a:r>
              <a:t>Procédures, politiques,</a:t>
            </a:r>
          </a:p>
          <a:p>
            <a:pPr>
              <a:spcAft>
                <a:spcPts val="400"/>
              </a:spcAft>
              <a:defRPr sz="1300">
                <a:solidFill>
                  <a:srgbClr val="2B2B2B"/>
                </a:solidFill>
                <a:latin typeface="Calibri"/>
              </a:defRPr>
            </a:pPr>
            <a:r>
              <a:t>bibliothèques partagées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Accessibles selon</a:t>
            </a:r>
          </a:p>
          <a:p>
            <a:pPr>
              <a:spcAft>
                <a:spcPts val="400"/>
              </a:spcAft>
              <a:defRPr sz="1300">
                <a:solidFill>
                  <a:srgbClr val="2B2B2B"/>
                </a:solidFill>
                <a:latin typeface="Calibri"/>
              </a:defRPr>
            </a:pPr>
            <a:r>
              <a:t>vos permissions</a:t>
            </a:r>
          </a:p>
        </p:txBody>
      </p:sp>
      <p:sp>
        <p:nvSpPr>
          <p:cNvPr id="14" name="Rectangle 13"/>
          <p:cNvSpPr/>
          <p:nvPr/>
        </p:nvSpPr>
        <p:spPr>
          <a:xfrm>
            <a:off x="77724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message-circle_F59E0B_30.png"/>
          <p:cNvPicPr>
            <a:picLocks noChangeAspect="1"/>
          </p:cNvPicPr>
          <p:nvPr/>
        </p:nvPicPr>
        <p:blipFill>
          <a:blip r:embed="rId5"/>
          <a:stretch>
            <a:fillRect/>
          </a:stretch>
        </p:blipFill>
        <p:spPr>
          <a:xfrm>
            <a:off x="8028431" y="3090672"/>
            <a:ext cx="292608" cy="292608"/>
          </a:xfrm>
          <a:prstGeom prst="rect">
            <a:avLst/>
          </a:prstGeom>
        </p:spPr>
      </p:pic>
      <p:sp>
        <p:nvSpPr>
          <p:cNvPr id="16" name="TextBox 15"/>
          <p:cNvSpPr txBox="1"/>
          <p:nvPr/>
        </p:nvSpPr>
        <p:spPr>
          <a:xfrm>
            <a:off x="8430767" y="3108960"/>
            <a:ext cx="2542032" cy="457200"/>
          </a:xfrm>
          <a:prstGeom prst="rect">
            <a:avLst/>
          </a:prstGeom>
          <a:noFill/>
        </p:spPr>
        <p:txBody>
          <a:bodyPr wrap="square" lIns="45720" rIns="45720" tIns="18288" bIns="18288">
            <a:spAutoFit/>
          </a:bodyPr>
          <a:lstStyle/>
          <a:p>
            <a:pPr algn="l">
              <a:defRPr sz="1700" b="1">
                <a:solidFill>
                  <a:srgbClr val="F59E0B"/>
                </a:solidFill>
                <a:latin typeface="Calibri"/>
              </a:defRPr>
            </a:pPr>
            <a:r>
              <a:t>Teams</a:t>
            </a:r>
          </a:p>
        </p:txBody>
      </p:sp>
      <p:sp>
        <p:nvSpPr>
          <p:cNvPr id="17" name="TextBox 16"/>
          <p:cNvSpPr txBox="1"/>
          <p:nvPr/>
        </p:nvSpPr>
        <p:spPr>
          <a:xfrm>
            <a:off x="80467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Notes de canal,</a:t>
            </a:r>
          </a:p>
          <a:p>
            <a:pPr>
              <a:spcAft>
                <a:spcPts val="400"/>
              </a:spcAft>
              <a:defRPr sz="1300">
                <a:solidFill>
                  <a:srgbClr val="2B2B2B"/>
                </a:solidFill>
                <a:latin typeface="Calibri"/>
              </a:defRPr>
            </a:pPr>
            <a:r>
              <a:t>fichiers partagés dans</a:t>
            </a:r>
          </a:p>
          <a:p>
            <a:pPr>
              <a:spcAft>
                <a:spcPts val="400"/>
              </a:spcAft>
              <a:defRPr sz="1300">
                <a:solidFill>
                  <a:srgbClr val="2B2B2B"/>
                </a:solidFill>
                <a:latin typeface="Calibri"/>
              </a:defRPr>
            </a:pPr>
            <a:r>
              <a:t>vos conversations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Accessibles selon</a:t>
            </a:r>
          </a:p>
          <a:p>
            <a:pPr>
              <a:spcAft>
                <a:spcPts val="400"/>
              </a:spcAft>
              <a:defRPr sz="1300">
                <a:solidFill>
                  <a:srgbClr val="2B2B2B"/>
                </a:solidFill>
                <a:latin typeface="Calibri"/>
              </a:defRPr>
            </a:pPr>
            <a:r>
              <a:t>vos permissions</a:t>
            </a:r>
          </a:p>
          <a:p>
            <a:pPr>
              <a:spcAft>
                <a:spcPts val="400"/>
              </a:spcAft>
              <a:defRPr sz="1300">
                <a:solidFill>
                  <a:srgbClr val="2B2B2B"/>
                </a:solidFill>
                <a:latin typeface="Calibri"/>
              </a:defRPr>
            </a:pPr>
            <a:r>
              <a:t>de canal</a:t>
            </a:r>
          </a:p>
        </p:txBody>
      </p:sp>
      <p:sp>
        <p:nvSpPr>
          <p:cNvPr id="18" name="Rectangle 17"/>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20" name="TextBox 19"/>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Exemples concrets en institution financière</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3 scénarios où le contexte de vos documents change tout</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Mentionnez le site SharePoint ou le nom du fichier pour de meilleurs résultats</a:t>
            </a:r>
          </a:p>
          <a:p>
            <a:pPr>
              <a:spcAft>
                <a:spcPts val="400"/>
              </a:spcAft>
              <a:defRPr sz="1400">
                <a:solidFill>
                  <a:srgbClr val="2B2B2B"/>
                </a:solidFill>
                <a:latin typeface="Calibri"/>
              </a:defRPr>
            </a:pPr>
            <a:r>
              <a:t>• Copilot ne partage pas vos documents — il les lit pour vous répondre</a:t>
            </a:r>
          </a:p>
          <a:p>
            <a:pPr>
              <a:spcAft>
                <a:spcPts val="400"/>
              </a:spcAft>
              <a:defRPr sz="1400">
                <a:solidFill>
                  <a:srgbClr val="2B2B2B"/>
                </a:solidFill>
                <a:latin typeface="Calibri"/>
              </a:defRPr>
            </a:pPr>
            <a:r>
              <a:t>• Les permissions d'accès existantes sont toujours respectées</a:t>
            </a:r>
          </a:p>
        </p:txBody>
      </p:sp>
      <p:sp>
        <p:nvSpPr>
          <p:cNvPr id="6" name="Rectangle 5"/>
          <p:cNvSpPr/>
          <p:nvPr/>
        </p:nvSpPr>
        <p:spPr>
          <a:xfrm>
            <a:off x="4572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le-text_00874E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2542032" cy="457200"/>
          </a:xfrm>
          <a:prstGeom prst="rect">
            <a:avLst/>
          </a:prstGeom>
          <a:noFill/>
        </p:spPr>
        <p:txBody>
          <a:bodyPr wrap="square" lIns="45720" rIns="45720" tIns="18288" bIns="18288">
            <a:spAutoFit/>
          </a:bodyPr>
          <a:lstStyle/>
          <a:p>
            <a:pPr algn="l">
              <a:defRPr sz="1700" b="1">
                <a:solidFill>
                  <a:srgbClr val="00874E"/>
                </a:solidFill>
                <a:latin typeface="Calibri"/>
              </a:defRPr>
            </a:pPr>
            <a:r>
              <a:t>Scénario 1: Procédures</a:t>
            </a:r>
          </a:p>
        </p:txBody>
      </p:sp>
      <p:sp>
        <p:nvSpPr>
          <p:cNvPr id="9" name="TextBox 8"/>
          <p:cNvSpPr txBox="1"/>
          <p:nvPr/>
        </p:nvSpPr>
        <p:spPr>
          <a:xfrm>
            <a:off x="7315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«Trouve la procédure de</a:t>
            </a:r>
          </a:p>
          <a:p>
            <a:pPr>
              <a:spcAft>
                <a:spcPts val="400"/>
              </a:spcAft>
              <a:defRPr sz="1300">
                <a:solidFill>
                  <a:srgbClr val="2B2B2B"/>
                </a:solidFill>
                <a:latin typeface="Calibri"/>
              </a:defRPr>
            </a:pPr>
            <a:r>
              <a:t>demande d'accès pour</a:t>
            </a:r>
          </a:p>
          <a:p>
            <a:pPr>
              <a:spcAft>
                <a:spcPts val="400"/>
              </a:spcAft>
              <a:defRPr sz="1300">
                <a:solidFill>
                  <a:srgbClr val="2B2B2B"/>
                </a:solidFill>
                <a:latin typeface="Calibri"/>
              </a:defRPr>
            </a:pPr>
            <a:r>
              <a:t>ServiceNow sur le site</a:t>
            </a:r>
          </a:p>
          <a:p>
            <a:pPr>
              <a:spcAft>
                <a:spcPts val="400"/>
              </a:spcAft>
              <a:defRPr sz="1300">
                <a:solidFill>
                  <a:srgbClr val="2B2B2B"/>
                </a:solidFill>
                <a:latin typeface="Calibri"/>
              </a:defRPr>
            </a:pPr>
            <a:r>
              <a:t>SharePoint Informatique</a:t>
            </a:r>
          </a:p>
          <a:p>
            <a:pPr>
              <a:spcAft>
                <a:spcPts val="400"/>
              </a:spcAft>
              <a:defRPr sz="1300">
                <a:solidFill>
                  <a:srgbClr val="2B2B2B"/>
                </a:solidFill>
                <a:latin typeface="Calibri"/>
              </a:defRPr>
            </a:pPr>
            <a:r>
              <a:t>et résume-la en 5 étapes»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Copilot cherche,</a:t>
            </a:r>
          </a:p>
          <a:p>
            <a:pPr>
              <a:spcAft>
                <a:spcPts val="400"/>
              </a:spcAft>
              <a:defRPr sz="1300">
                <a:solidFill>
                  <a:srgbClr val="2B2B2B"/>
                </a:solidFill>
                <a:latin typeface="Calibri"/>
              </a:defRPr>
            </a:pPr>
            <a:r>
              <a:t>lit, résume. 30 secondes!</a:t>
            </a:r>
          </a:p>
        </p:txBody>
      </p:sp>
      <p:sp>
        <p:nvSpPr>
          <p:cNvPr id="10" name="Rectangle 9"/>
          <p:cNvSpPr/>
          <p:nvPr/>
        </p:nvSpPr>
        <p:spPr>
          <a:xfrm>
            <a:off x="41148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art-bar_00874E_30.png"/>
          <p:cNvPicPr>
            <a:picLocks noChangeAspect="1"/>
          </p:cNvPicPr>
          <p:nvPr/>
        </p:nvPicPr>
        <p:blipFill>
          <a:blip r:embed="rId4"/>
          <a:stretch>
            <a:fillRect/>
          </a:stretch>
        </p:blipFill>
        <p:spPr>
          <a:xfrm>
            <a:off x="4370832" y="3090672"/>
            <a:ext cx="292608" cy="292608"/>
          </a:xfrm>
          <a:prstGeom prst="rect">
            <a:avLst/>
          </a:prstGeom>
        </p:spPr>
      </p:pic>
      <p:sp>
        <p:nvSpPr>
          <p:cNvPr id="12" name="TextBox 11"/>
          <p:cNvSpPr txBox="1"/>
          <p:nvPr/>
        </p:nvSpPr>
        <p:spPr>
          <a:xfrm>
            <a:off x="4773168" y="3108960"/>
            <a:ext cx="2542031" cy="457200"/>
          </a:xfrm>
          <a:prstGeom prst="rect">
            <a:avLst/>
          </a:prstGeom>
          <a:noFill/>
        </p:spPr>
        <p:txBody>
          <a:bodyPr wrap="square" lIns="45720" rIns="45720" tIns="18288" bIns="18288">
            <a:spAutoFit/>
          </a:bodyPr>
          <a:lstStyle/>
          <a:p>
            <a:pPr algn="l">
              <a:defRPr sz="1700" b="1">
                <a:solidFill>
                  <a:srgbClr val="00874E"/>
                </a:solidFill>
                <a:latin typeface="Calibri"/>
              </a:defRPr>
            </a:pPr>
            <a:r>
              <a:t>Scénario 2: Rapports</a:t>
            </a:r>
          </a:p>
        </p:txBody>
      </p:sp>
      <p:sp>
        <p:nvSpPr>
          <p:cNvPr id="13" name="TextBox 12"/>
          <p:cNvSpPr txBox="1"/>
          <p:nvPr/>
        </p:nvSpPr>
        <p:spPr>
          <a:xfrm>
            <a:off x="43891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«Compare les chiffres</a:t>
            </a:r>
          </a:p>
          <a:p>
            <a:pPr>
              <a:spcAft>
                <a:spcPts val="400"/>
              </a:spcAft>
              <a:defRPr sz="1300">
                <a:solidFill>
                  <a:srgbClr val="2B2B2B"/>
                </a:solidFill>
                <a:latin typeface="Calibri"/>
              </a:defRPr>
            </a:pPr>
            <a:r>
              <a:t>de ce trimestre avec</a:t>
            </a:r>
          </a:p>
          <a:p>
            <a:pPr>
              <a:spcAft>
                <a:spcPts val="400"/>
              </a:spcAft>
              <a:defRPr sz="1300">
                <a:solidFill>
                  <a:srgbClr val="2B2B2B"/>
                </a:solidFill>
                <a:latin typeface="Calibri"/>
              </a:defRPr>
            </a:pPr>
            <a:r>
              <a:t>ceux du rapport Q1</a:t>
            </a:r>
          </a:p>
          <a:p>
            <a:pPr>
              <a:spcAft>
                <a:spcPts val="400"/>
              </a:spcAft>
              <a:defRPr sz="1300">
                <a:solidFill>
                  <a:srgbClr val="2B2B2B"/>
                </a:solidFill>
                <a:latin typeface="Calibri"/>
              </a:defRPr>
            </a:pPr>
            <a:r>
              <a:t>dans le dossier</a:t>
            </a:r>
          </a:p>
          <a:p>
            <a:pPr>
              <a:spcAft>
                <a:spcPts val="400"/>
              </a:spcAft>
              <a:defRPr sz="1300">
                <a:solidFill>
                  <a:srgbClr val="2B2B2B"/>
                </a:solidFill>
                <a:latin typeface="Calibri"/>
              </a:defRPr>
            </a:pPr>
            <a:r>
              <a:t>Finances sur SharePoint»</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Analyse 2 fichiers,</a:t>
            </a:r>
          </a:p>
          <a:p>
            <a:pPr>
              <a:spcAft>
                <a:spcPts val="400"/>
              </a:spcAft>
              <a:defRPr sz="1300">
                <a:solidFill>
                  <a:srgbClr val="2B2B2B"/>
                </a:solidFill>
                <a:latin typeface="Calibri"/>
              </a:defRPr>
            </a:pPr>
            <a:r>
              <a:t>compare, résume</a:t>
            </a:r>
          </a:p>
        </p:txBody>
      </p:sp>
      <p:sp>
        <p:nvSpPr>
          <p:cNvPr id="14" name="Rectangle 13"/>
          <p:cNvSpPr/>
          <p:nvPr/>
        </p:nvSpPr>
        <p:spPr>
          <a:xfrm>
            <a:off x="77724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users_F59E0B_30.png"/>
          <p:cNvPicPr>
            <a:picLocks noChangeAspect="1"/>
          </p:cNvPicPr>
          <p:nvPr/>
        </p:nvPicPr>
        <p:blipFill>
          <a:blip r:embed="rId5"/>
          <a:stretch>
            <a:fillRect/>
          </a:stretch>
        </p:blipFill>
        <p:spPr>
          <a:xfrm>
            <a:off x="8028431" y="3090672"/>
            <a:ext cx="292608" cy="292608"/>
          </a:xfrm>
          <a:prstGeom prst="rect">
            <a:avLst/>
          </a:prstGeom>
        </p:spPr>
      </p:pic>
      <p:sp>
        <p:nvSpPr>
          <p:cNvPr id="16" name="TextBox 15"/>
          <p:cNvSpPr txBox="1"/>
          <p:nvPr/>
        </p:nvSpPr>
        <p:spPr>
          <a:xfrm>
            <a:off x="8430767" y="3108960"/>
            <a:ext cx="2542032" cy="457200"/>
          </a:xfrm>
          <a:prstGeom prst="rect">
            <a:avLst/>
          </a:prstGeom>
          <a:noFill/>
        </p:spPr>
        <p:txBody>
          <a:bodyPr wrap="square" lIns="45720" rIns="45720" tIns="18288" bIns="18288">
            <a:spAutoFit/>
          </a:bodyPr>
          <a:lstStyle/>
          <a:p>
            <a:pPr algn="l">
              <a:defRPr sz="1700" b="1">
                <a:solidFill>
                  <a:srgbClr val="F59E0B"/>
                </a:solidFill>
                <a:latin typeface="Calibri"/>
              </a:defRPr>
            </a:pPr>
            <a:r>
              <a:t>Scénario 3: Réunions</a:t>
            </a:r>
          </a:p>
        </p:txBody>
      </p:sp>
      <p:sp>
        <p:nvSpPr>
          <p:cNvPr id="17" name="TextBox 16"/>
          <p:cNvSpPr txBox="1"/>
          <p:nvPr/>
        </p:nvSpPr>
        <p:spPr>
          <a:xfrm>
            <a:off x="80467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«Résume les notes de</a:t>
            </a:r>
          </a:p>
          <a:p>
            <a:pPr>
              <a:spcAft>
                <a:spcPts val="400"/>
              </a:spcAft>
              <a:defRPr sz="1300">
                <a:solidFill>
                  <a:srgbClr val="2B2B2B"/>
                </a:solidFill>
                <a:latin typeface="Calibri"/>
              </a:defRPr>
            </a:pPr>
            <a:r>
              <a:t>la rencontre de lundi</a:t>
            </a:r>
          </a:p>
          <a:p>
            <a:pPr>
              <a:spcAft>
                <a:spcPts val="400"/>
              </a:spcAft>
              <a:defRPr sz="1300">
                <a:solidFill>
                  <a:srgbClr val="2B2B2B"/>
                </a:solidFill>
                <a:latin typeface="Calibri"/>
              </a:defRPr>
            </a:pPr>
            <a:r>
              <a:t>dans le canal Teams</a:t>
            </a:r>
          </a:p>
          <a:p>
            <a:pPr>
              <a:spcAft>
                <a:spcPts val="400"/>
              </a:spcAft>
              <a:defRPr sz="1300">
                <a:solidFill>
                  <a:srgbClr val="2B2B2B"/>
                </a:solidFill>
                <a:latin typeface="Calibri"/>
              </a:defRPr>
            </a:pPr>
            <a:r>
              <a:t>Projet Alpha et liste</a:t>
            </a:r>
          </a:p>
          <a:p>
            <a:pPr>
              <a:spcAft>
                <a:spcPts val="400"/>
              </a:spcAft>
              <a:defRPr sz="1300">
                <a:solidFill>
                  <a:srgbClr val="2B2B2B"/>
                </a:solidFill>
                <a:latin typeface="Calibri"/>
              </a:defRPr>
            </a:pPr>
            <a:r>
              <a:t>les tâches à faire»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Lit les notes,</a:t>
            </a:r>
          </a:p>
          <a:p>
            <a:pPr>
              <a:spcAft>
                <a:spcPts val="400"/>
              </a:spcAft>
              <a:defRPr sz="1300">
                <a:solidFill>
                  <a:srgbClr val="2B2B2B"/>
                </a:solidFill>
                <a:latin typeface="Calibri"/>
              </a:defRPr>
            </a:pPr>
            <a:r>
              <a:t>liste les action items</a:t>
            </a:r>
          </a:p>
        </p:txBody>
      </p:sp>
      <p:sp>
        <p:nvSpPr>
          <p:cNvPr id="18" name="Rectangle 17"/>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20" name="TextBox 19"/>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Comment bien formuler sa demande</a:t>
            </a:r>
          </a:p>
        </p:txBody>
      </p:sp>
      <p:sp>
        <p:nvSpPr>
          <p:cNvPr id="3" name="Rectangle 2"/>
          <p:cNvSpPr/>
          <p:nvPr/>
        </p:nvSpPr>
        <p:spPr>
          <a:xfrm>
            <a:off x="457200" y="123444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63040"/>
            <a:ext cx="3383280" cy="475488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ircle-check_00874E_30.png"/>
          <p:cNvPicPr>
            <a:picLocks noChangeAspect="1"/>
          </p:cNvPicPr>
          <p:nvPr/>
        </p:nvPicPr>
        <p:blipFill>
          <a:blip r:embed="rId3"/>
          <a:stretch>
            <a:fillRect/>
          </a:stretch>
        </p:blipFill>
        <p:spPr>
          <a:xfrm>
            <a:off x="713232" y="1627632"/>
            <a:ext cx="292608" cy="292608"/>
          </a:xfrm>
          <a:prstGeom prst="rect">
            <a:avLst/>
          </a:prstGeom>
        </p:spPr>
      </p:pic>
      <p:sp>
        <p:nvSpPr>
          <p:cNvPr id="6" name="TextBox 5"/>
          <p:cNvSpPr txBox="1"/>
          <p:nvPr/>
        </p:nvSpPr>
        <p:spPr>
          <a:xfrm>
            <a:off x="1115568" y="1645920"/>
            <a:ext cx="2542032" cy="457200"/>
          </a:xfrm>
          <a:prstGeom prst="rect">
            <a:avLst/>
          </a:prstGeom>
          <a:noFill/>
        </p:spPr>
        <p:txBody>
          <a:bodyPr wrap="square" lIns="45720" rIns="45720" tIns="18288" bIns="18288">
            <a:spAutoFit/>
          </a:bodyPr>
          <a:lstStyle/>
          <a:p>
            <a:pPr algn="l">
              <a:defRPr sz="1700" b="1">
                <a:solidFill>
                  <a:srgbClr val="00874E"/>
                </a:solidFill>
                <a:latin typeface="Calibri"/>
              </a:defRPr>
            </a:pPr>
            <a:r>
              <a:t>Prompt précis</a:t>
            </a:r>
          </a:p>
        </p:txBody>
      </p:sp>
      <p:sp>
        <p:nvSpPr>
          <p:cNvPr id="7" name="TextBox 6"/>
          <p:cNvSpPr txBox="1"/>
          <p:nvPr/>
        </p:nvSpPr>
        <p:spPr>
          <a:xfrm>
            <a:off x="731520" y="2240280"/>
            <a:ext cx="2834640" cy="3794760"/>
          </a:xfrm>
          <a:prstGeom prst="rect">
            <a:avLst/>
          </a:prstGeom>
          <a:noFill/>
        </p:spPr>
        <p:txBody>
          <a:bodyPr wrap="square">
            <a:spAutoFit/>
          </a:bodyPr>
          <a:lstStyle/>
          <a:p>
            <a:pPr>
              <a:spcAft>
                <a:spcPts val="400"/>
              </a:spcAft>
              <a:defRPr sz="1300">
                <a:solidFill>
                  <a:srgbClr val="2B2B2B"/>
                </a:solidFill>
                <a:latin typeface="Calibri"/>
              </a:defRPr>
            </a:pPr>
            <a:r>
              <a:t>«Dans le site SharePoint</a:t>
            </a:r>
          </a:p>
          <a:p>
            <a:pPr>
              <a:spcAft>
                <a:spcPts val="400"/>
              </a:spcAft>
              <a:defRPr sz="1300">
                <a:solidFill>
                  <a:srgbClr val="2B2B2B"/>
                </a:solidFill>
                <a:latin typeface="Calibri"/>
              </a:defRPr>
            </a:pPr>
            <a:r>
              <a:t>Informatique, résume</a:t>
            </a:r>
          </a:p>
          <a:p>
            <a:pPr>
              <a:spcAft>
                <a:spcPts val="400"/>
              </a:spcAft>
              <a:defRPr sz="1300">
                <a:solidFill>
                  <a:srgbClr val="2B2B2B"/>
                </a:solidFill>
                <a:latin typeface="Calibri"/>
              </a:defRPr>
            </a:pPr>
            <a:r>
              <a:t>le document Politique</a:t>
            </a:r>
          </a:p>
          <a:p>
            <a:pPr>
              <a:spcAft>
                <a:spcPts val="400"/>
              </a:spcAft>
              <a:defRPr sz="1300">
                <a:solidFill>
                  <a:srgbClr val="2B2B2B"/>
                </a:solidFill>
                <a:latin typeface="Calibri"/>
              </a:defRPr>
            </a:pPr>
            <a:r>
              <a:t>de sécurité 2026 en</a:t>
            </a:r>
          </a:p>
          <a:p>
            <a:pPr>
              <a:spcAft>
                <a:spcPts val="400"/>
              </a:spcAft>
              <a:defRPr sz="1300">
                <a:solidFill>
                  <a:srgbClr val="2B2B2B"/>
                </a:solidFill>
                <a:latin typeface="Calibri"/>
              </a:defRPr>
            </a:pPr>
            <a:r>
              <a:t>3 points clés.»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Copilot sait où</a:t>
            </a:r>
          </a:p>
          <a:p>
            <a:pPr>
              <a:spcAft>
                <a:spcPts val="400"/>
              </a:spcAft>
              <a:defRPr sz="1300">
                <a:solidFill>
                  <a:srgbClr val="2B2B2B"/>
                </a:solidFill>
                <a:latin typeface="Calibri"/>
              </a:defRPr>
            </a:pPr>
            <a:r>
              <a:t>chercher. Résultat net.</a:t>
            </a:r>
          </a:p>
        </p:txBody>
      </p:sp>
      <p:sp>
        <p:nvSpPr>
          <p:cNvPr id="8" name="Rectangle 7"/>
          <p:cNvSpPr/>
          <p:nvPr/>
        </p:nvSpPr>
        <p:spPr>
          <a:xfrm>
            <a:off x="4114800" y="1463040"/>
            <a:ext cx="3383280" cy="475488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ircle-help_EF4444_30.png"/>
          <p:cNvPicPr>
            <a:picLocks noChangeAspect="1"/>
          </p:cNvPicPr>
          <p:nvPr/>
        </p:nvPicPr>
        <p:blipFill>
          <a:blip r:embed="rId4"/>
          <a:stretch>
            <a:fillRect/>
          </a:stretch>
        </p:blipFill>
        <p:spPr>
          <a:xfrm>
            <a:off x="4370832" y="1627632"/>
            <a:ext cx="292608" cy="292608"/>
          </a:xfrm>
          <a:prstGeom prst="rect">
            <a:avLst/>
          </a:prstGeom>
        </p:spPr>
      </p:pic>
      <p:sp>
        <p:nvSpPr>
          <p:cNvPr id="10" name="TextBox 9"/>
          <p:cNvSpPr txBox="1"/>
          <p:nvPr/>
        </p:nvSpPr>
        <p:spPr>
          <a:xfrm>
            <a:off x="4773168" y="1645920"/>
            <a:ext cx="2542031" cy="457200"/>
          </a:xfrm>
          <a:prstGeom prst="rect">
            <a:avLst/>
          </a:prstGeom>
          <a:noFill/>
        </p:spPr>
        <p:txBody>
          <a:bodyPr wrap="square" lIns="45720" rIns="45720" tIns="18288" bIns="18288">
            <a:spAutoFit/>
          </a:bodyPr>
          <a:lstStyle/>
          <a:p>
            <a:pPr algn="l">
              <a:defRPr sz="1700" b="1">
                <a:solidFill>
                  <a:srgbClr val="EF4444"/>
                </a:solidFill>
                <a:latin typeface="Calibri"/>
              </a:defRPr>
            </a:pPr>
            <a:r>
              <a:t>Prompt vague</a:t>
            </a:r>
          </a:p>
        </p:txBody>
      </p:sp>
      <p:sp>
        <p:nvSpPr>
          <p:cNvPr id="11" name="TextBox 10"/>
          <p:cNvSpPr txBox="1"/>
          <p:nvPr/>
        </p:nvSpPr>
        <p:spPr>
          <a:xfrm>
            <a:off x="4389120" y="2240280"/>
            <a:ext cx="2834640" cy="3794760"/>
          </a:xfrm>
          <a:prstGeom prst="rect">
            <a:avLst/>
          </a:prstGeom>
          <a:noFill/>
        </p:spPr>
        <p:txBody>
          <a:bodyPr wrap="square">
            <a:spAutoFit/>
          </a:bodyPr>
          <a:lstStyle/>
          <a:p>
            <a:pPr>
              <a:spcAft>
                <a:spcPts val="400"/>
              </a:spcAft>
              <a:defRPr sz="1300">
                <a:solidFill>
                  <a:srgbClr val="2B2B2B"/>
                </a:solidFill>
                <a:latin typeface="Calibri"/>
              </a:defRPr>
            </a:pPr>
            <a:r>
              <a:t>«Trouve la politique</a:t>
            </a:r>
          </a:p>
          <a:p>
            <a:pPr>
              <a:spcAft>
                <a:spcPts val="400"/>
              </a:spcAft>
              <a:defRPr sz="1300">
                <a:solidFill>
                  <a:srgbClr val="2B2B2B"/>
                </a:solidFill>
                <a:latin typeface="Calibri"/>
              </a:defRPr>
            </a:pPr>
            <a:r>
              <a:t>de sécurité.»</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Copilot ne sait pas</a:t>
            </a:r>
          </a:p>
          <a:p>
            <a:pPr>
              <a:spcAft>
                <a:spcPts val="400"/>
              </a:spcAft>
              <a:defRPr sz="1300">
                <a:solidFill>
                  <a:srgbClr val="2B2B2B"/>
                </a:solidFill>
                <a:latin typeface="Calibri"/>
              </a:defRPr>
            </a:pPr>
            <a:r>
              <a:t>où chercher. Risque</a:t>
            </a:r>
          </a:p>
          <a:p>
            <a:pPr>
              <a:spcAft>
                <a:spcPts val="400"/>
              </a:spcAft>
              <a:defRPr sz="1300">
                <a:solidFill>
                  <a:srgbClr val="2B2B2B"/>
                </a:solidFill>
                <a:latin typeface="Calibri"/>
              </a:defRPr>
            </a:pPr>
            <a:r>
              <a:t>de réponse générique</a:t>
            </a:r>
          </a:p>
          <a:p>
            <a:pPr>
              <a:spcAft>
                <a:spcPts val="400"/>
              </a:spcAft>
              <a:defRPr sz="1300">
                <a:solidFill>
                  <a:srgbClr val="2B2B2B"/>
                </a:solidFill>
                <a:latin typeface="Calibri"/>
              </a:defRPr>
            </a:pPr>
            <a:r>
              <a:t>ou de mauvais fichier.</a:t>
            </a:r>
          </a:p>
        </p:txBody>
      </p:sp>
      <p:sp>
        <p:nvSpPr>
          <p:cNvPr id="12" name="Rectangle 11"/>
          <p:cNvSpPr/>
          <p:nvPr/>
        </p:nvSpPr>
        <p:spPr>
          <a:xfrm>
            <a:off x="7772400" y="1463040"/>
            <a:ext cx="3383280" cy="475488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hield-alert_00874E_30.png"/>
          <p:cNvPicPr>
            <a:picLocks noChangeAspect="1"/>
          </p:cNvPicPr>
          <p:nvPr/>
        </p:nvPicPr>
        <p:blipFill>
          <a:blip r:embed="rId5"/>
          <a:stretch>
            <a:fillRect/>
          </a:stretch>
        </p:blipFill>
        <p:spPr>
          <a:xfrm>
            <a:off x="8028431" y="1627632"/>
            <a:ext cx="292608" cy="292608"/>
          </a:xfrm>
          <a:prstGeom prst="rect">
            <a:avLst/>
          </a:prstGeom>
        </p:spPr>
      </p:pic>
      <p:sp>
        <p:nvSpPr>
          <p:cNvPr id="14" name="TextBox 13"/>
          <p:cNvSpPr txBox="1"/>
          <p:nvPr/>
        </p:nvSpPr>
        <p:spPr>
          <a:xfrm>
            <a:off x="8430767" y="1645920"/>
            <a:ext cx="2542032" cy="457200"/>
          </a:xfrm>
          <a:prstGeom prst="rect">
            <a:avLst/>
          </a:prstGeom>
          <a:noFill/>
        </p:spPr>
        <p:txBody>
          <a:bodyPr wrap="square" lIns="45720" rIns="45720" tIns="18288" bIns="18288">
            <a:spAutoFit/>
          </a:bodyPr>
          <a:lstStyle/>
          <a:p>
            <a:pPr algn="l">
              <a:defRPr sz="1700" b="1">
                <a:solidFill>
                  <a:srgbClr val="00874E"/>
                </a:solidFill>
                <a:latin typeface="Calibri"/>
              </a:defRPr>
            </a:pPr>
            <a:r>
              <a:t>Rappel sécurité</a:t>
            </a:r>
          </a:p>
        </p:txBody>
      </p:sp>
      <p:sp>
        <p:nvSpPr>
          <p:cNvPr id="15" name="TextBox 14"/>
          <p:cNvSpPr txBox="1"/>
          <p:nvPr/>
        </p:nvSpPr>
        <p:spPr>
          <a:xfrm>
            <a:off x="8046720" y="2240280"/>
            <a:ext cx="2834640" cy="3794760"/>
          </a:xfrm>
          <a:prstGeom prst="rect">
            <a:avLst/>
          </a:prstGeom>
          <a:noFill/>
        </p:spPr>
        <p:txBody>
          <a:bodyPr wrap="square">
            <a:spAutoFit/>
          </a:bodyPr>
          <a:lstStyle/>
          <a:p>
            <a:pPr>
              <a:spcAft>
                <a:spcPts val="400"/>
              </a:spcAft>
              <a:defRPr sz="1300">
                <a:solidFill>
                  <a:srgbClr val="2B2B2B"/>
                </a:solidFill>
                <a:latin typeface="Calibri"/>
              </a:defRPr>
            </a:pPr>
            <a:r>
              <a:t>Copilot respecte vos</a:t>
            </a:r>
          </a:p>
          <a:p>
            <a:pPr>
              <a:spcAft>
                <a:spcPts val="400"/>
              </a:spcAft>
              <a:defRPr sz="1300">
                <a:solidFill>
                  <a:srgbClr val="2B2B2B"/>
                </a:solidFill>
                <a:latin typeface="Calibri"/>
              </a:defRPr>
            </a:pPr>
            <a:r>
              <a:t>permissions existantes.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Documents confidentiels</a:t>
            </a:r>
          </a:p>
          <a:p>
            <a:pPr>
              <a:spcAft>
                <a:spcPts val="400"/>
              </a:spcAft>
              <a:defRPr sz="1300">
                <a:solidFill>
                  <a:srgbClr val="2B2B2B"/>
                </a:solidFill>
                <a:latin typeface="Calibri"/>
              </a:defRPr>
            </a:pPr>
            <a:r>
              <a:t>restent confidentiels.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Aucune donnée ne quitte</a:t>
            </a:r>
          </a:p>
          <a:p>
            <a:pPr>
              <a:spcAft>
                <a:spcPts val="400"/>
              </a:spcAft>
              <a:defRPr sz="1300">
                <a:solidFill>
                  <a:srgbClr val="2B2B2B"/>
                </a:solidFill>
                <a:latin typeface="Calibri"/>
              </a:defRPr>
            </a:pPr>
            <a:r>
              <a:t>le tenant M365.</a:t>
            </a:r>
          </a:p>
        </p:txBody>
      </p:sp>
      <p:sp>
        <p:nvSpPr>
          <p:cNvPr id="16" name="Rectangle 15"/>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18" name="TextBox 17"/>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874E"/>
        </a:solidFill>
        <a:effectLst/>
      </p:bgPr>
    </p:bg>
    <p:spTree>
      <p:nvGrpSpPr>
        <p:cNvPr id="1" name=""/>
        <p:cNvGrpSpPr/>
        <p:nvPr/>
      </p:nvGrpSpPr>
      <p:grpSpPr/>
      <p:sp>
        <p:nvSpPr>
          <p:cNvPr id="2" name="TextBox 1"/>
          <p:cNvSpPr txBox="1"/>
          <p:nvPr/>
        </p:nvSpPr>
        <p:spPr>
          <a:xfrm>
            <a:off x="914400" y="731520"/>
            <a:ext cx="10360152" cy="822960"/>
          </a:xfrm>
          <a:prstGeom prst="rect">
            <a:avLst/>
          </a:prstGeom>
          <a:noFill/>
        </p:spPr>
        <p:txBody>
          <a:bodyPr wrap="square" lIns="45720" rIns="45720" tIns="18288" bIns="18288">
            <a:spAutoFit/>
          </a:bodyPr>
          <a:lstStyle/>
          <a:p>
            <a:pPr algn="ctr">
              <a:defRPr sz="3600" b="1">
                <a:solidFill>
                  <a:srgbClr val="FFFFFF"/>
                </a:solidFill>
                <a:latin typeface="Calibri"/>
              </a:defRPr>
            </a:pPr>
            <a:r>
              <a:t>À retenir</a:t>
            </a:r>
          </a:p>
        </p:txBody>
      </p:sp>
      <p:sp>
        <p:nvSpPr>
          <p:cNvPr id="3" name="Rectangle 2"/>
          <p:cNvSpPr/>
          <p:nvPr/>
        </p:nvSpPr>
        <p:spPr>
          <a:xfrm>
            <a:off x="4572000" y="1691640"/>
            <a:ext cx="3044952"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6957" y="2103120"/>
            <a:ext cx="3291840"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nk_006B3F_36.png"/>
          <p:cNvPicPr>
            <a:picLocks noChangeAspect="1"/>
          </p:cNvPicPr>
          <p:nvPr/>
        </p:nvPicPr>
        <p:blipFill>
          <a:blip r:embed="rId3"/>
          <a:stretch>
            <a:fillRect/>
          </a:stretch>
        </p:blipFill>
        <p:spPr>
          <a:xfrm>
            <a:off x="2279141" y="2176272"/>
            <a:ext cx="347472" cy="347472"/>
          </a:xfrm>
          <a:prstGeom prst="rect">
            <a:avLst/>
          </a:prstGeom>
        </p:spPr>
      </p:pic>
      <p:sp>
        <p:nvSpPr>
          <p:cNvPr id="6" name="TextBox 5"/>
          <p:cNvSpPr txBox="1"/>
          <p:nvPr/>
        </p:nvSpPr>
        <p:spPr>
          <a:xfrm>
            <a:off x="944117" y="2596896"/>
            <a:ext cx="3017520" cy="548640"/>
          </a:xfrm>
          <a:prstGeom prst="rect">
            <a:avLst/>
          </a:prstGeom>
          <a:noFill/>
        </p:spPr>
        <p:txBody>
          <a:bodyPr wrap="square" lIns="45720" rIns="45720" tIns="18288" bIns="18288">
            <a:spAutoFit/>
          </a:bodyPr>
          <a:lstStyle/>
          <a:p>
            <a:pPr algn="ctr">
              <a:defRPr sz="2200" b="1">
                <a:solidFill>
                  <a:srgbClr val="006B3F"/>
                </a:solidFill>
                <a:latin typeface="Calibri"/>
              </a:defRPr>
            </a:pPr>
            <a:r>
              <a:t>1. Connexion</a:t>
            </a:r>
          </a:p>
        </p:txBody>
      </p:sp>
      <p:sp>
        <p:nvSpPr>
          <p:cNvPr id="7" name="TextBox 6"/>
          <p:cNvSpPr txBox="1"/>
          <p:nvPr/>
        </p:nvSpPr>
        <p:spPr>
          <a:xfrm>
            <a:off x="944117" y="3236976"/>
            <a:ext cx="3017520" cy="914400"/>
          </a:xfrm>
          <a:prstGeom prst="rect">
            <a:avLst/>
          </a:prstGeom>
          <a:noFill/>
        </p:spPr>
        <p:txBody>
          <a:bodyPr wrap="square" lIns="45720" rIns="45720" tIns="18288" bIns="18288">
            <a:spAutoFit/>
          </a:bodyPr>
          <a:lstStyle/>
          <a:p>
            <a:pPr algn="ctr">
              <a:defRPr sz="1500" b="0">
                <a:solidFill>
                  <a:srgbClr val="6B6B6B"/>
                </a:solidFill>
                <a:latin typeface="Calibri"/>
              </a:defRPr>
            </a:pPr>
            <a:r>
              <a:t>Copilot lit vos docs</a:t>
            </a:r>
            <a:br/>
            <a:r>
              <a:t>SharePoint, OneDrive, Teams</a:t>
            </a:r>
          </a:p>
        </p:txBody>
      </p:sp>
      <p:sp>
        <p:nvSpPr>
          <p:cNvPr id="8" name="Rectangle 7"/>
          <p:cNvSpPr/>
          <p:nvPr/>
        </p:nvSpPr>
        <p:spPr>
          <a:xfrm>
            <a:off x="4448556" y="2103120"/>
            <a:ext cx="3291840"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ock-keyhole_006B3F_36.png"/>
          <p:cNvPicPr>
            <a:picLocks noChangeAspect="1"/>
          </p:cNvPicPr>
          <p:nvPr/>
        </p:nvPicPr>
        <p:blipFill>
          <a:blip r:embed="rId4"/>
          <a:stretch>
            <a:fillRect/>
          </a:stretch>
        </p:blipFill>
        <p:spPr>
          <a:xfrm>
            <a:off x="5920740" y="2176272"/>
            <a:ext cx="347472" cy="347472"/>
          </a:xfrm>
          <a:prstGeom prst="rect">
            <a:avLst/>
          </a:prstGeom>
        </p:spPr>
      </p:pic>
      <p:sp>
        <p:nvSpPr>
          <p:cNvPr id="10" name="TextBox 9"/>
          <p:cNvSpPr txBox="1"/>
          <p:nvPr/>
        </p:nvSpPr>
        <p:spPr>
          <a:xfrm>
            <a:off x="4585716" y="2596896"/>
            <a:ext cx="3017520" cy="548640"/>
          </a:xfrm>
          <a:prstGeom prst="rect">
            <a:avLst/>
          </a:prstGeom>
          <a:noFill/>
        </p:spPr>
        <p:txBody>
          <a:bodyPr wrap="square" lIns="45720" rIns="45720" tIns="18288" bIns="18288">
            <a:spAutoFit/>
          </a:bodyPr>
          <a:lstStyle/>
          <a:p>
            <a:pPr algn="ctr">
              <a:defRPr sz="2200" b="1">
                <a:solidFill>
                  <a:srgbClr val="006B3F"/>
                </a:solidFill>
                <a:latin typeface="Calibri"/>
              </a:defRPr>
            </a:pPr>
            <a:r>
              <a:t>2. Sécurité</a:t>
            </a:r>
          </a:p>
        </p:txBody>
      </p:sp>
      <p:sp>
        <p:nvSpPr>
          <p:cNvPr id="11" name="TextBox 10"/>
          <p:cNvSpPr txBox="1"/>
          <p:nvPr/>
        </p:nvSpPr>
        <p:spPr>
          <a:xfrm>
            <a:off x="4585716" y="3236976"/>
            <a:ext cx="3017520" cy="914400"/>
          </a:xfrm>
          <a:prstGeom prst="rect">
            <a:avLst/>
          </a:prstGeom>
          <a:noFill/>
        </p:spPr>
        <p:txBody>
          <a:bodyPr wrap="square" lIns="45720" rIns="45720" tIns="18288" bIns="18288">
            <a:spAutoFit/>
          </a:bodyPr>
          <a:lstStyle/>
          <a:p>
            <a:pPr algn="ctr">
              <a:defRPr sz="1500" b="0">
                <a:solidFill>
                  <a:srgbClr val="6B6B6B"/>
                </a:solidFill>
                <a:latin typeface="Calibri"/>
              </a:defRPr>
            </a:pPr>
            <a:r>
              <a:t>Mêmes permissions</a:t>
            </a:r>
            <a:br/>
            <a:r>
              <a:t>que votre compte</a:t>
            </a:r>
          </a:p>
        </p:txBody>
      </p:sp>
      <p:sp>
        <p:nvSpPr>
          <p:cNvPr id="12" name="Rectangle 11"/>
          <p:cNvSpPr/>
          <p:nvPr/>
        </p:nvSpPr>
        <p:spPr>
          <a:xfrm>
            <a:off x="8090154" y="2103120"/>
            <a:ext cx="3291840"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ghtbulb_006B3F_36.png"/>
          <p:cNvPicPr>
            <a:picLocks noChangeAspect="1"/>
          </p:cNvPicPr>
          <p:nvPr/>
        </p:nvPicPr>
        <p:blipFill>
          <a:blip r:embed="rId5"/>
          <a:stretch>
            <a:fillRect/>
          </a:stretch>
        </p:blipFill>
        <p:spPr>
          <a:xfrm>
            <a:off x="9562338" y="2176272"/>
            <a:ext cx="347472" cy="347472"/>
          </a:xfrm>
          <a:prstGeom prst="rect">
            <a:avLst/>
          </a:prstGeom>
        </p:spPr>
      </p:pic>
      <p:sp>
        <p:nvSpPr>
          <p:cNvPr id="14" name="TextBox 13"/>
          <p:cNvSpPr txBox="1"/>
          <p:nvPr/>
        </p:nvSpPr>
        <p:spPr>
          <a:xfrm>
            <a:off x="8227314" y="2596896"/>
            <a:ext cx="3017520" cy="548640"/>
          </a:xfrm>
          <a:prstGeom prst="rect">
            <a:avLst/>
          </a:prstGeom>
          <a:noFill/>
        </p:spPr>
        <p:txBody>
          <a:bodyPr wrap="square" lIns="45720" rIns="45720" tIns="18288" bIns="18288">
            <a:spAutoFit/>
          </a:bodyPr>
          <a:lstStyle/>
          <a:p>
            <a:pPr algn="ctr">
              <a:defRPr sz="2200" b="1">
                <a:solidFill>
                  <a:srgbClr val="006B3F"/>
                </a:solidFill>
                <a:latin typeface="Calibri"/>
              </a:defRPr>
            </a:pPr>
            <a:r>
              <a:t>3. Astuce</a:t>
            </a:r>
          </a:p>
        </p:txBody>
      </p:sp>
      <p:sp>
        <p:nvSpPr>
          <p:cNvPr id="15" name="TextBox 14"/>
          <p:cNvSpPr txBox="1"/>
          <p:nvPr/>
        </p:nvSpPr>
        <p:spPr>
          <a:xfrm>
            <a:off x="8227314" y="3236976"/>
            <a:ext cx="3017520" cy="914400"/>
          </a:xfrm>
          <a:prstGeom prst="rect">
            <a:avLst/>
          </a:prstGeom>
          <a:noFill/>
        </p:spPr>
        <p:txBody>
          <a:bodyPr wrap="square" lIns="45720" rIns="45720" tIns="18288" bIns="18288">
            <a:spAutoFit/>
          </a:bodyPr>
          <a:lstStyle/>
          <a:p>
            <a:pPr algn="ctr">
              <a:defRPr sz="1500" b="0">
                <a:solidFill>
                  <a:srgbClr val="6B6B6B"/>
                </a:solidFill>
                <a:latin typeface="Calibri"/>
              </a:defRPr>
            </a:pPr>
            <a:r>
              <a:t>Nommez le site</a:t>
            </a:r>
            <a:br/>
            <a:r>
              <a:t>ou fichier dans le prompt</a:t>
            </a:r>
          </a:p>
        </p:txBody>
      </p:sp>
      <p:sp>
        <p:nvSpPr>
          <p:cNvPr id="16" name="Rectangle 15"/>
          <p:cNvSpPr/>
          <p:nvPr/>
        </p:nvSpPr>
        <p:spPr>
          <a:xfrm>
            <a:off x="2423160" y="4681728"/>
            <a:ext cx="7342631" cy="1078992"/>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423160" y="4681728"/>
            <a:ext cx="64008" cy="1078992"/>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87752" y="4937760"/>
            <a:ext cx="7013447" cy="713231"/>
          </a:xfrm>
          <a:prstGeom prst="rect">
            <a:avLst/>
          </a:prstGeom>
          <a:noFill/>
        </p:spPr>
        <p:txBody>
          <a:bodyPr wrap="square" lIns="45720" rIns="45720" tIns="18288" bIns="18288">
            <a:spAutoFit/>
          </a:bodyPr>
          <a:lstStyle/>
          <a:p>
            <a:pPr algn="ctr">
              <a:defRPr sz="1500" b="1">
                <a:solidFill>
                  <a:srgbClr val="006B3F"/>
                </a:solidFill>
                <a:latin typeface="Calibri"/>
              </a:defRPr>
            </a:pPr>
            <a:r>
              <a:t>Défi: Trouvez une procédure que vous lisez souvent. Demandez à Copilot de la résumer en 3 étapes!</a:t>
            </a:r>
          </a:p>
        </p:txBody>
      </p:sp>
      <p:sp>
        <p:nvSpPr>
          <p:cNvPr id="19" name="TextBox 18"/>
          <p:cNvSpPr txBox="1"/>
          <p:nvPr/>
        </p:nvSpPr>
        <p:spPr>
          <a:xfrm>
            <a:off x="914400" y="5989320"/>
            <a:ext cx="10360152" cy="365760"/>
          </a:xfrm>
          <a:prstGeom prst="rect">
            <a:avLst/>
          </a:prstGeom>
          <a:noFill/>
        </p:spPr>
        <p:txBody>
          <a:bodyPr wrap="square" lIns="45720" rIns="45720" tIns="18288" bIns="18288">
            <a:spAutoFit/>
          </a:bodyPr>
          <a:lstStyle/>
          <a:p>
            <a:pPr algn="ctr">
              <a:defRPr sz="1300" b="0">
                <a:solidFill>
                  <a:srgbClr val="CCE0D2"/>
                </a:solidFill>
                <a:latin typeface="Calibri"/>
              </a:defRPr>
            </a:pPr>
            <a:r>
              <a:t>La minute Copilot — À la semaine prochaine!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