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Accueil: «Vous tapez un prompt et Copilot répond. Mais que se passe-t-il entre les deux? Aujourd'hui on lève le voile sur l'architecture: le métaprompt, la température, les tokens, le caching, les filtres et la sécurité. C'est technique mais je vous promets que c'est fascinant!»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le métaprompt: Microsoft ajoute un énorme contexte invisible autour de votre prompt. Ça inclut les instructions de sécurité, le format de réponse attendu, les sources d'information, les politiques d'utilisation. C'est la raison pour laquelle Copilot est «safe» — ce n'est pas le modèle, c'est le métaprompt qui l'entoure. Le métaprompt fait environ 10 000 tokens, ce qui laisse moins de place pour votre contenu.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température contrôle le degré de «créativité» du modèle. Plus elle est élevée, plus le modèle prend de risques, plus il est créatif. Plus elle est basse, plus il est déterministe et conserveur. Microsoft 365 Copilot utilise une température basse (0.1-0.3) pour la fiabilité. Copilot Web en mode Quick utilise une température légèrement plus élevée. Le mode Think Deeper utilise une température basse avec plus d'étapes de raisonnement.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caching: quand plusieurs utilisateurs posent des questions similaires, la réponse peut être mise en cache pour accélérer le traitement. C'est fait au niveau du tenant, jamais entre tenants. Les tokens: limite d'environ 16K à 128K tokens selon le modèle. Le métaprompt mange une partie. Les tokens sont comptés en entrée ET en sortie. Chaque requête consomme des ressources — c'est pour ça que les appels Copilot sont mesurés dans votre licence.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les 4 couches: 1) Filtre d'entrée (prompt injection, contenu dangereux), 2) Détection PII (numéros de carte de crédit, assurances sociales), 3) Grounding (vérification des sources), 4) Filtre de sortie (contenu généré inapproprié). Chaque couche peut bloquer ou modifier la réponse. C'est pourquoi Copilot est plus lent qu'un ChatGPT standard — chaque requête traverse ces filtres.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Résumé: votre prompt est enveloppé dans un métaprompt Microsoft, traité avec une température basse pour la fiabilité, les réponses sont mises en cache par tenant, et 4 couches de filtres protègent vos données avant ET après la génération. C'est ce qui fait de Copilot un outil sécuritaire pour l'entreprise.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Rectangle 1"/>
          <p:cNvSpPr/>
          <p:nvPr/>
        </p:nvSpPr>
        <p:spPr>
          <a:xfrm>
            <a:off x="0" y="0"/>
            <a:ext cx="6766560" cy="6858000"/>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5669280" cy="1463040"/>
          </a:xfrm>
          <a:prstGeom prst="rect">
            <a:avLst/>
          </a:prstGeom>
          <a:noFill/>
        </p:spPr>
        <p:txBody>
          <a:bodyPr wrap="square" lIns="45720" rIns="45720" tIns="18288" bIns="18288">
            <a:spAutoFit/>
          </a:bodyPr>
          <a:lstStyle/>
          <a:p>
            <a:pPr algn="l">
              <a:defRPr sz="4400" b="1">
                <a:solidFill>
                  <a:srgbClr val="FFFFFF"/>
                </a:solidFill>
                <a:latin typeface="Calibri"/>
              </a:defRPr>
            </a:pPr>
            <a:r>
              <a:t>La minute Copilot</a:t>
            </a:r>
          </a:p>
        </p:txBody>
      </p:sp>
      <p:sp>
        <p:nvSpPr>
          <p:cNvPr id="4" name="Rectangle 3"/>
          <p:cNvSpPr/>
          <p:nvPr/>
        </p:nvSpPr>
        <p:spPr>
          <a:xfrm>
            <a:off x="640080" y="3246120"/>
            <a:ext cx="292608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429000"/>
            <a:ext cx="5669280" cy="640080"/>
          </a:xfrm>
          <a:prstGeom prst="rect">
            <a:avLst/>
          </a:prstGeom>
          <a:noFill/>
        </p:spPr>
        <p:txBody>
          <a:bodyPr wrap="square" lIns="45720" rIns="45720" tIns="18288" bIns="18288">
            <a:spAutoFit/>
          </a:bodyPr>
          <a:lstStyle/>
          <a:p>
            <a:pPr algn="l">
              <a:defRPr sz="2200" b="0">
                <a:solidFill>
                  <a:srgbClr val="FFFFFF"/>
                </a:solidFill>
                <a:latin typeface="Calibri"/>
              </a:defRPr>
            </a:pPr>
            <a:r>
              <a:t>Architecture d'un prompt en entreprise</a:t>
            </a:r>
          </a:p>
        </p:txBody>
      </p:sp>
      <p:sp>
        <p:nvSpPr>
          <p:cNvPr id="6" name="TextBox 5"/>
          <p:cNvSpPr txBox="1"/>
          <p:nvPr/>
        </p:nvSpPr>
        <p:spPr>
          <a:xfrm>
            <a:off x="640080" y="4572000"/>
            <a:ext cx="5669280" cy="365760"/>
          </a:xfrm>
          <a:prstGeom prst="rect">
            <a:avLst/>
          </a:prstGeom>
          <a:noFill/>
        </p:spPr>
        <p:txBody>
          <a:bodyPr wrap="square" lIns="45720" rIns="45720" tIns="18288" bIns="18288">
            <a:spAutoFit/>
          </a:bodyPr>
          <a:lstStyle/>
          <a:p>
            <a:pPr algn="l">
              <a:defRPr sz="1300" b="0">
                <a:solidFill>
                  <a:srgbClr val="CCE0D2"/>
                </a:solidFill>
                <a:latin typeface="Calibri"/>
              </a:defRPr>
            </a:pPr>
            <a:r>
              <a:t>Ce qui se passe sous le capot • Métaprompt • Température • Tokens • Sécurité</a:t>
            </a:r>
          </a:p>
        </p:txBody>
      </p:sp>
      <p:sp>
        <p:nvSpPr>
          <p:cNvPr id="7" name="TextBox 6"/>
          <p:cNvSpPr txBox="1"/>
          <p:nvPr/>
        </p:nvSpPr>
        <p:spPr>
          <a:xfrm>
            <a:off x="640080" y="5029200"/>
            <a:ext cx="5669280" cy="320040"/>
          </a:xfrm>
          <a:prstGeom prst="rect">
            <a:avLst/>
          </a:prstGeom>
          <a:noFill/>
        </p:spPr>
        <p:txBody>
          <a:bodyPr wrap="square" lIns="45720" rIns="45720" tIns="18288" bIns="18288">
            <a:spAutoFit/>
          </a:bodyPr>
          <a:lstStyle/>
          <a:p>
            <a:pPr algn="l">
              <a:defRPr sz="1300" b="1">
                <a:solidFill>
                  <a:srgbClr val="FFFFFF"/>
                </a:solidFill>
                <a:latin typeface="Calibri"/>
              </a:defRPr>
            </a:pPr>
            <a:r>
              <a:t>Martin Fournier</a:t>
            </a:r>
          </a:p>
        </p:txBody>
      </p:sp>
      <p:sp>
        <p:nvSpPr>
          <p:cNvPr id="8" name="TextBox 7"/>
          <p:cNvSpPr txBox="1"/>
          <p:nvPr/>
        </p:nvSpPr>
        <p:spPr>
          <a:xfrm>
            <a:off x="640080" y="5349240"/>
            <a:ext cx="5669280" cy="274320"/>
          </a:xfrm>
          <a:prstGeom prst="rect">
            <a:avLst/>
          </a:prstGeom>
          <a:noFill/>
        </p:spPr>
        <p:txBody>
          <a:bodyPr wrap="square" lIns="45720" rIns="45720" tIns="18288" bIns="18288">
            <a:spAutoFit/>
          </a:bodyPr>
          <a:lstStyle/>
          <a:p>
            <a:pPr algn="l">
              <a:defRPr sz="1200" b="0">
                <a:solidFill>
                  <a:srgbClr val="CCE0D2"/>
                </a:solidFill>
                <a:latin typeface="Calibri"/>
              </a:defRPr>
            </a:pPr>
            <a:r>
              <a:t>2026-05-17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Votre prompt n'arrive jamais seul</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Ce que Microsoft ajoute AVANT d'envoyer votre requête au modèle</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Microsoft ajoute un métaprompt (2000-10 000 tokens) AVANT votre message</a:t>
            </a:r>
          </a:p>
          <a:p>
            <a:pPr>
              <a:spcAft>
                <a:spcPts val="400"/>
              </a:spcAft>
              <a:defRPr sz="1400">
                <a:solidFill>
                  <a:srgbClr val="2B2B2B"/>
                </a:solidFill>
                <a:latin typeface="Calibri"/>
              </a:defRPr>
            </a:pPr>
            <a:r>
              <a:t>• Ce métaprompt contient: instructions de sécurité, format, sources, politique</a:t>
            </a:r>
          </a:p>
          <a:p>
            <a:pPr>
              <a:spcAft>
                <a:spcPts val="400"/>
              </a:spcAft>
              <a:defRPr sz="1400">
                <a:solidFill>
                  <a:srgbClr val="2B2B2B"/>
                </a:solidFill>
                <a:latin typeface="Calibri"/>
              </a:defRPr>
            </a:pPr>
            <a:r>
              <a:t>• Votre prompt est injecté dans ce template côté serveur</a:t>
            </a:r>
          </a:p>
          <a:p>
            <a:pPr>
              <a:spcAft>
                <a:spcPts val="400"/>
              </a:spcAft>
              <a:defRPr sz="1400">
                <a:solidFill>
                  <a:srgbClr val="2B2B2B"/>
                </a:solidFill>
                <a:latin typeface="Calibri"/>
              </a:defRPr>
            </a:pPr>
            <a:r>
              <a:t>• C'est ce qui différencie Copilot entreprise de ChatGPT standard</a:t>
            </a:r>
          </a:p>
        </p:txBody>
      </p:sp>
      <p:sp>
        <p:nvSpPr>
          <p:cNvPr id="6" name="Rectangle 5"/>
          <p:cNvSpPr/>
          <p:nvPr/>
        </p:nvSpPr>
        <p:spPr>
          <a:xfrm>
            <a:off x="4572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ncil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Ce que vous écrivez</a:t>
            </a:r>
          </a:p>
        </p:txBody>
      </p:sp>
      <p:sp>
        <p:nvSpPr>
          <p:cNvPr id="9" name="TextBox 8"/>
          <p:cNvSpPr txBox="1"/>
          <p:nvPr/>
        </p:nvSpPr>
        <p:spPr>
          <a:xfrm>
            <a:off x="7315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«Résume ce document</a:t>
            </a:r>
          </a:p>
          <a:p>
            <a:pPr>
              <a:spcAft>
                <a:spcPts val="400"/>
              </a:spcAft>
              <a:defRPr sz="1300">
                <a:solidFill>
                  <a:srgbClr val="2B2B2B"/>
                </a:solidFill>
                <a:latin typeface="Calibri"/>
              </a:defRPr>
            </a:pPr>
            <a:r>
              <a:t>et liste les actions»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20-50 tokens</a:t>
            </a:r>
          </a:p>
        </p:txBody>
      </p:sp>
      <p:sp>
        <p:nvSpPr>
          <p:cNvPr id="10" name="Rectangle 9"/>
          <p:cNvSpPr/>
          <p:nvPr/>
        </p:nvSpPr>
        <p:spPr>
          <a:xfrm>
            <a:off x="41148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erver_F59E0B_30.png"/>
          <p:cNvPicPr>
            <a:picLocks noChangeAspect="1"/>
          </p:cNvPicPr>
          <p:nvPr/>
        </p:nvPicPr>
        <p:blipFill>
          <a:blip r:embed="rId4"/>
          <a:stretch>
            <a:fillRect/>
          </a:stretch>
        </p:blipFill>
        <p:spPr>
          <a:xfrm>
            <a:off x="4370832" y="3090672"/>
            <a:ext cx="292608" cy="292608"/>
          </a:xfrm>
          <a:prstGeom prst="rect">
            <a:avLst/>
          </a:prstGeom>
        </p:spPr>
      </p:pic>
      <p:sp>
        <p:nvSpPr>
          <p:cNvPr id="12" name="TextBox 11"/>
          <p:cNvSpPr txBox="1"/>
          <p:nvPr/>
        </p:nvSpPr>
        <p:spPr>
          <a:xfrm>
            <a:off x="4773168" y="3108960"/>
            <a:ext cx="2542031" cy="457200"/>
          </a:xfrm>
          <a:prstGeom prst="rect">
            <a:avLst/>
          </a:prstGeom>
          <a:noFill/>
        </p:spPr>
        <p:txBody>
          <a:bodyPr wrap="square" lIns="45720" rIns="45720" tIns="18288" bIns="18288">
            <a:spAutoFit/>
          </a:bodyPr>
          <a:lstStyle/>
          <a:p>
            <a:pPr algn="l">
              <a:defRPr sz="1700" b="1">
                <a:solidFill>
                  <a:srgbClr val="F59E0B"/>
                </a:solidFill>
                <a:latin typeface="Calibri"/>
              </a:defRPr>
            </a:pPr>
            <a:r>
              <a:t>Ce que le serveur reçoit</a:t>
            </a:r>
          </a:p>
        </p:txBody>
      </p:sp>
      <p:sp>
        <p:nvSpPr>
          <p:cNvPr id="13" name="TextBox 12"/>
          <p:cNvSpPr txBox="1"/>
          <p:nvPr/>
        </p:nvSpPr>
        <p:spPr>
          <a:xfrm>
            <a:off x="43891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[Métaprompt système]</a:t>
            </a:r>
          </a:p>
          <a:p>
            <a:pPr>
              <a:spcAft>
                <a:spcPts val="400"/>
              </a:spcAft>
              <a:defRPr sz="1300">
                <a:solidFill>
                  <a:srgbClr val="2B2B2B"/>
                </a:solidFill>
                <a:latin typeface="Calibri"/>
              </a:defRPr>
            </a:pPr>
            <a:r>
              <a:t>• Instructions de sécurité</a:t>
            </a:r>
          </a:p>
          <a:p>
            <a:pPr>
              <a:spcAft>
                <a:spcPts val="400"/>
              </a:spcAft>
              <a:defRPr sz="1300">
                <a:solidFill>
                  <a:srgbClr val="2B2B2B"/>
                </a:solidFill>
                <a:latin typeface="Calibri"/>
              </a:defRPr>
            </a:pPr>
            <a:r>
              <a:t>• Politiques conformité</a:t>
            </a:r>
          </a:p>
          <a:p>
            <a:pPr>
              <a:spcAft>
                <a:spcPts val="400"/>
              </a:spcAft>
              <a:defRPr sz="1300">
                <a:solidFill>
                  <a:srgbClr val="2B2B2B"/>
                </a:solidFill>
                <a:latin typeface="Calibri"/>
              </a:defRPr>
            </a:pPr>
            <a:r>
              <a:t>• Sources autorisées</a:t>
            </a:r>
          </a:p>
          <a:p>
            <a:pPr>
              <a:spcAft>
                <a:spcPts val="400"/>
              </a:spcAft>
              <a:defRPr sz="1300">
                <a:solidFill>
                  <a:srgbClr val="2B2B2B"/>
                </a:solidFill>
                <a:latin typeface="Calibri"/>
              </a:defRPr>
            </a:pPr>
            <a:r>
              <a:t>• Format de réponse</a:t>
            </a:r>
          </a:p>
          <a:p>
            <a:pPr>
              <a:spcAft>
                <a:spcPts val="400"/>
              </a:spcAft>
              <a:defRPr sz="1300">
                <a:solidFill>
                  <a:srgbClr val="2B2B2B"/>
                </a:solidFill>
                <a:latin typeface="Calibri"/>
              </a:defRPr>
            </a:pPr>
            <a:r>
              <a:t>• Règles anti-hallucination</a:t>
            </a:r>
          </a:p>
          <a:p>
            <a:pPr>
              <a:spcAft>
                <a:spcPts val="400"/>
              </a:spcAft>
              <a:defRPr sz="1300">
                <a:solidFill>
                  <a:srgbClr val="2B2B2B"/>
                </a:solidFill>
                <a:latin typeface="Calibri"/>
              </a:defRPr>
            </a:pPr>
          </a:p>
          <a:p>
            <a:pPr>
              <a:spcAft>
                <a:spcPts val="400"/>
              </a:spcAft>
              <a:defRPr sz="1300">
                <a:solidFill>
                  <a:srgbClr val="2B2B2B"/>
                </a:solidFill>
                <a:latin typeface="Calibri"/>
              </a:defRPr>
            </a:pPr>
            <a:r>
              <a:t>[Votre prompt]</a:t>
            </a:r>
          </a:p>
          <a:p>
            <a:pPr>
              <a:spcAft>
                <a:spcPts val="400"/>
              </a:spcAft>
              <a:defRPr sz="1300">
                <a:solidFill>
                  <a:srgbClr val="2B2B2B"/>
                </a:solidFill>
                <a:latin typeface="Calibri"/>
              </a:defRPr>
            </a:pPr>
            <a:r>
              <a:t>• Résume ce document...</a:t>
            </a:r>
          </a:p>
        </p:txBody>
      </p:sp>
      <p:sp>
        <p:nvSpPr>
          <p:cNvPr id="14" name="Rectangle 13"/>
          <p:cNvSpPr/>
          <p:nvPr/>
        </p:nvSpPr>
        <p:spPr>
          <a:xfrm>
            <a:off x="77724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ayers_00874E_30.png"/>
          <p:cNvPicPr>
            <a:picLocks noChangeAspect="1"/>
          </p:cNvPicPr>
          <p:nvPr/>
        </p:nvPicPr>
        <p:blipFill>
          <a:blip r:embed="rId5"/>
          <a:stretch>
            <a:fillRect/>
          </a:stretch>
        </p:blipFill>
        <p:spPr>
          <a:xfrm>
            <a:off x="8028431" y="3090672"/>
            <a:ext cx="292608" cy="292608"/>
          </a:xfrm>
          <a:prstGeom prst="rect">
            <a:avLst/>
          </a:prstGeom>
        </p:spPr>
      </p:pic>
      <p:sp>
        <p:nvSpPr>
          <p:cNvPr id="16" name="TextBox 15"/>
          <p:cNvSpPr txBox="1"/>
          <p:nvPr/>
        </p:nvSpPr>
        <p:spPr>
          <a:xfrm>
            <a:off x="8430767" y="310896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Total au modèle</a:t>
            </a:r>
          </a:p>
        </p:txBody>
      </p:sp>
      <p:sp>
        <p:nvSpPr>
          <p:cNvPr id="17" name="TextBox 16"/>
          <p:cNvSpPr txBox="1"/>
          <p:nvPr/>
        </p:nvSpPr>
        <p:spPr>
          <a:xfrm>
            <a:off x="80467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Métaprompt: ~10 000 tokens</a:t>
            </a:r>
          </a:p>
          <a:p>
            <a:pPr>
              <a:spcAft>
                <a:spcPts val="400"/>
              </a:spcAft>
              <a:defRPr sz="1300">
                <a:solidFill>
                  <a:srgbClr val="2B2B2B"/>
                </a:solidFill>
                <a:latin typeface="Calibri"/>
              </a:defRPr>
            </a:pPr>
            <a:r>
              <a:t>+ Votre message: ~50 tokens</a:t>
            </a:r>
          </a:p>
          <a:p>
            <a:pPr>
              <a:spcAft>
                <a:spcPts val="400"/>
              </a:spcAft>
              <a:defRPr sz="1300">
                <a:solidFill>
                  <a:srgbClr val="2B2B2B"/>
                </a:solidFill>
                <a:latin typeface="Calibri"/>
              </a:defRPr>
            </a:pPr>
            <a:r>
              <a:t>= 10 050 tokens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Le métaprompt mange</a:t>
            </a:r>
          </a:p>
          <a:p>
            <a:pPr>
              <a:spcAft>
                <a:spcPts val="400"/>
              </a:spcAft>
              <a:defRPr sz="1300">
                <a:solidFill>
                  <a:srgbClr val="2B2B2B"/>
                </a:solidFill>
                <a:latin typeface="Calibri"/>
              </a:defRPr>
            </a:pPr>
            <a:r>
              <a:t>la majorité du contexte!</a:t>
            </a:r>
          </a:p>
        </p:txBody>
      </p:sp>
      <p:sp>
        <p:nvSpPr>
          <p:cNvPr id="18" name="Rectangle 17"/>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20" name="TextBox 19"/>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La température — Qu'est-ce que c'est?</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Un paramètre qui contrôle la créativité du modèle</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Température = degré de créativité / hasard dans les réponses</a:t>
            </a:r>
          </a:p>
          <a:p>
            <a:pPr>
              <a:spcAft>
                <a:spcPts val="400"/>
              </a:spcAft>
              <a:defRPr sz="1400">
                <a:solidFill>
                  <a:srgbClr val="2B2B2B"/>
                </a:solidFill>
                <a:latin typeface="Calibri"/>
              </a:defRPr>
            </a:pPr>
            <a:r>
              <a:t>• M365 Copilot: température basse (0.1-0.3) → fiable, déterministe</a:t>
            </a:r>
          </a:p>
          <a:p>
            <a:pPr>
              <a:spcAft>
                <a:spcPts val="400"/>
              </a:spcAft>
              <a:defRPr sz="1400">
                <a:solidFill>
                  <a:srgbClr val="2B2B2B"/>
                </a:solidFill>
                <a:latin typeface="Calibri"/>
              </a:defRPr>
            </a:pPr>
            <a:r>
              <a:t>• Think Deeper: température basse + plus d'itérations de raisonnement</a:t>
            </a:r>
          </a:p>
          <a:p>
            <a:pPr>
              <a:spcAft>
                <a:spcPts val="400"/>
              </a:spcAft>
              <a:defRPr sz="1400">
                <a:solidFill>
                  <a:srgbClr val="2B2B2B"/>
                </a:solidFill>
                <a:latin typeface="Calibri"/>
              </a:defRPr>
            </a:pPr>
            <a:r>
              <a:t>• Vous ne pouvez pas changer ce paramètre — Microsoft le gère</a:t>
            </a:r>
          </a:p>
        </p:txBody>
      </p:sp>
      <p:sp>
        <p:nvSpPr>
          <p:cNvPr id="6" name="Rectangle 5"/>
          <p:cNvSpPr/>
          <p:nvPr/>
        </p:nvSpPr>
        <p:spPr>
          <a:xfrm>
            <a:off x="4572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hermometer-snowflake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Basse (0.1-0.3)</a:t>
            </a:r>
          </a:p>
        </p:txBody>
      </p:sp>
      <p:sp>
        <p:nvSpPr>
          <p:cNvPr id="9" name="TextBox 8"/>
          <p:cNvSpPr txBox="1"/>
          <p:nvPr/>
        </p:nvSpPr>
        <p:spPr>
          <a:xfrm>
            <a:off x="7315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Copilot M365</a:t>
            </a:r>
          </a:p>
          <a:p>
            <a:pPr>
              <a:spcAft>
                <a:spcPts val="400"/>
              </a:spcAft>
              <a:defRPr sz="1300">
                <a:solidFill>
                  <a:srgbClr val="2B2B2B"/>
                </a:solidFill>
                <a:latin typeface="Calibri"/>
              </a:defRPr>
            </a:pPr>
          </a:p>
          <a:p>
            <a:pPr>
              <a:spcAft>
                <a:spcPts val="400"/>
              </a:spcAft>
              <a:defRPr sz="1300">
                <a:solidFill>
                  <a:srgbClr val="2B2B2B"/>
                </a:solidFill>
                <a:latin typeface="Calibri"/>
              </a:defRPr>
            </a:pPr>
            <a:r>
              <a:t>Réponse fiable</a:t>
            </a:r>
          </a:p>
          <a:p>
            <a:pPr>
              <a:spcAft>
                <a:spcPts val="400"/>
              </a:spcAft>
              <a:defRPr sz="1300">
                <a:solidFill>
                  <a:srgbClr val="2B2B2B"/>
                </a:solidFill>
                <a:latin typeface="Calibri"/>
              </a:defRPr>
            </a:pPr>
            <a:r>
              <a:t>Déterministe</a:t>
            </a:r>
          </a:p>
          <a:p>
            <a:pPr>
              <a:spcAft>
                <a:spcPts val="400"/>
              </a:spcAft>
              <a:defRPr sz="1300">
                <a:solidFill>
                  <a:srgbClr val="2B2B2B"/>
                </a:solidFill>
                <a:latin typeface="Calibri"/>
              </a:defRPr>
            </a:pPr>
            <a:r>
              <a:t>Reproductible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Documents, courriels</a:t>
            </a:r>
          </a:p>
          <a:p>
            <a:pPr>
              <a:spcAft>
                <a:spcPts val="400"/>
              </a:spcAft>
              <a:defRPr sz="1300">
                <a:solidFill>
                  <a:srgbClr val="2B2B2B"/>
                </a:solidFill>
                <a:latin typeface="Calibri"/>
              </a:defRPr>
            </a:pPr>
            <a:r>
              <a:t>analyses financières</a:t>
            </a:r>
          </a:p>
        </p:txBody>
      </p:sp>
      <p:sp>
        <p:nvSpPr>
          <p:cNvPr id="10" name="Rectangle 9"/>
          <p:cNvSpPr/>
          <p:nvPr/>
        </p:nvSpPr>
        <p:spPr>
          <a:xfrm>
            <a:off x="41148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hermometer_F59E0B_30.png"/>
          <p:cNvPicPr>
            <a:picLocks noChangeAspect="1"/>
          </p:cNvPicPr>
          <p:nvPr/>
        </p:nvPicPr>
        <p:blipFill>
          <a:blip r:embed="rId4"/>
          <a:stretch>
            <a:fillRect/>
          </a:stretch>
        </p:blipFill>
        <p:spPr>
          <a:xfrm>
            <a:off x="4370832" y="3090672"/>
            <a:ext cx="292608" cy="292608"/>
          </a:xfrm>
          <a:prstGeom prst="rect">
            <a:avLst/>
          </a:prstGeom>
        </p:spPr>
      </p:pic>
      <p:sp>
        <p:nvSpPr>
          <p:cNvPr id="12" name="TextBox 11"/>
          <p:cNvSpPr txBox="1"/>
          <p:nvPr/>
        </p:nvSpPr>
        <p:spPr>
          <a:xfrm>
            <a:off x="4773168" y="3108960"/>
            <a:ext cx="2542031" cy="457200"/>
          </a:xfrm>
          <a:prstGeom prst="rect">
            <a:avLst/>
          </a:prstGeom>
          <a:noFill/>
        </p:spPr>
        <p:txBody>
          <a:bodyPr wrap="square" lIns="45720" rIns="45720" tIns="18288" bIns="18288">
            <a:spAutoFit/>
          </a:bodyPr>
          <a:lstStyle/>
          <a:p>
            <a:pPr algn="l">
              <a:defRPr sz="1700" b="1">
                <a:solidFill>
                  <a:srgbClr val="F59E0B"/>
                </a:solidFill>
                <a:latin typeface="Calibri"/>
              </a:defRPr>
            </a:pPr>
            <a:r>
              <a:t>Moyenne (0.3-0.7)</a:t>
            </a:r>
          </a:p>
        </p:txBody>
      </p:sp>
      <p:sp>
        <p:nvSpPr>
          <p:cNvPr id="13" name="TextBox 12"/>
          <p:cNvSpPr txBox="1"/>
          <p:nvPr/>
        </p:nvSpPr>
        <p:spPr>
          <a:xfrm>
            <a:off x="43891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Copilot Web (Quick)</a:t>
            </a:r>
          </a:p>
          <a:p>
            <a:pPr>
              <a:spcAft>
                <a:spcPts val="400"/>
              </a:spcAft>
              <a:defRPr sz="1300">
                <a:solidFill>
                  <a:srgbClr val="2B2B2B"/>
                </a:solidFill>
                <a:latin typeface="Calibri"/>
              </a:defRPr>
            </a:pPr>
          </a:p>
          <a:p>
            <a:pPr>
              <a:spcAft>
                <a:spcPts val="400"/>
              </a:spcAft>
              <a:defRPr sz="1300">
                <a:solidFill>
                  <a:srgbClr val="2B2B2B"/>
                </a:solidFill>
                <a:latin typeface="Calibri"/>
              </a:defRPr>
            </a:pPr>
            <a:r>
              <a:t>Un peu de créativité</a:t>
            </a:r>
          </a:p>
          <a:p>
            <a:pPr>
              <a:spcAft>
                <a:spcPts val="400"/>
              </a:spcAft>
              <a:defRPr sz="1300">
                <a:solidFill>
                  <a:srgbClr val="2B2B2B"/>
                </a:solidFill>
                <a:latin typeface="Calibri"/>
              </a:defRPr>
            </a:pPr>
            <a:r>
              <a:t>Reste fiable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Chat, brainstorming</a:t>
            </a:r>
          </a:p>
          <a:p>
            <a:pPr>
              <a:spcAft>
                <a:spcPts val="400"/>
              </a:spcAft>
              <a:defRPr sz="1300">
                <a:solidFill>
                  <a:srgbClr val="2B2B2B"/>
                </a:solidFill>
                <a:latin typeface="Calibri"/>
              </a:defRPr>
            </a:pPr>
            <a:r>
              <a:t>idées générales</a:t>
            </a:r>
          </a:p>
        </p:txBody>
      </p:sp>
      <p:sp>
        <p:nvSpPr>
          <p:cNvPr id="14" name="Rectangle 13"/>
          <p:cNvSpPr/>
          <p:nvPr/>
        </p:nvSpPr>
        <p:spPr>
          <a:xfrm>
            <a:off x="77724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lame_EF4444_30.png"/>
          <p:cNvPicPr>
            <a:picLocks noChangeAspect="1"/>
          </p:cNvPicPr>
          <p:nvPr/>
        </p:nvPicPr>
        <p:blipFill>
          <a:blip r:embed="rId5"/>
          <a:stretch>
            <a:fillRect/>
          </a:stretch>
        </p:blipFill>
        <p:spPr>
          <a:xfrm>
            <a:off x="8028431" y="3090672"/>
            <a:ext cx="292608" cy="292608"/>
          </a:xfrm>
          <a:prstGeom prst="rect">
            <a:avLst/>
          </a:prstGeom>
        </p:spPr>
      </p:pic>
      <p:sp>
        <p:nvSpPr>
          <p:cNvPr id="16" name="TextBox 15"/>
          <p:cNvSpPr txBox="1"/>
          <p:nvPr/>
        </p:nvSpPr>
        <p:spPr>
          <a:xfrm>
            <a:off x="8430767" y="3108960"/>
            <a:ext cx="2542032" cy="457200"/>
          </a:xfrm>
          <a:prstGeom prst="rect">
            <a:avLst/>
          </a:prstGeom>
          <a:noFill/>
        </p:spPr>
        <p:txBody>
          <a:bodyPr wrap="square" lIns="45720" rIns="45720" tIns="18288" bIns="18288">
            <a:spAutoFit/>
          </a:bodyPr>
          <a:lstStyle/>
          <a:p>
            <a:pPr algn="l">
              <a:defRPr sz="1700" b="1">
                <a:solidFill>
                  <a:srgbClr val="EF4444"/>
                </a:solidFill>
                <a:latin typeface="Calibri"/>
              </a:defRPr>
            </a:pPr>
            <a:r>
              <a:t>Haute (0.7-1.0+)</a:t>
            </a:r>
          </a:p>
        </p:txBody>
      </p:sp>
      <p:sp>
        <p:nvSpPr>
          <p:cNvPr id="17" name="TextBox 16"/>
          <p:cNvSpPr txBox="1"/>
          <p:nvPr/>
        </p:nvSpPr>
        <p:spPr>
          <a:xfrm>
            <a:off x="80467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Non utilisé en entreprise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Risque d'hallucination</a:t>
            </a:r>
          </a:p>
          <a:p>
            <a:pPr>
              <a:spcAft>
                <a:spcPts val="400"/>
              </a:spcAft>
              <a:defRPr sz="1300">
                <a:solidFill>
                  <a:srgbClr val="2B2B2B"/>
                </a:solidFill>
                <a:latin typeface="Calibri"/>
              </a:defRPr>
            </a:pPr>
            <a:r>
              <a:t>Réponses imprévisibles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Création artistique</a:t>
            </a:r>
          </a:p>
          <a:p>
            <a:pPr>
              <a:spcAft>
                <a:spcPts val="400"/>
              </a:spcAft>
              <a:defRPr sz="1300">
                <a:solidFill>
                  <a:srgbClr val="2B2B2B"/>
                </a:solidFill>
                <a:latin typeface="Calibri"/>
              </a:defRPr>
            </a:pPr>
            <a:r>
              <a:t>(hors cadre M365)</a:t>
            </a:r>
          </a:p>
        </p:txBody>
      </p:sp>
      <p:sp>
        <p:nvSpPr>
          <p:cNvPr id="18" name="Rectangle 17"/>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20" name="TextBox 19"/>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Cache et Tokens — La mécanique interne</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Comment Copilot gère la mémoire et les limites</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Cache: les réponses aux prompts similaires sont réutilisées (tenant isolé)</a:t>
            </a:r>
          </a:p>
          <a:p>
            <a:pPr>
              <a:spcAft>
                <a:spcPts val="400"/>
              </a:spcAft>
              <a:defRPr sz="1400">
                <a:solidFill>
                  <a:srgbClr val="2B2B2B"/>
                </a:solidFill>
                <a:latin typeface="Calibri"/>
              </a:defRPr>
            </a:pPr>
            <a:r>
              <a:t>• Limite de tokens: 16K à 128K selon modèle (métaprompt inclus)</a:t>
            </a:r>
          </a:p>
          <a:p>
            <a:pPr>
              <a:spcAft>
                <a:spcPts val="400"/>
              </a:spcAft>
              <a:defRPr sz="1400">
                <a:solidFill>
                  <a:srgbClr val="2B2B2B"/>
                </a:solidFill>
                <a:latin typeface="Calibri"/>
              </a:defRPr>
            </a:pPr>
            <a:r>
              <a:t>• Une partie du contexte est perdue si le total dépasse la limite</a:t>
            </a:r>
          </a:p>
          <a:p>
            <a:pPr>
              <a:spcAft>
                <a:spcPts val="400"/>
              </a:spcAft>
              <a:defRPr sz="1400">
                <a:solidFill>
                  <a:srgbClr val="2B2B2B"/>
                </a:solidFill>
                <a:latin typeface="Calibri"/>
              </a:defRPr>
            </a:pPr>
            <a:r>
              <a:t>• Les tokens sont comptés en entrée + sortie = coût par requête</a:t>
            </a:r>
          </a:p>
        </p:txBody>
      </p:sp>
      <p:sp>
        <p:nvSpPr>
          <p:cNvPr id="6" name="Rectangle 5"/>
          <p:cNvSpPr/>
          <p:nvPr/>
        </p:nvSpPr>
        <p:spPr>
          <a:xfrm>
            <a:off x="4572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tabase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4370832" cy="457200"/>
          </a:xfrm>
          <a:prstGeom prst="rect">
            <a:avLst/>
          </a:prstGeom>
          <a:noFill/>
        </p:spPr>
        <p:txBody>
          <a:bodyPr wrap="square" lIns="45720" rIns="45720" tIns="18288" bIns="18288">
            <a:spAutoFit/>
          </a:bodyPr>
          <a:lstStyle/>
          <a:p>
            <a:pPr algn="l">
              <a:defRPr sz="1700" b="1">
                <a:solidFill>
                  <a:srgbClr val="00874E"/>
                </a:solidFill>
                <a:latin typeface="Calibri"/>
              </a:defRPr>
            </a:pPr>
            <a:r>
              <a:t>Cache serveur</a:t>
            </a:r>
          </a:p>
        </p:txBody>
      </p:sp>
      <p:sp>
        <p:nvSpPr>
          <p:cNvPr id="9" name="TextBox 8"/>
          <p:cNvSpPr txBox="1"/>
          <p:nvPr/>
        </p:nvSpPr>
        <p:spPr>
          <a:xfrm>
            <a:off x="7315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Même prompt + contexte</a:t>
            </a:r>
          </a:p>
          <a:p>
            <a:pPr>
              <a:spcAft>
                <a:spcPts val="400"/>
              </a:spcAft>
              <a:defRPr sz="1300">
                <a:solidFill>
                  <a:srgbClr val="2B2B2B"/>
                </a:solidFill>
                <a:latin typeface="Calibri"/>
              </a:defRPr>
            </a:pPr>
            <a:r>
              <a:t>= même résultat en cache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Par tenant uniquement</a:t>
            </a:r>
          </a:p>
          <a:p>
            <a:pPr>
              <a:spcAft>
                <a:spcPts val="400"/>
              </a:spcAft>
              <a:defRPr sz="1300">
                <a:solidFill>
                  <a:srgbClr val="2B2B2B"/>
                </a:solidFill>
                <a:latin typeface="Calibri"/>
              </a:defRPr>
            </a:pPr>
            <a:r>
              <a:t>(jamais entre clients)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Accélère les réponses</a:t>
            </a:r>
          </a:p>
          <a:p>
            <a:pPr>
              <a:spcAft>
                <a:spcPts val="400"/>
              </a:spcAft>
              <a:defRPr sz="1300">
                <a:solidFill>
                  <a:srgbClr val="2B2B2B"/>
                </a:solidFill>
                <a:latin typeface="Calibri"/>
              </a:defRPr>
            </a:pPr>
            <a:r>
              <a:t>fréquentes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Sécurité: pas de fuite</a:t>
            </a:r>
          </a:p>
          <a:p>
            <a:pPr>
              <a:spcAft>
                <a:spcPts val="400"/>
              </a:spcAft>
              <a:defRPr sz="1300">
                <a:solidFill>
                  <a:srgbClr val="2B2B2B"/>
                </a:solidFill>
                <a:latin typeface="Calibri"/>
              </a:defRPr>
            </a:pPr>
            <a:r>
              <a:t>entre organisations</a:t>
            </a:r>
          </a:p>
        </p:txBody>
      </p:sp>
      <p:sp>
        <p:nvSpPr>
          <p:cNvPr id="10" name="Rectangle 9"/>
          <p:cNvSpPr/>
          <p:nvPr/>
        </p:nvSpPr>
        <p:spPr>
          <a:xfrm>
            <a:off x="59436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auge_00874E_30.png"/>
          <p:cNvPicPr>
            <a:picLocks noChangeAspect="1"/>
          </p:cNvPicPr>
          <p:nvPr/>
        </p:nvPicPr>
        <p:blipFill>
          <a:blip r:embed="rId4"/>
          <a:stretch>
            <a:fillRect/>
          </a:stretch>
        </p:blipFill>
        <p:spPr>
          <a:xfrm>
            <a:off x="6199632" y="3090672"/>
            <a:ext cx="292608" cy="292608"/>
          </a:xfrm>
          <a:prstGeom prst="rect">
            <a:avLst/>
          </a:prstGeom>
        </p:spPr>
      </p:pic>
      <p:sp>
        <p:nvSpPr>
          <p:cNvPr id="12" name="TextBox 11"/>
          <p:cNvSpPr txBox="1"/>
          <p:nvPr/>
        </p:nvSpPr>
        <p:spPr>
          <a:xfrm>
            <a:off x="6601968" y="3108960"/>
            <a:ext cx="4370831" cy="457200"/>
          </a:xfrm>
          <a:prstGeom prst="rect">
            <a:avLst/>
          </a:prstGeom>
          <a:noFill/>
        </p:spPr>
        <p:txBody>
          <a:bodyPr wrap="square" lIns="45720" rIns="45720" tIns="18288" bIns="18288">
            <a:spAutoFit/>
          </a:bodyPr>
          <a:lstStyle/>
          <a:p>
            <a:pPr algn="l">
              <a:defRPr sz="1700" b="1">
                <a:solidFill>
                  <a:srgbClr val="00874E"/>
                </a:solidFill>
                <a:latin typeface="Calibri"/>
              </a:defRPr>
            </a:pPr>
            <a:r>
              <a:t>Limites de tokens</a:t>
            </a:r>
          </a:p>
        </p:txBody>
      </p:sp>
      <p:sp>
        <p:nvSpPr>
          <p:cNvPr id="13" name="TextBox 12"/>
          <p:cNvSpPr txBox="1"/>
          <p:nvPr/>
        </p:nvSpPr>
        <p:spPr>
          <a:xfrm>
            <a:off x="62179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GPT-5.5: 128K tokens max</a:t>
            </a:r>
          </a:p>
          <a:p>
            <a:pPr>
              <a:spcAft>
                <a:spcPts val="400"/>
              </a:spcAft>
              <a:defRPr sz="1300">
                <a:solidFill>
                  <a:srgbClr val="2B2B2B"/>
                </a:solidFill>
                <a:latin typeface="Calibri"/>
              </a:defRPr>
            </a:pPr>
          </a:p>
          <a:p>
            <a:pPr>
              <a:spcAft>
                <a:spcPts val="400"/>
              </a:spcAft>
              <a:defRPr sz="1300">
                <a:solidFill>
                  <a:srgbClr val="2B2B2B"/>
                </a:solidFill>
                <a:latin typeface="Calibri"/>
              </a:defRPr>
            </a:pPr>
            <a:r>
              <a:t>Ce qui consomme:</a:t>
            </a:r>
          </a:p>
          <a:p>
            <a:pPr>
              <a:spcAft>
                <a:spcPts val="400"/>
              </a:spcAft>
              <a:defRPr sz="1300">
                <a:solidFill>
                  <a:srgbClr val="2B2B2B"/>
                </a:solidFill>
                <a:latin typeface="Calibri"/>
              </a:defRPr>
            </a:pPr>
            <a:r>
              <a:t>• Métaprompt: ~10K</a:t>
            </a:r>
          </a:p>
          <a:p>
            <a:pPr>
              <a:spcAft>
                <a:spcPts val="400"/>
              </a:spcAft>
              <a:defRPr sz="1300">
                <a:solidFill>
                  <a:srgbClr val="2B2B2B"/>
                </a:solidFill>
                <a:latin typeface="Calibri"/>
              </a:defRPr>
            </a:pPr>
            <a:r>
              <a:t>• Votre prompt: variable</a:t>
            </a:r>
          </a:p>
          <a:p>
            <a:pPr>
              <a:spcAft>
                <a:spcPts val="400"/>
              </a:spcAft>
              <a:defRPr sz="1300">
                <a:solidFill>
                  <a:srgbClr val="2B2B2B"/>
                </a:solidFill>
                <a:latin typeface="Calibri"/>
              </a:defRPr>
            </a:pPr>
            <a:r>
              <a:t>• Contexte SharePoint:</a:t>
            </a:r>
          </a:p>
          <a:p>
            <a:pPr>
              <a:spcAft>
                <a:spcPts val="400"/>
              </a:spcAft>
              <a:defRPr sz="1300">
                <a:solidFill>
                  <a:srgbClr val="2B2B2B"/>
                </a:solidFill>
                <a:latin typeface="Calibri"/>
              </a:defRPr>
            </a:pPr>
            <a:r>
              <a:t>peut être énorme</a:t>
            </a:r>
          </a:p>
          <a:p>
            <a:pPr>
              <a:spcAft>
                <a:spcPts val="400"/>
              </a:spcAft>
              <a:defRPr sz="1300">
                <a:solidFill>
                  <a:srgbClr val="2B2B2B"/>
                </a:solidFill>
                <a:latin typeface="Calibri"/>
              </a:defRPr>
            </a:pPr>
            <a:r>
              <a:t>• Réponse générée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Si le doc est trop</a:t>
            </a:r>
          </a:p>
          <a:p>
            <a:pPr>
              <a:spcAft>
                <a:spcPts val="400"/>
              </a:spcAft>
              <a:defRPr sz="1300">
                <a:solidFill>
                  <a:srgbClr val="2B2B2B"/>
                </a:solidFill>
                <a:latin typeface="Calibri"/>
              </a:defRPr>
            </a:pPr>
            <a:r>
              <a:t>long, Copilot le</a:t>
            </a:r>
          </a:p>
          <a:p>
            <a:pPr>
              <a:spcAft>
                <a:spcPts val="400"/>
              </a:spcAft>
              <a:defRPr sz="1300">
                <a:solidFill>
                  <a:srgbClr val="2B2B2B"/>
                </a:solidFill>
                <a:latin typeface="Calibri"/>
              </a:defRPr>
            </a:pPr>
            <a:r>
              <a:t>résume d'abord</a:t>
            </a:r>
          </a:p>
        </p:txBody>
      </p:sp>
      <p:sp>
        <p:nvSpPr>
          <p:cNvPr id="14" name="Rectangle 13"/>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16" name="TextBox 15"/>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Filtres et Sécurité — Ce qui protège vos données</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4 couches de sécurité avant que la réponse vous parvienne</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Filtre d'entrée: vérifie votre prompt (injection, contenu dangereux)</a:t>
            </a:r>
          </a:p>
          <a:p>
            <a:pPr>
              <a:spcAft>
                <a:spcPts val="400"/>
              </a:spcAft>
              <a:defRPr sz="1400">
                <a:solidFill>
                  <a:srgbClr val="2B2B2B"/>
                </a:solidFill>
                <a:latin typeface="Calibri"/>
              </a:defRPr>
            </a:pPr>
            <a:r>
              <a:t>• Détection PII: masque les informations personnelles automatiquement</a:t>
            </a:r>
          </a:p>
          <a:p>
            <a:pPr>
              <a:spcAft>
                <a:spcPts val="400"/>
              </a:spcAft>
              <a:defRPr sz="1400">
                <a:solidFill>
                  <a:srgbClr val="2B2B2B"/>
                </a:solidFill>
                <a:latin typeface="Calibri"/>
              </a:defRPr>
            </a:pPr>
            <a:r>
              <a:t>• Grounding: vérifie que la réponse est basée sur les sources fournies</a:t>
            </a:r>
          </a:p>
          <a:p>
            <a:pPr>
              <a:spcAft>
                <a:spcPts val="400"/>
              </a:spcAft>
              <a:defRPr sz="1400">
                <a:solidFill>
                  <a:srgbClr val="2B2B2B"/>
                </a:solidFill>
                <a:latin typeface="Calibri"/>
              </a:defRPr>
            </a:pPr>
            <a:r>
              <a:t>• Filtre de sortie: analyse la réponse avant de vous l'afficher</a:t>
            </a:r>
          </a:p>
        </p:txBody>
      </p:sp>
      <p:sp>
        <p:nvSpPr>
          <p:cNvPr id="6" name="Rectangle 5"/>
          <p:cNvSpPr/>
          <p:nvPr/>
        </p:nvSpPr>
        <p:spPr>
          <a:xfrm>
            <a:off x="457200" y="2926080"/>
            <a:ext cx="24688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lter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1627632" cy="457200"/>
          </a:xfrm>
          <a:prstGeom prst="rect">
            <a:avLst/>
          </a:prstGeom>
          <a:noFill/>
        </p:spPr>
        <p:txBody>
          <a:bodyPr wrap="square" lIns="45720" rIns="45720" tIns="18288" bIns="18288">
            <a:spAutoFit/>
          </a:bodyPr>
          <a:lstStyle/>
          <a:p>
            <a:pPr algn="l">
              <a:defRPr sz="1700" b="1">
                <a:solidFill>
                  <a:srgbClr val="00874E"/>
                </a:solidFill>
                <a:latin typeface="Calibri"/>
              </a:defRPr>
            </a:pPr>
            <a:r>
              <a:t>1. Filtre d'entrée</a:t>
            </a:r>
          </a:p>
        </p:txBody>
      </p:sp>
      <p:sp>
        <p:nvSpPr>
          <p:cNvPr id="9" name="TextBox 8"/>
          <p:cNvSpPr txBox="1"/>
          <p:nvPr/>
        </p:nvSpPr>
        <p:spPr>
          <a:xfrm>
            <a:off x="731520" y="3703320"/>
            <a:ext cx="1920240" cy="2331720"/>
          </a:xfrm>
          <a:prstGeom prst="rect">
            <a:avLst/>
          </a:prstGeom>
          <a:noFill/>
        </p:spPr>
        <p:txBody>
          <a:bodyPr wrap="square">
            <a:spAutoFit/>
          </a:bodyPr>
          <a:lstStyle/>
          <a:p>
            <a:pPr>
              <a:spcAft>
                <a:spcPts val="400"/>
              </a:spcAft>
              <a:defRPr sz="1300">
                <a:solidFill>
                  <a:srgbClr val="2B2B2B"/>
                </a:solidFill>
                <a:latin typeface="Calibri"/>
              </a:defRPr>
            </a:pPr>
            <a:r>
              <a:t>Vérifie le prompt avant</a:t>
            </a:r>
          </a:p>
          <a:p>
            <a:pPr>
              <a:spcAft>
                <a:spcPts val="400"/>
              </a:spcAft>
              <a:defRPr sz="1300">
                <a:solidFill>
                  <a:srgbClr val="2B2B2B"/>
                </a:solidFill>
                <a:latin typeface="Calibri"/>
              </a:defRPr>
            </a:pPr>
            <a:r>
              <a:t>traitement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Prompt injection?</a:t>
            </a:r>
          </a:p>
          <a:p>
            <a:pPr>
              <a:spcAft>
                <a:spcPts val="400"/>
              </a:spcAft>
              <a:defRPr sz="1300">
                <a:solidFill>
                  <a:srgbClr val="2B2B2B"/>
                </a:solidFill>
                <a:latin typeface="Calibri"/>
              </a:defRPr>
            </a:pPr>
            <a:r>
              <a:t>Contenu dangereux?</a:t>
            </a:r>
          </a:p>
          <a:p>
            <a:pPr>
              <a:spcAft>
                <a:spcPts val="400"/>
              </a:spcAft>
              <a:defRPr sz="1300">
                <a:solidFill>
                  <a:srgbClr val="2B2B2B"/>
                </a:solidFill>
                <a:latin typeface="Calibri"/>
              </a:defRPr>
            </a:pPr>
            <a:r>
              <a:t>Demande illégale?</a:t>
            </a:r>
          </a:p>
        </p:txBody>
      </p:sp>
      <p:sp>
        <p:nvSpPr>
          <p:cNvPr id="10" name="Rectangle 9"/>
          <p:cNvSpPr/>
          <p:nvPr/>
        </p:nvSpPr>
        <p:spPr>
          <a:xfrm>
            <a:off x="3200400" y="2926080"/>
            <a:ext cx="24688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an-eye_00874E_30.png"/>
          <p:cNvPicPr>
            <a:picLocks noChangeAspect="1"/>
          </p:cNvPicPr>
          <p:nvPr/>
        </p:nvPicPr>
        <p:blipFill>
          <a:blip r:embed="rId4"/>
          <a:stretch>
            <a:fillRect/>
          </a:stretch>
        </p:blipFill>
        <p:spPr>
          <a:xfrm>
            <a:off x="3456432" y="3090672"/>
            <a:ext cx="292608" cy="292608"/>
          </a:xfrm>
          <a:prstGeom prst="rect">
            <a:avLst/>
          </a:prstGeom>
        </p:spPr>
      </p:pic>
      <p:sp>
        <p:nvSpPr>
          <p:cNvPr id="12" name="TextBox 11"/>
          <p:cNvSpPr txBox="1"/>
          <p:nvPr/>
        </p:nvSpPr>
        <p:spPr>
          <a:xfrm>
            <a:off x="3858768" y="3108960"/>
            <a:ext cx="1627631" cy="457200"/>
          </a:xfrm>
          <a:prstGeom prst="rect">
            <a:avLst/>
          </a:prstGeom>
          <a:noFill/>
        </p:spPr>
        <p:txBody>
          <a:bodyPr wrap="square" lIns="45720" rIns="45720" tIns="18288" bIns="18288">
            <a:spAutoFit/>
          </a:bodyPr>
          <a:lstStyle/>
          <a:p>
            <a:pPr algn="l">
              <a:defRPr sz="1700" b="1">
                <a:solidFill>
                  <a:srgbClr val="00874E"/>
                </a:solidFill>
                <a:latin typeface="Calibri"/>
              </a:defRPr>
            </a:pPr>
            <a:r>
              <a:t>2. Détection PII</a:t>
            </a:r>
          </a:p>
        </p:txBody>
      </p:sp>
      <p:sp>
        <p:nvSpPr>
          <p:cNvPr id="13" name="TextBox 12"/>
          <p:cNvSpPr txBox="1"/>
          <p:nvPr/>
        </p:nvSpPr>
        <p:spPr>
          <a:xfrm>
            <a:off x="3474720" y="3703320"/>
            <a:ext cx="1920240" cy="2331720"/>
          </a:xfrm>
          <a:prstGeom prst="rect">
            <a:avLst/>
          </a:prstGeom>
          <a:noFill/>
        </p:spPr>
        <p:txBody>
          <a:bodyPr wrap="square">
            <a:spAutoFit/>
          </a:bodyPr>
          <a:lstStyle/>
          <a:p>
            <a:pPr>
              <a:spcAft>
                <a:spcPts val="400"/>
              </a:spcAft>
              <a:defRPr sz="1300">
                <a:solidFill>
                  <a:srgbClr val="2B2B2B"/>
                </a:solidFill>
                <a:latin typeface="Calibri"/>
              </a:defRPr>
            </a:pPr>
            <a:r>
              <a:t>Recherche les données</a:t>
            </a:r>
          </a:p>
          <a:p>
            <a:pPr>
              <a:spcAft>
                <a:spcPts val="400"/>
              </a:spcAft>
              <a:defRPr sz="1300">
                <a:solidFill>
                  <a:srgbClr val="2B2B2B"/>
                </a:solidFill>
                <a:latin typeface="Calibri"/>
              </a:defRPr>
            </a:pPr>
            <a:r>
              <a:t>personnelles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NAS / SSN</a:t>
            </a:r>
          </a:p>
          <a:p>
            <a:pPr>
              <a:spcAft>
                <a:spcPts val="400"/>
              </a:spcAft>
              <a:defRPr sz="1300">
                <a:solidFill>
                  <a:srgbClr val="2B2B2B"/>
                </a:solidFill>
                <a:latin typeface="Calibri"/>
              </a:defRPr>
            </a:pPr>
            <a:r>
              <a:t>Numéros de carte</a:t>
            </a:r>
          </a:p>
          <a:p>
            <a:pPr>
              <a:spcAft>
                <a:spcPts val="400"/>
              </a:spcAft>
              <a:defRPr sz="1300">
                <a:solidFill>
                  <a:srgbClr val="2B2B2B"/>
                </a:solidFill>
                <a:latin typeface="Calibri"/>
              </a:defRPr>
            </a:pPr>
            <a:r>
              <a:t>Adresses, téléphones</a:t>
            </a:r>
          </a:p>
        </p:txBody>
      </p:sp>
      <p:sp>
        <p:nvSpPr>
          <p:cNvPr id="14" name="Rectangle 13"/>
          <p:cNvSpPr/>
          <p:nvPr/>
        </p:nvSpPr>
        <p:spPr>
          <a:xfrm>
            <a:off x="5943600" y="2926080"/>
            <a:ext cx="24688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nchor_F59E0B_30.png"/>
          <p:cNvPicPr>
            <a:picLocks noChangeAspect="1"/>
          </p:cNvPicPr>
          <p:nvPr/>
        </p:nvPicPr>
        <p:blipFill>
          <a:blip r:embed="rId5"/>
          <a:stretch>
            <a:fillRect/>
          </a:stretch>
        </p:blipFill>
        <p:spPr>
          <a:xfrm>
            <a:off x="6199632" y="3090672"/>
            <a:ext cx="292608" cy="292608"/>
          </a:xfrm>
          <a:prstGeom prst="rect">
            <a:avLst/>
          </a:prstGeom>
        </p:spPr>
      </p:pic>
      <p:sp>
        <p:nvSpPr>
          <p:cNvPr id="16" name="TextBox 15"/>
          <p:cNvSpPr txBox="1"/>
          <p:nvPr/>
        </p:nvSpPr>
        <p:spPr>
          <a:xfrm>
            <a:off x="6601968" y="3108960"/>
            <a:ext cx="1627631" cy="457200"/>
          </a:xfrm>
          <a:prstGeom prst="rect">
            <a:avLst/>
          </a:prstGeom>
          <a:noFill/>
        </p:spPr>
        <p:txBody>
          <a:bodyPr wrap="square" lIns="45720" rIns="45720" tIns="18288" bIns="18288">
            <a:spAutoFit/>
          </a:bodyPr>
          <a:lstStyle/>
          <a:p>
            <a:pPr algn="l">
              <a:defRPr sz="1700" b="1">
                <a:solidFill>
                  <a:srgbClr val="F59E0B"/>
                </a:solidFill>
                <a:latin typeface="Calibri"/>
              </a:defRPr>
            </a:pPr>
            <a:r>
              <a:t>3. Grounding</a:t>
            </a:r>
          </a:p>
        </p:txBody>
      </p:sp>
      <p:sp>
        <p:nvSpPr>
          <p:cNvPr id="17" name="TextBox 16"/>
          <p:cNvSpPr txBox="1"/>
          <p:nvPr/>
        </p:nvSpPr>
        <p:spPr>
          <a:xfrm>
            <a:off x="6217920" y="3703320"/>
            <a:ext cx="1920240" cy="2331720"/>
          </a:xfrm>
          <a:prstGeom prst="rect">
            <a:avLst/>
          </a:prstGeom>
          <a:noFill/>
        </p:spPr>
        <p:txBody>
          <a:bodyPr wrap="square">
            <a:spAutoFit/>
          </a:bodyPr>
          <a:lstStyle/>
          <a:p>
            <a:pPr>
              <a:spcAft>
                <a:spcPts val="400"/>
              </a:spcAft>
              <a:defRPr sz="1300">
                <a:solidFill>
                  <a:srgbClr val="2B2B2B"/>
                </a:solidFill>
                <a:latin typeface="Calibri"/>
              </a:defRPr>
            </a:pPr>
            <a:r>
              <a:t>Vérifie les sources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La réponse cite-t-elle</a:t>
            </a:r>
          </a:p>
          <a:p>
            <a:pPr>
              <a:spcAft>
                <a:spcPts val="400"/>
              </a:spcAft>
              <a:defRPr sz="1300">
                <a:solidFill>
                  <a:srgbClr val="2B2B2B"/>
                </a:solidFill>
                <a:latin typeface="Calibri"/>
              </a:defRPr>
            </a:pPr>
            <a:r>
              <a:t>des sources réelles?</a:t>
            </a:r>
          </a:p>
          <a:p>
            <a:pPr>
              <a:spcAft>
                <a:spcPts val="400"/>
              </a:spcAft>
              <a:defRPr sz="1300">
                <a:solidFill>
                  <a:srgbClr val="2B2B2B"/>
                </a:solidFill>
                <a:latin typeface="Calibri"/>
              </a:defRPr>
            </a:pPr>
            <a:r>
              <a:t>Pas d'hallucination</a:t>
            </a:r>
          </a:p>
          <a:p>
            <a:pPr>
              <a:spcAft>
                <a:spcPts val="400"/>
              </a:spcAft>
              <a:defRPr sz="1300">
                <a:solidFill>
                  <a:srgbClr val="2B2B2B"/>
                </a:solidFill>
                <a:latin typeface="Calibri"/>
              </a:defRPr>
            </a:pPr>
            <a:r>
              <a:t>Vérifiable vs données</a:t>
            </a:r>
          </a:p>
        </p:txBody>
      </p:sp>
      <p:sp>
        <p:nvSpPr>
          <p:cNvPr id="18" name="Rectangle 17"/>
          <p:cNvSpPr/>
          <p:nvPr/>
        </p:nvSpPr>
        <p:spPr>
          <a:xfrm>
            <a:off x="8686800" y="2926080"/>
            <a:ext cx="24688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hield-check_EF4444_30.png"/>
          <p:cNvPicPr>
            <a:picLocks noChangeAspect="1"/>
          </p:cNvPicPr>
          <p:nvPr/>
        </p:nvPicPr>
        <p:blipFill>
          <a:blip r:embed="rId6"/>
          <a:stretch>
            <a:fillRect/>
          </a:stretch>
        </p:blipFill>
        <p:spPr>
          <a:xfrm>
            <a:off x="8942832" y="3090672"/>
            <a:ext cx="292608" cy="292608"/>
          </a:xfrm>
          <a:prstGeom prst="rect">
            <a:avLst/>
          </a:prstGeom>
        </p:spPr>
      </p:pic>
      <p:sp>
        <p:nvSpPr>
          <p:cNvPr id="20" name="TextBox 19"/>
          <p:cNvSpPr txBox="1"/>
          <p:nvPr/>
        </p:nvSpPr>
        <p:spPr>
          <a:xfrm>
            <a:off x="9345167" y="3108960"/>
            <a:ext cx="1627632" cy="457200"/>
          </a:xfrm>
          <a:prstGeom prst="rect">
            <a:avLst/>
          </a:prstGeom>
          <a:noFill/>
        </p:spPr>
        <p:txBody>
          <a:bodyPr wrap="square" lIns="45720" rIns="45720" tIns="18288" bIns="18288">
            <a:spAutoFit/>
          </a:bodyPr>
          <a:lstStyle/>
          <a:p>
            <a:pPr algn="l">
              <a:defRPr sz="1700" b="1">
                <a:solidFill>
                  <a:srgbClr val="EF4444"/>
                </a:solidFill>
                <a:latin typeface="Calibri"/>
              </a:defRPr>
            </a:pPr>
            <a:r>
              <a:t>4. Filtre de sortie</a:t>
            </a:r>
          </a:p>
        </p:txBody>
      </p:sp>
      <p:sp>
        <p:nvSpPr>
          <p:cNvPr id="21" name="TextBox 20"/>
          <p:cNvSpPr txBox="1"/>
          <p:nvPr/>
        </p:nvSpPr>
        <p:spPr>
          <a:xfrm>
            <a:off x="8961120" y="3703320"/>
            <a:ext cx="1920240" cy="2331720"/>
          </a:xfrm>
          <a:prstGeom prst="rect">
            <a:avLst/>
          </a:prstGeom>
          <a:noFill/>
        </p:spPr>
        <p:txBody>
          <a:bodyPr wrap="square">
            <a:spAutoFit/>
          </a:bodyPr>
          <a:lstStyle/>
          <a:p>
            <a:pPr>
              <a:spcAft>
                <a:spcPts val="400"/>
              </a:spcAft>
              <a:defRPr sz="1300">
                <a:solidFill>
                  <a:srgbClr val="2B2B2B"/>
                </a:solidFill>
                <a:latin typeface="Calibri"/>
              </a:defRPr>
            </a:pPr>
            <a:r>
              <a:t>Analyse la réponse</a:t>
            </a:r>
          </a:p>
          <a:p>
            <a:pPr>
              <a:spcAft>
                <a:spcPts val="400"/>
              </a:spcAft>
              <a:defRPr sz="1300">
                <a:solidFill>
                  <a:srgbClr val="2B2B2B"/>
                </a:solidFill>
                <a:latin typeface="Calibri"/>
              </a:defRPr>
            </a:pPr>
            <a:r>
              <a:t>avant de l'afficher</a:t>
            </a:r>
          </a:p>
          <a:p>
            <a:pPr>
              <a:spcAft>
                <a:spcPts val="400"/>
              </a:spcAft>
              <a:defRPr sz="1300">
                <a:solidFill>
                  <a:srgbClr val="2B2B2B"/>
                </a:solidFill>
                <a:latin typeface="Calibri"/>
              </a:defRPr>
            </a:pPr>
          </a:p>
          <a:p>
            <a:pPr>
              <a:spcAft>
                <a:spcPts val="400"/>
              </a:spcAft>
              <a:defRPr sz="1300">
                <a:solidFill>
                  <a:srgbClr val="2B2B2B"/>
                </a:solidFill>
                <a:latin typeface="Calibri"/>
              </a:defRPr>
            </a:pPr>
            <a:r>
              <a:t>Contenu inapproprié?</a:t>
            </a:r>
          </a:p>
          <a:p>
            <a:pPr>
              <a:spcAft>
                <a:spcPts val="400"/>
              </a:spcAft>
              <a:defRPr sz="1300">
                <a:solidFill>
                  <a:srgbClr val="2B2B2B"/>
                </a:solidFill>
                <a:latin typeface="Calibri"/>
              </a:defRPr>
            </a:pPr>
            <a:r>
              <a:t>Information sensible?</a:t>
            </a:r>
          </a:p>
          <a:p>
            <a:pPr>
              <a:spcAft>
                <a:spcPts val="400"/>
              </a:spcAft>
              <a:defRPr sz="1300">
                <a:solidFill>
                  <a:srgbClr val="2B2B2B"/>
                </a:solidFill>
                <a:latin typeface="Calibri"/>
              </a:defRPr>
            </a:pPr>
            <a:r>
              <a:t>Conforme aux règles?</a:t>
            </a:r>
          </a:p>
        </p:txBody>
      </p:sp>
      <p:sp>
        <p:nvSpPr>
          <p:cNvPr id="22" name="Rectangle 21"/>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24" name="TextBox 23"/>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874E"/>
        </a:solidFill>
        <a:effectLst/>
      </p:bgPr>
    </p:bg>
    <p:spTree>
      <p:nvGrpSpPr>
        <p:cNvPr id="1" name=""/>
        <p:cNvGrpSpPr/>
        <p:nvPr/>
      </p:nvGrpSpPr>
      <p:grpSpPr/>
      <p:sp>
        <p:nvSpPr>
          <p:cNvPr id="2" name="TextBox 1"/>
          <p:cNvSpPr txBox="1"/>
          <p:nvPr/>
        </p:nvSpPr>
        <p:spPr>
          <a:xfrm>
            <a:off x="914400" y="731520"/>
            <a:ext cx="10360152" cy="822960"/>
          </a:xfrm>
          <a:prstGeom prst="rect">
            <a:avLst/>
          </a:prstGeom>
          <a:noFill/>
        </p:spPr>
        <p:txBody>
          <a:bodyPr wrap="square" lIns="45720" rIns="45720" tIns="18288" bIns="18288">
            <a:spAutoFit/>
          </a:bodyPr>
          <a:lstStyle/>
          <a:p>
            <a:pPr algn="ctr">
              <a:defRPr sz="3600" b="1">
                <a:solidFill>
                  <a:srgbClr val="FFFFFF"/>
                </a:solidFill>
                <a:latin typeface="Calibri"/>
              </a:defRPr>
            </a:pPr>
            <a:r>
              <a:t>À retenir — L'architecture en bref</a:t>
            </a:r>
          </a:p>
        </p:txBody>
      </p:sp>
      <p:sp>
        <p:nvSpPr>
          <p:cNvPr id="3" name="Rectangle 2"/>
          <p:cNvSpPr/>
          <p:nvPr/>
        </p:nvSpPr>
        <p:spPr>
          <a:xfrm>
            <a:off x="4572000" y="1691640"/>
            <a:ext cx="3044952"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103120"/>
            <a:ext cx="2475738"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ckage_006B3F_28.png"/>
          <p:cNvPicPr>
            <a:picLocks noChangeAspect="1"/>
          </p:cNvPicPr>
          <p:nvPr/>
        </p:nvPicPr>
        <p:blipFill>
          <a:blip r:embed="rId3"/>
          <a:stretch>
            <a:fillRect/>
          </a:stretch>
        </p:blipFill>
        <p:spPr>
          <a:xfrm>
            <a:off x="1832229" y="2176272"/>
            <a:ext cx="274320" cy="274320"/>
          </a:xfrm>
          <a:prstGeom prst="rect">
            <a:avLst/>
          </a:prstGeom>
        </p:spPr>
      </p:pic>
      <p:sp>
        <p:nvSpPr>
          <p:cNvPr id="6" name="TextBox 5"/>
          <p:cNvSpPr txBox="1"/>
          <p:nvPr/>
        </p:nvSpPr>
        <p:spPr>
          <a:xfrm>
            <a:off x="868680" y="2523744"/>
            <a:ext cx="2201418" cy="548640"/>
          </a:xfrm>
          <a:prstGeom prst="rect">
            <a:avLst/>
          </a:prstGeom>
          <a:noFill/>
        </p:spPr>
        <p:txBody>
          <a:bodyPr wrap="square" lIns="45720" rIns="45720" tIns="18288" bIns="18288">
            <a:spAutoFit/>
          </a:bodyPr>
          <a:lstStyle/>
          <a:p>
            <a:pPr algn="ctr">
              <a:defRPr sz="1700" b="1">
                <a:solidFill>
                  <a:srgbClr val="006B3F"/>
                </a:solidFill>
                <a:latin typeface="Calibri"/>
              </a:defRPr>
            </a:pPr>
            <a:r>
              <a:t>1. Métaprompt</a:t>
            </a:r>
          </a:p>
        </p:txBody>
      </p:sp>
      <p:sp>
        <p:nvSpPr>
          <p:cNvPr id="7" name="TextBox 6"/>
          <p:cNvSpPr txBox="1"/>
          <p:nvPr/>
        </p:nvSpPr>
        <p:spPr>
          <a:xfrm>
            <a:off x="868680" y="3163824"/>
            <a:ext cx="2201418" cy="914400"/>
          </a:xfrm>
          <a:prstGeom prst="rect">
            <a:avLst/>
          </a:prstGeom>
          <a:noFill/>
        </p:spPr>
        <p:txBody>
          <a:bodyPr wrap="square" lIns="45720" rIns="45720" tIns="18288" bIns="18288">
            <a:spAutoFit/>
          </a:bodyPr>
          <a:lstStyle/>
          <a:p>
            <a:pPr algn="ctr">
              <a:defRPr sz="1200" b="0">
                <a:solidFill>
                  <a:srgbClr val="6B6B6B"/>
                </a:solidFill>
                <a:latin typeface="Calibri"/>
              </a:defRPr>
            </a:pPr>
            <a:r>
              <a:t>Microsoft ajoute 10K tokens</a:t>
            </a:r>
            <a:br/>
            <a:r>
              <a:t>d'instructions AVANT votre prompt</a:t>
            </a:r>
          </a:p>
        </p:txBody>
      </p:sp>
      <p:sp>
        <p:nvSpPr>
          <p:cNvPr id="8" name="Rectangle 7"/>
          <p:cNvSpPr/>
          <p:nvPr/>
        </p:nvSpPr>
        <p:spPr>
          <a:xfrm>
            <a:off x="3481578" y="2103120"/>
            <a:ext cx="2475738"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hermometer_006B3F_28.png"/>
          <p:cNvPicPr>
            <a:picLocks noChangeAspect="1"/>
          </p:cNvPicPr>
          <p:nvPr/>
        </p:nvPicPr>
        <p:blipFill>
          <a:blip r:embed="rId4"/>
          <a:stretch>
            <a:fillRect/>
          </a:stretch>
        </p:blipFill>
        <p:spPr>
          <a:xfrm>
            <a:off x="4582287" y="2176272"/>
            <a:ext cx="274320" cy="274320"/>
          </a:xfrm>
          <a:prstGeom prst="rect">
            <a:avLst/>
          </a:prstGeom>
        </p:spPr>
      </p:pic>
      <p:sp>
        <p:nvSpPr>
          <p:cNvPr id="10" name="TextBox 9"/>
          <p:cNvSpPr txBox="1"/>
          <p:nvPr/>
        </p:nvSpPr>
        <p:spPr>
          <a:xfrm>
            <a:off x="3618738" y="2523744"/>
            <a:ext cx="2201418" cy="548640"/>
          </a:xfrm>
          <a:prstGeom prst="rect">
            <a:avLst/>
          </a:prstGeom>
          <a:noFill/>
        </p:spPr>
        <p:txBody>
          <a:bodyPr wrap="square" lIns="45720" rIns="45720" tIns="18288" bIns="18288">
            <a:spAutoFit/>
          </a:bodyPr>
          <a:lstStyle/>
          <a:p>
            <a:pPr algn="ctr">
              <a:defRPr sz="1700" b="1">
                <a:solidFill>
                  <a:srgbClr val="006B3F"/>
                </a:solidFill>
                <a:latin typeface="Calibri"/>
              </a:defRPr>
            </a:pPr>
            <a:r>
              <a:t>2. Température</a:t>
            </a:r>
          </a:p>
        </p:txBody>
      </p:sp>
      <p:sp>
        <p:nvSpPr>
          <p:cNvPr id="11" name="TextBox 10"/>
          <p:cNvSpPr txBox="1"/>
          <p:nvPr/>
        </p:nvSpPr>
        <p:spPr>
          <a:xfrm>
            <a:off x="3618738" y="3163824"/>
            <a:ext cx="2201418" cy="914400"/>
          </a:xfrm>
          <a:prstGeom prst="rect">
            <a:avLst/>
          </a:prstGeom>
          <a:noFill/>
        </p:spPr>
        <p:txBody>
          <a:bodyPr wrap="square" lIns="45720" rIns="45720" tIns="18288" bIns="18288">
            <a:spAutoFit/>
          </a:bodyPr>
          <a:lstStyle/>
          <a:p>
            <a:pPr algn="ctr">
              <a:defRPr sz="1200" b="0">
                <a:solidFill>
                  <a:srgbClr val="6B6B6B"/>
                </a:solidFill>
                <a:latin typeface="Calibri"/>
              </a:defRPr>
            </a:pPr>
            <a:r>
              <a:t>Basse (0.1-0.3)</a:t>
            </a:r>
            <a:br/>
            <a:r>
              <a:t>= fiable, pas créatif</a:t>
            </a:r>
          </a:p>
        </p:txBody>
      </p:sp>
      <p:sp>
        <p:nvSpPr>
          <p:cNvPr id="12" name="Rectangle 11"/>
          <p:cNvSpPr/>
          <p:nvPr/>
        </p:nvSpPr>
        <p:spPr>
          <a:xfrm>
            <a:off x="6231636" y="2103120"/>
            <a:ext cx="2475738"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ins_006B3F_28.png"/>
          <p:cNvPicPr>
            <a:picLocks noChangeAspect="1"/>
          </p:cNvPicPr>
          <p:nvPr/>
        </p:nvPicPr>
        <p:blipFill>
          <a:blip r:embed="rId5"/>
          <a:stretch>
            <a:fillRect/>
          </a:stretch>
        </p:blipFill>
        <p:spPr>
          <a:xfrm>
            <a:off x="7332344" y="2176272"/>
            <a:ext cx="274320" cy="274320"/>
          </a:xfrm>
          <a:prstGeom prst="rect">
            <a:avLst/>
          </a:prstGeom>
        </p:spPr>
      </p:pic>
      <p:sp>
        <p:nvSpPr>
          <p:cNvPr id="14" name="TextBox 13"/>
          <p:cNvSpPr txBox="1"/>
          <p:nvPr/>
        </p:nvSpPr>
        <p:spPr>
          <a:xfrm>
            <a:off x="6368796" y="2523744"/>
            <a:ext cx="2201418" cy="548640"/>
          </a:xfrm>
          <a:prstGeom prst="rect">
            <a:avLst/>
          </a:prstGeom>
          <a:noFill/>
        </p:spPr>
        <p:txBody>
          <a:bodyPr wrap="square" lIns="45720" rIns="45720" tIns="18288" bIns="18288">
            <a:spAutoFit/>
          </a:bodyPr>
          <a:lstStyle/>
          <a:p>
            <a:pPr algn="ctr">
              <a:defRPr sz="1700" b="1">
                <a:solidFill>
                  <a:srgbClr val="006B3F"/>
                </a:solidFill>
                <a:latin typeface="Calibri"/>
              </a:defRPr>
            </a:pPr>
            <a:r>
              <a:t>3. Cache &amp; Tokens</a:t>
            </a:r>
          </a:p>
        </p:txBody>
      </p:sp>
      <p:sp>
        <p:nvSpPr>
          <p:cNvPr id="15" name="TextBox 14"/>
          <p:cNvSpPr txBox="1"/>
          <p:nvPr/>
        </p:nvSpPr>
        <p:spPr>
          <a:xfrm>
            <a:off x="6368796" y="3163824"/>
            <a:ext cx="2201418" cy="914400"/>
          </a:xfrm>
          <a:prstGeom prst="rect">
            <a:avLst/>
          </a:prstGeom>
          <a:noFill/>
        </p:spPr>
        <p:txBody>
          <a:bodyPr wrap="square" lIns="45720" rIns="45720" tIns="18288" bIns="18288">
            <a:spAutoFit/>
          </a:bodyPr>
          <a:lstStyle/>
          <a:p>
            <a:pPr algn="ctr">
              <a:defRPr sz="1200" b="0">
                <a:solidFill>
                  <a:srgbClr val="6B6B6B"/>
                </a:solidFill>
                <a:latin typeface="Calibri"/>
              </a:defRPr>
            </a:pPr>
            <a:r>
              <a:t>Cache par tenant</a:t>
            </a:r>
            <a:br/>
            <a:r>
              <a:t>128K tokens max</a:t>
            </a:r>
          </a:p>
        </p:txBody>
      </p:sp>
      <p:sp>
        <p:nvSpPr>
          <p:cNvPr id="16" name="Rectangle 15"/>
          <p:cNvSpPr/>
          <p:nvPr/>
        </p:nvSpPr>
        <p:spPr>
          <a:xfrm>
            <a:off x="8981694" y="2103120"/>
            <a:ext cx="2475738"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ield_006B3F_28.png"/>
          <p:cNvPicPr>
            <a:picLocks noChangeAspect="1"/>
          </p:cNvPicPr>
          <p:nvPr/>
        </p:nvPicPr>
        <p:blipFill>
          <a:blip r:embed="rId6"/>
          <a:stretch>
            <a:fillRect/>
          </a:stretch>
        </p:blipFill>
        <p:spPr>
          <a:xfrm>
            <a:off x="10082403" y="2176272"/>
            <a:ext cx="274320" cy="274320"/>
          </a:xfrm>
          <a:prstGeom prst="rect">
            <a:avLst/>
          </a:prstGeom>
        </p:spPr>
      </p:pic>
      <p:sp>
        <p:nvSpPr>
          <p:cNvPr id="18" name="TextBox 17"/>
          <p:cNvSpPr txBox="1"/>
          <p:nvPr/>
        </p:nvSpPr>
        <p:spPr>
          <a:xfrm>
            <a:off x="9118854" y="2523744"/>
            <a:ext cx="2201418" cy="548640"/>
          </a:xfrm>
          <a:prstGeom prst="rect">
            <a:avLst/>
          </a:prstGeom>
          <a:noFill/>
        </p:spPr>
        <p:txBody>
          <a:bodyPr wrap="square" lIns="45720" rIns="45720" tIns="18288" bIns="18288">
            <a:spAutoFit/>
          </a:bodyPr>
          <a:lstStyle/>
          <a:p>
            <a:pPr algn="ctr">
              <a:defRPr sz="1700" b="1">
                <a:solidFill>
                  <a:srgbClr val="006B3F"/>
                </a:solidFill>
                <a:latin typeface="Calibri"/>
              </a:defRPr>
            </a:pPr>
            <a:r>
              <a:t>4. Sécurité</a:t>
            </a:r>
          </a:p>
        </p:txBody>
      </p:sp>
      <p:sp>
        <p:nvSpPr>
          <p:cNvPr id="19" name="TextBox 18"/>
          <p:cNvSpPr txBox="1"/>
          <p:nvPr/>
        </p:nvSpPr>
        <p:spPr>
          <a:xfrm>
            <a:off x="9118854" y="3163824"/>
            <a:ext cx="2201418" cy="914400"/>
          </a:xfrm>
          <a:prstGeom prst="rect">
            <a:avLst/>
          </a:prstGeom>
          <a:noFill/>
        </p:spPr>
        <p:txBody>
          <a:bodyPr wrap="square" lIns="45720" rIns="45720" tIns="18288" bIns="18288">
            <a:spAutoFit/>
          </a:bodyPr>
          <a:lstStyle/>
          <a:p>
            <a:pPr algn="ctr">
              <a:defRPr sz="1200" b="0">
                <a:solidFill>
                  <a:srgbClr val="6B6B6B"/>
                </a:solidFill>
                <a:latin typeface="Calibri"/>
              </a:defRPr>
            </a:pPr>
            <a:r>
              <a:t>4 couches de filtres</a:t>
            </a:r>
            <a:br/>
            <a:r>
              <a:t>PII, entrée, sortie, grounding</a:t>
            </a:r>
          </a:p>
        </p:txBody>
      </p:sp>
      <p:sp>
        <p:nvSpPr>
          <p:cNvPr id="20" name="Rectangle 19"/>
          <p:cNvSpPr/>
          <p:nvPr/>
        </p:nvSpPr>
        <p:spPr>
          <a:xfrm>
            <a:off x="2423160" y="4681728"/>
            <a:ext cx="7342631" cy="1078992"/>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423160" y="4681728"/>
            <a:ext cx="64008" cy="1078992"/>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87752" y="4937760"/>
            <a:ext cx="7013447" cy="713231"/>
          </a:xfrm>
          <a:prstGeom prst="rect">
            <a:avLst/>
          </a:prstGeom>
          <a:noFill/>
        </p:spPr>
        <p:txBody>
          <a:bodyPr wrap="square" lIns="45720" rIns="45720" tIns="18288" bIns="18288">
            <a:spAutoFit/>
          </a:bodyPr>
          <a:lstStyle/>
          <a:p>
            <a:pPr algn="ctr">
              <a:defRPr sz="1500" b="1">
                <a:solidFill>
                  <a:srgbClr val="006B3F"/>
                </a:solidFill>
                <a:latin typeface="Calibri"/>
              </a:defRPr>
            </a:pPr>
            <a:r>
              <a:t>En entreprise, la fiabilité et la sécurité passent avant la créativité — c'est le choix de conception de Copilot!</a:t>
            </a:r>
          </a:p>
        </p:txBody>
      </p:sp>
      <p:sp>
        <p:nvSpPr>
          <p:cNvPr id="23" name="TextBox 22"/>
          <p:cNvSpPr txBox="1"/>
          <p:nvPr/>
        </p:nvSpPr>
        <p:spPr>
          <a:xfrm>
            <a:off x="914400" y="5989320"/>
            <a:ext cx="10360152" cy="365760"/>
          </a:xfrm>
          <a:prstGeom prst="rect">
            <a:avLst/>
          </a:prstGeom>
          <a:noFill/>
        </p:spPr>
        <p:txBody>
          <a:bodyPr wrap="square" lIns="45720" rIns="45720" tIns="18288" bIns="18288">
            <a:spAutoFit/>
          </a:bodyPr>
          <a:lstStyle/>
          <a:p>
            <a:pPr algn="ctr">
              <a:defRPr sz="1300" b="0">
                <a:solidFill>
                  <a:srgbClr val="CCE0D2"/>
                </a:solidFill>
                <a:latin typeface="Calibri"/>
              </a:defRPr>
            </a:pPr>
            <a:r>
              <a:t>La minute Copilot — À la semaine prochaine!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