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Accueil: Aujourd'hui on va voir un truc qui change TOUT: donner un persona à Copilot. C'est simple, ça prend 5 secondes, et ça transforme une réponse générique en réponse experte.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persona c'est dire à Copilot QUI il est avant de lui donner une tâche. Montrer la différence entre réponse avec et sans persona. Insister: la réponse sans persona n'est pas mauvaise — elle est juste applicable à personne en particulier.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formule magique. Applicable partout: Outlook, Teams, Word, Copilot Chat. Montrer le template universel — inviter les gens à le photographier ou le noter. C'est la diapo la plus importante de l'épisode.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personas clés adaptés au contexte d'une institution financière. Chacun change radicalement le ton et le contenu de la réponse. Insister: le même prompt avec trois personas différents donne trois réponses très différentes. Démontrer si le temps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deux versions à voix haute. Bien insister sur la différence de ton et de contenu. Le persona change COMMENT c'est présenté et QUOI est inclus — pas seulement le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Défi de la semaine: essayer UN prompt avec persona au lieu de sans. Choisir la prochaine tâche dans Outlook ou Copilot Chat et ajouter «En tant que [votre rôle]» au début. Observer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66928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La minute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46120"/>
            <a:ext cx="292608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56692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L'importance des personas dans les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CCE0D2"/>
                </a:solidFill>
                <a:latin typeface="Calibri"/>
              </a:defRPr>
            </a:pPr>
            <a:r>
              <a:t>Donnez un rôle à Copilot pour des réponses 10x meilleures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Martin Fournier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5669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CCE0D2"/>
                </a:solidFill>
                <a:latin typeface="Calibri"/>
              </a:defRPr>
            </a:pPr>
            <a:r>
              <a:t>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006B3F"/>
                </a:solidFill>
                <a:latin typeface="Calibri"/>
              </a:defRPr>
            </a:pPr>
            <a:r>
              <a:t>Qu'est-ce qu'un persona?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Un rôle, un contexte, une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274552" cy="18288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Un persona = un rôle + un contexte + un ton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Copilot adapte sa réponse selon le persona donné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Sans persona: réponse générique, hors contexte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Avec persona: réponse experte, ciblée, prête à utiliser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52120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ircle-x_EF4444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906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" y="3108960"/>
            <a:ext cx="437083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Sans persona (hors contexte)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«Rédige un courriel de suivi»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Réponse générique,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sans personnalité,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applicable à n'importe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quelle entreprise.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À réécrire entièrement.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926080"/>
            <a:ext cx="52120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-check_00874E_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09067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01968" y="3108960"/>
            <a:ext cx="4370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00874E"/>
                </a:solidFill>
                <a:latin typeface="Calibri"/>
              </a:defRPr>
            </a:pPr>
            <a:r>
              <a:t>Avec persona (ciblé)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0332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que chef de projet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senior, rédige un courriel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suivi technique sur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la migration ServiceNow»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Ton adapté, détails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pertinents. Prêt à envoyer.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4552" cy="13716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La minute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006B3F"/>
                </a:solidFill>
                <a:latin typeface="Calibri"/>
              </a:defRPr>
            </a:pPr>
            <a:r>
              <a:t>La recette: Persona + Contexte + Tâche +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La formule magique du prompt parfait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274552" cy="18288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Persona: Qui es-tu? (analyste risques, chef de projet, auditeur...)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Contexte: De quoi parlons-nous? (ce courriel, ce client, ce projet...)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Tâche: Que veux-tu? (résumer, rédiger, analyser, comparer...)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Format: Comment? (3 puces, tableau, courriel formel, rapport...)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3832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yout-template_00874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906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" y="3108960"/>
            <a:ext cx="254203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00874E"/>
                </a:solidFill>
                <a:latin typeface="Calibri"/>
              </a:defRPr>
            </a:pPr>
            <a:r>
              <a:t>Template universel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834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que [persona],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dans le contexte de [sujet],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[action] en [format].»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Photographiez cette diapo!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926080"/>
            <a:ext cx="33832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le-text_00874E_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09067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3168" y="3108960"/>
            <a:ext cx="25420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00874E"/>
                </a:solidFill>
                <a:latin typeface="Calibri"/>
              </a:defRPr>
            </a:pPr>
            <a:r>
              <a:t>Exemple institution financière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03320"/>
            <a:ext cx="2834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qu'analyste en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gestion des risques, dans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le cadre de l'audit Q2,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résume les écarts identifiés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en 3 puces avec niveau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risque (faible/moyen/élevé).»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926080"/>
            <a:ext cx="33832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ave_F59E0B_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309067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30767" y="3108960"/>
            <a:ext cx="254203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Sauvegarder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03320"/>
            <a:ext cx="2834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Quick Parts Outlook: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votre template favori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OneNote: vos personas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préférés par contexte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Copilot Lab: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copilot.cloud.microsoft/prompts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4552" cy="13716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La minute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006B3F"/>
                </a:solidFill>
                <a:latin typeface="Calibri"/>
              </a:defRPr>
            </a:pPr>
            <a:r>
              <a:t>3 personas indispensables en institution financière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Pour chaque situation, le bon rôle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274552" cy="18288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Ajoutez le persona au début du prompt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Combinez persona + contexte + tâche + format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Sauvegardez vos personas les plus utiles en Quick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3832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iefcase_00874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906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" y="3108960"/>
            <a:ext cx="254203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00874E"/>
                </a:solidFill>
                <a:latin typeface="Calibri"/>
              </a:defRPr>
            </a:pPr>
            <a:r>
              <a:t>Persona professionnel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834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que directeur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projet, réponds à ce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partenaire d'affaires.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Ton formel mais direct.»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Parfait pour clients,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fournisseurs, partenaires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926080"/>
            <a:ext cx="33832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-check_00874E_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09067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3168" y="3108960"/>
            <a:ext cx="25420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00874E"/>
                </a:solidFill>
                <a:latin typeface="Calibri"/>
              </a:defRPr>
            </a:pPr>
            <a:r>
              <a:t>Persona conformité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03320"/>
            <a:ext cx="2834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qu'agent de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conformité réglementaire,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analyse cette procédure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et identifie les écarts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par rapport aux normes.»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Parfait pour audits, risques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926080"/>
            <a:ext cx="33832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raduation-cap_F59E0B_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309067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30767" y="3108960"/>
            <a:ext cx="254203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Persona vulgarisateur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03320"/>
            <a:ext cx="2834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que formateur,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explique ce concept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technique simplement.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Pas de jargon.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Public non-TI.»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Parfait pour IT vers non-IT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4552" cy="13716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La minute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006B3F"/>
                </a:solidFill>
                <a:latin typeface="Calibri"/>
              </a:defRPr>
            </a:pPr>
            <a:r>
              <a:t>Avant / Après — Le persona en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le-x_EF4444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1645920"/>
            <a:ext cx="437083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AVANT — Sans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«Résume ce fil de courriels»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Résumé générique,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liste de faits sans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priorisation.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Temps perdu à réécrire.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rcle-check_00874E_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627632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1968" y="1645920"/>
            <a:ext cx="4370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00874E"/>
                </a:solidFill>
                <a:latin typeface="Calibri"/>
              </a:defRPr>
            </a:pPr>
            <a:r>
              <a:t>APRÈS — Avec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«En tant que chef de projet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senior, résume ce fil et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identifie les risques pour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la livraison du trimestre.»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Risques ciblés,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ton professionnel.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Prêt à partager.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11274552" cy="13716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La minute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691640"/>
            <a:ext cx="3044952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6957" y="2103120"/>
            <a:ext cx="32918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r_006B3F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41" y="2176272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4117" y="2596896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006B3F"/>
                </a:solidFill>
                <a:latin typeface="Calibri"/>
              </a:defRPr>
            </a:pPr>
            <a:r>
              <a:t>1.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117" y="3236976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0">
                <a:solidFill>
                  <a:srgbClr val="6B6B6B"/>
                </a:solidFill>
                <a:latin typeface="Calibri"/>
              </a:defRPr>
            </a:pPr>
            <a:r>
              <a:t>Donnez un rôle à Copilot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8556" y="2103120"/>
            <a:ext cx="32918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st-tree_006B3F_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176272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5716" y="2596896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006B3F"/>
                </a:solidFill>
                <a:latin typeface="Calibri"/>
              </a:defRPr>
            </a:pPr>
            <a:r>
              <a:t>2.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716" y="3236976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0">
                <a:solidFill>
                  <a:srgbClr val="6B6B6B"/>
                </a:solidFill>
                <a:latin typeface="Calibri"/>
              </a:defRPr>
            </a:pPr>
            <a:r>
              <a:t>Persona + Contexte</a:t>
            </a:r>
            <a:br/>
            <a:r>
              <a:t>+ Tâche +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0154" y="2103120"/>
            <a:ext cx="32918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okmark_006B3F_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338" y="2176272"/>
            <a:ext cx="347472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7314" y="2596896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200" b="1">
                <a:solidFill>
                  <a:srgbClr val="006B3F"/>
                </a:solidFill>
                <a:latin typeface="Calibri"/>
              </a:defRPr>
            </a:pPr>
            <a:r>
              <a:t>3. Sauvegardez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7314" y="3236976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0">
                <a:solidFill>
                  <a:srgbClr val="6B6B6B"/>
                </a:solidFill>
                <a:latin typeface="Calibri"/>
              </a:defRPr>
            </a:pPr>
            <a:r>
              <a:t>Quick Parts pour</a:t>
            </a:r>
            <a:br/>
            <a:r>
              <a:t>vos prompts favoris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4681728"/>
            <a:ext cx="7342631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4681728"/>
            <a:ext cx="64008" cy="1078992"/>
          </a:xfrm>
          <a:prstGeom prst="rect">
            <a:avLst/>
          </a:prstGeom>
          <a:solidFill>
            <a:srgbClr val="00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7752" y="4937760"/>
            <a:ext cx="7013447" cy="7132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006B3F"/>
                </a:solidFill>
                <a:latin typeface="Calibri"/>
              </a:defRPr>
            </a:pPr>
            <a:r>
              <a:t>Défi: Ajoutez «En tant que [votre rôle]» à votre prochain prompt Copilot!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CCE0D2"/>
                </a:solidFill>
                <a:latin typeface="Calibri"/>
              </a:defRPr>
            </a:pPr>
            <a:r>
              <a:t>La minute Copilot — À la semaine prochaine!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