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Accueil: «Saviez-vous que Copilot peut lire vos documents SharePoint et OneDrive pour vous donner de meilleures réponses? Aujourd'hui on voit comment ça marche et pourquoi c'est utile — et sécuritaire.»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Expliquer Microsoft Graph simplement: c'est l'API unifiée de Microsoft 365. Copilot l'utilise pour chercher dans vos fichiers, courriels, calendrier, Teams. Mais il ne voit que ce à quoi vous avez déjà accès — mêmes permissions, mêmes restrictions.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Montrer la différence: sans accès aux données, Copilot répond de façon générique. Avec accès à SharePoint/OneDrive, il peut répondre à partir de vos politiques, procédures, documents internes. C'est ça la vraie valeur de Copilot!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Adapter au contexte de l'institution financière. Montrer des exemples pratiques que les gens vivent au quotidien. Insister sur le fait que la donnée reste dans le tenant Microsoft 365 — elle ne quitte pas l'organisation.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Conseils pratiques: être précis dans la demande, mentionner le site SharePoint ou le nom du fichier. Si Copilot ne trouve pas, vérifier les permissions. Aussi: les fichiers récents sont plus faciles à trouver.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Résumé: Copilot + SharePoint/OneDrive = réponses personnalisées à partir de VOS documents. Mentionner le fichier ou le site dans votre prompt. Les permissions sont respectées.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F0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766560" cy="6858000"/>
          </a:xfrm>
          <a:prstGeom prst="rect">
            <a:avLst/>
          </a:prstGeom>
          <a:solidFill>
            <a:srgbClr val="0087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828800"/>
            <a:ext cx="5669280" cy="1463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Calibri"/>
              </a:defRPr>
            </a:pPr>
            <a:r>
              <a:t>La minute Copilot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3246120"/>
            <a:ext cx="2926080" cy="365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3429000"/>
            <a:ext cx="566928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defRPr sz="2200" b="0">
                <a:solidFill>
                  <a:srgbClr val="FFFFFF"/>
                </a:solidFill>
                <a:latin typeface="Calibri"/>
              </a:defRPr>
            </a:pPr>
            <a:r>
              <a:t>Copilot se connecte à vos données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72000"/>
            <a:ext cx="566928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defRPr sz="1300" b="0">
                <a:solidFill>
                  <a:srgbClr val="CCE0D2"/>
                </a:solidFill>
                <a:latin typeface="Calibri"/>
              </a:defRPr>
            </a:pPr>
            <a:r>
              <a:t>SharePoint · OneDrive · Microsoft Graph · Contexte · Sécurité • IT &amp; non-IT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029200"/>
            <a:ext cx="566928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Martin Fournier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349240"/>
            <a:ext cx="56692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defRPr sz="1200" b="0">
                <a:solidFill>
                  <a:srgbClr val="CCE0D2"/>
                </a:solidFill>
                <a:latin typeface="Calibri"/>
              </a:defRPr>
            </a:pPr>
            <a:r>
              <a:t>2026-05-17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F0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defRPr sz="2800" b="1">
                <a:solidFill>
                  <a:srgbClr val="006B3F"/>
                </a:solidFill>
                <a:latin typeface="Calibri"/>
              </a:defRPr>
            </a:pPr>
            <a:r>
              <a:t>Comment Copilot accède à vos données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097280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defRPr sz="1500" b="0">
                <a:solidFill>
                  <a:srgbClr val="6B6B6B"/>
                </a:solidFill>
                <a:latin typeface="Calibri"/>
              </a:defRPr>
            </a:pPr>
            <a:r>
              <a:t>Microsoft Graph: le pont entre Copilot et vos fichiers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508760"/>
            <a:ext cx="11274552" cy="18288"/>
          </a:xfrm>
          <a:prstGeom prst="rect">
            <a:avLst/>
          </a:prstGeom>
          <a:solidFill>
            <a:srgbClr val="0087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73736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2B2B2B"/>
                </a:solidFill>
                <a:latin typeface="Calibri"/>
              </a:defRPr>
            </a:pPr>
            <a:r>
              <a:t>• Copilot utilise Microsoft Graph — l'API qui relie tous les services M365</a:t>
            </a:r>
          </a:p>
          <a:p>
            <a:pPr>
              <a:spcAft>
                <a:spcPts val="400"/>
              </a:spcAft>
              <a:defRPr sz="1400">
                <a:solidFill>
                  <a:srgbClr val="2B2B2B"/>
                </a:solidFill>
                <a:latin typeface="Calibri"/>
              </a:defRPr>
            </a:pPr>
            <a:r>
              <a:t>• Il peut lire: SharePoint, OneDrive, Teams, Outlook, Calendrier, etc.</a:t>
            </a:r>
          </a:p>
          <a:p>
            <a:pPr>
              <a:spcAft>
                <a:spcPts val="400"/>
              </a:spcAft>
              <a:defRPr sz="1400">
                <a:solidFill>
                  <a:srgbClr val="2B2B2B"/>
                </a:solidFill>
                <a:latin typeface="Calibri"/>
              </a:defRPr>
            </a:pPr>
            <a:r>
              <a:t>• Respecte vos permissions existantes: il ne voit que vos documents</a:t>
            </a:r>
          </a:p>
          <a:p>
            <a:pPr>
              <a:spcAft>
                <a:spcPts val="400"/>
              </a:spcAft>
              <a:defRPr sz="1400">
                <a:solidFill>
                  <a:srgbClr val="2B2B2B"/>
                </a:solidFill>
                <a:latin typeface="Calibri"/>
              </a:defRPr>
            </a:pPr>
            <a:r>
              <a:t>• Aucun accès supplémentaire — vos droits d'accès sont la seule limite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926080"/>
            <a:ext cx="3383280" cy="3291840"/>
          </a:xfrm>
          <a:prstGeom prst="rect">
            <a:avLst/>
          </a:prstGeom>
          <a:solidFill>
            <a:srgbClr val="FFFFFF"/>
          </a:solidFill>
          <a:ln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loud_00874E_3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3090672"/>
            <a:ext cx="292608" cy="29260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15568" y="3108960"/>
            <a:ext cx="2542032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defRPr sz="1700" b="1">
                <a:solidFill>
                  <a:srgbClr val="00874E"/>
                </a:solidFill>
                <a:latin typeface="Calibri"/>
              </a:defRPr>
            </a:pPr>
            <a:r>
              <a:t>OneDrive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03320"/>
            <a:ext cx="2834640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Vos fichiers personnels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Documents Word, Excel,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PowerPoint, PDF...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Accessibles si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vous êtes le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propriétaire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0" y="2926080"/>
            <a:ext cx="3383280" cy="3291840"/>
          </a:xfrm>
          <a:prstGeom prst="rect">
            <a:avLst/>
          </a:prstGeom>
          <a:solidFill>
            <a:srgbClr val="FFFFFF"/>
          </a:solidFill>
          <a:ln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building-2_00874E_3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70832" y="3090672"/>
            <a:ext cx="292608" cy="2926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773168" y="3108960"/>
            <a:ext cx="2542031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defRPr sz="1700" b="1">
                <a:solidFill>
                  <a:srgbClr val="00874E"/>
                </a:solidFill>
                <a:latin typeface="Calibri"/>
              </a:defRPr>
            </a:pPr>
            <a:r>
              <a:t>SharePoint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3703320"/>
            <a:ext cx="2834640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Sites d'équipe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et de département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Procédures, politiques,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bibliothèques partagées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Accessibles selon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vos permissions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0" y="2926080"/>
            <a:ext cx="3383280" cy="3291840"/>
          </a:xfrm>
          <a:prstGeom prst="rect">
            <a:avLst/>
          </a:prstGeom>
          <a:solidFill>
            <a:srgbClr val="FFFFFF"/>
          </a:solidFill>
          <a:ln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lock-keyhole_F59E0B_3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28431" y="3090672"/>
            <a:ext cx="292608" cy="29260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430767" y="3108960"/>
            <a:ext cx="2542032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defRPr sz="1700" b="1">
                <a:solidFill>
                  <a:srgbClr val="F59E0B"/>
                </a:solidFill>
                <a:latin typeface="Calibri"/>
              </a:defRPr>
            </a:pPr>
            <a:r>
              <a:t>Sécurité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3703320"/>
            <a:ext cx="2834640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Mêmes permissions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que votre compte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Aucun accès à des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documents que vous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ne pouvez pas voir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Conforme aux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règles IT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6446520"/>
            <a:ext cx="11274552" cy="13716"/>
          </a:xfrm>
          <a:prstGeom prst="rect">
            <a:avLst/>
          </a:prstGeom>
          <a:solidFill>
            <a:srgbClr val="0087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defRPr sz="1000" b="0">
                <a:solidFill>
                  <a:srgbClr val="6B6B6B"/>
                </a:solidFill>
                <a:latin typeface="Calibri"/>
              </a:defRPr>
            </a:pPr>
            <a:r>
              <a:t>La minute Copilot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0" y="653796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defRPr sz="1000" b="0">
                <a:solidFill>
                  <a:srgbClr val="6B6B6B"/>
                </a:solidFill>
                <a:latin typeface="Calibri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F0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defRPr sz="2800" b="1">
                <a:solidFill>
                  <a:srgbClr val="006B3F"/>
                </a:solidFill>
                <a:latin typeface="Calibri"/>
              </a:defRPr>
            </a:pPr>
            <a:r>
              <a:t>Pourquoi c'est puissant pour vous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097280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defRPr sz="1500" b="0">
                <a:solidFill>
                  <a:srgbClr val="6B6B6B"/>
                </a:solidFill>
                <a:latin typeface="Calibri"/>
              </a:defRPr>
            </a:pPr>
            <a:r>
              <a:t>Des réponses qui tiennent compte de VOS documents, pas juste du web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508760"/>
            <a:ext cx="11274552" cy="18288"/>
          </a:xfrm>
          <a:prstGeom prst="rect">
            <a:avLst/>
          </a:prstGeom>
          <a:solidFill>
            <a:srgbClr val="0087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73736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2B2B2B"/>
                </a:solidFill>
                <a:latin typeface="Calibri"/>
              </a:defRPr>
            </a:pPr>
            <a:r>
              <a:t>• Sans contexte: Copilot répond de façon générique, comme ChatGPT</a:t>
            </a:r>
          </a:p>
          <a:p>
            <a:pPr>
              <a:spcAft>
                <a:spcPts val="400"/>
              </a:spcAft>
              <a:defRPr sz="1400">
                <a:solidFill>
                  <a:srgbClr val="2B2B2B"/>
                </a:solidFill>
                <a:latin typeface="Calibri"/>
              </a:defRPr>
            </a:pPr>
            <a:r>
              <a:t>• Avec contexte: Copilot utilise VOS documents, VOS procédures</a:t>
            </a:r>
          </a:p>
          <a:p>
            <a:pPr>
              <a:spcAft>
                <a:spcPts val="400"/>
              </a:spcAft>
              <a:defRPr sz="1400">
                <a:solidFill>
                  <a:srgbClr val="2B2B2B"/>
                </a:solidFill>
                <a:latin typeface="Calibri"/>
              </a:defRPr>
            </a:pPr>
            <a:r>
              <a:t>• Exemple: «Résume la politique de sécurité informatique» → va chercher le document sur SharePoint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926080"/>
            <a:ext cx="5212080" cy="3291840"/>
          </a:xfrm>
          <a:prstGeom prst="rect">
            <a:avLst/>
          </a:prstGeom>
          <a:solidFill>
            <a:srgbClr val="FFFFFF"/>
          </a:solidFill>
          <a:ln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unlink_EF4444_3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3090672"/>
            <a:ext cx="292608" cy="29260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15568" y="3108960"/>
            <a:ext cx="4370832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defRPr sz="1700" b="1">
                <a:solidFill>
                  <a:srgbClr val="EF4444"/>
                </a:solidFill>
                <a:latin typeface="Calibri"/>
              </a:defRPr>
            </a:pPr>
            <a:r>
              <a:t>Sans connexion aux docs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03320"/>
            <a:ext cx="4663440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«Écris une politique de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sécurité informatique»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→ Réponse générique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qui pourrait être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celle de n'importe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quelle entreprise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À jeter ou à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tout réécrire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0" y="2926080"/>
            <a:ext cx="5212080" cy="3291840"/>
          </a:xfrm>
          <a:prstGeom prst="rect">
            <a:avLst/>
          </a:prstGeom>
          <a:solidFill>
            <a:srgbClr val="FFFFFF"/>
          </a:solidFill>
          <a:ln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link_00874E_3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99632" y="3090672"/>
            <a:ext cx="292608" cy="2926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601968" y="3108960"/>
            <a:ext cx="4370831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defRPr sz="1700" b="1">
                <a:solidFill>
                  <a:srgbClr val="00874E"/>
                </a:solidFill>
                <a:latin typeface="Calibri"/>
              </a:defRPr>
            </a:pPr>
            <a:r>
              <a:t>Avec connexion aux docs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3703320"/>
            <a:ext cx="4663440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«Résume notre politique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de sécurité disponible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sur SharePoint»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→ Copilot va chercher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le document, le lit,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et vous fait un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résumé sur mesure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Prêt à utiliser!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6446520"/>
            <a:ext cx="11274552" cy="13716"/>
          </a:xfrm>
          <a:prstGeom prst="rect">
            <a:avLst/>
          </a:prstGeom>
          <a:solidFill>
            <a:srgbClr val="0087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defRPr sz="1000" b="0">
                <a:solidFill>
                  <a:srgbClr val="6B6B6B"/>
                </a:solidFill>
                <a:latin typeface="Calibri"/>
              </a:defRPr>
            </a:pPr>
            <a:r>
              <a:t>La minute Copilot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0" y="653796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defRPr sz="1000" b="0">
                <a:solidFill>
                  <a:srgbClr val="6B6B6B"/>
                </a:solidFill>
                <a:latin typeface="Calibr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F0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defRPr sz="2800" b="1">
                <a:solidFill>
                  <a:srgbClr val="006B3F"/>
                </a:solidFill>
                <a:latin typeface="Calibri"/>
              </a:defRPr>
            </a:pPr>
            <a:r>
              <a:t>Exemples concrets en institution financière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0972800" cy="4114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defRPr sz="1500" b="0">
                <a:solidFill>
                  <a:srgbClr val="6B6B6B"/>
                </a:solidFill>
                <a:latin typeface="Calibri"/>
              </a:defRPr>
            </a:pPr>
            <a:r>
              <a:t>3 scénarios où le contexte SharePoint/OneDrive change tout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508760"/>
            <a:ext cx="11274552" cy="18288"/>
          </a:xfrm>
          <a:prstGeom prst="rect">
            <a:avLst/>
          </a:prstGeom>
          <a:solidFill>
            <a:srgbClr val="0087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73736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2B2B2B"/>
                </a:solidFill>
                <a:latin typeface="Calibri"/>
              </a:defRPr>
            </a:pPr>
            <a:r>
              <a:t>• Copilot ne partage pas vos documents — il les lit, point.</a:t>
            </a:r>
          </a:p>
          <a:p>
            <a:pPr>
              <a:spcAft>
                <a:spcPts val="400"/>
              </a:spcAft>
              <a:defRPr sz="1400">
                <a:solidFill>
                  <a:srgbClr val="2B2B2B"/>
                </a:solidFill>
                <a:latin typeface="Calibri"/>
              </a:defRPr>
            </a:pPr>
            <a:r>
              <a:t>• Les données restent dans le périmètre Microsoft 365 de l'institution</a:t>
            </a:r>
          </a:p>
          <a:p>
            <a:pPr>
              <a:spcAft>
                <a:spcPts val="400"/>
              </a:spcAft>
              <a:defRPr sz="1400">
                <a:solidFill>
                  <a:srgbClr val="2B2B2B"/>
                </a:solidFill>
                <a:latin typeface="Calibri"/>
              </a:defRPr>
            </a:pPr>
            <a:r>
              <a:t>• Les permissions SharePoint sont appliquées — rien de plus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926080"/>
            <a:ext cx="3383280" cy="3291840"/>
          </a:xfrm>
          <a:prstGeom prst="rect">
            <a:avLst/>
          </a:prstGeom>
          <a:solidFill>
            <a:srgbClr val="FFFFFF"/>
          </a:solidFill>
          <a:ln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ile-text_00874E_3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3090672"/>
            <a:ext cx="292608" cy="29260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15568" y="3108960"/>
            <a:ext cx="2542032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defRPr sz="1700" b="1">
                <a:solidFill>
                  <a:srgbClr val="00874E"/>
                </a:solidFill>
                <a:latin typeface="Calibri"/>
              </a:defRPr>
            </a:pPr>
            <a:r>
              <a:t>Scénario 1: Procédures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03320"/>
            <a:ext cx="2834640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«Trouve la procédure de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demande d'accès pour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l'application X sur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SharePoint et résume-la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en 5 étapes»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→ Copilot cherche dans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SharePoint, lit le doc,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résume. 30 secondes!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0" y="2926080"/>
            <a:ext cx="3383280" cy="3291840"/>
          </a:xfrm>
          <a:prstGeom prst="rect">
            <a:avLst/>
          </a:prstGeom>
          <a:solidFill>
            <a:srgbClr val="FFFFFF"/>
          </a:solidFill>
          <a:ln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chart-bar_00874E_3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70832" y="3090672"/>
            <a:ext cx="292608" cy="2926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773168" y="3108960"/>
            <a:ext cx="2542031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defRPr sz="1700" b="1">
                <a:solidFill>
                  <a:srgbClr val="00874E"/>
                </a:solidFill>
                <a:latin typeface="Calibri"/>
              </a:defRPr>
            </a:pPr>
            <a:r>
              <a:t>Scénario 2: Rapports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3703320"/>
            <a:ext cx="2834640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«Compare les chiffres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de ce trimestre avec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ceux du rapport du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trimestre dernier dans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le dossier Partages»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→ Analyse deux fichiers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OneDrive/SharePoint,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compare, résume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0" y="2926080"/>
            <a:ext cx="3383280" cy="3291840"/>
          </a:xfrm>
          <a:prstGeom prst="rect">
            <a:avLst/>
          </a:prstGeom>
          <a:solidFill>
            <a:srgbClr val="FFFFFF"/>
          </a:solidFill>
          <a:ln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users_F59E0B_3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28431" y="3090672"/>
            <a:ext cx="292608" cy="29260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430767" y="3108960"/>
            <a:ext cx="2542032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defRPr sz="1700" b="1">
                <a:solidFill>
                  <a:srgbClr val="F59E0B"/>
                </a:solidFill>
                <a:latin typeface="Calibri"/>
              </a:defRPr>
            </a:pPr>
            <a:r>
              <a:t>Scénario 3: Réunions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3703320"/>
            <a:ext cx="2834640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«Résume les notes de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la rencontre de lundi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dans le site SharePoint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de l'équipe et liste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les tâches à faire»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→ Accès au site, lit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le document, liste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les action items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6446520"/>
            <a:ext cx="11274552" cy="13716"/>
          </a:xfrm>
          <a:prstGeom prst="rect">
            <a:avLst/>
          </a:prstGeom>
          <a:solidFill>
            <a:srgbClr val="0087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defRPr sz="1000" b="0">
                <a:solidFill>
                  <a:srgbClr val="6B6B6B"/>
                </a:solidFill>
                <a:latin typeface="Calibri"/>
              </a:defRPr>
            </a:pPr>
            <a:r>
              <a:t>La minute Copilot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0" y="653796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defRPr sz="1000" b="0">
                <a:solidFill>
                  <a:srgbClr val="6B6B6B"/>
                </a:solidFill>
                <a:latin typeface="Calibri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F0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7315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defRPr sz="2800" b="1">
                <a:solidFill>
                  <a:srgbClr val="006B3F"/>
                </a:solidFill>
                <a:latin typeface="Calibri"/>
              </a:defRPr>
            </a:pPr>
            <a:r>
              <a:t>Comment bien utiliser le contexte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34440"/>
            <a:ext cx="11274552" cy="18288"/>
          </a:xfrm>
          <a:prstGeom prst="rect">
            <a:avLst/>
          </a:prstGeom>
          <a:solidFill>
            <a:srgbClr val="0087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463040"/>
            <a:ext cx="3383280" cy="4754880"/>
          </a:xfrm>
          <a:prstGeom prst="rect">
            <a:avLst/>
          </a:prstGeom>
          <a:solidFill>
            <a:srgbClr val="FFFFFF"/>
          </a:solidFill>
          <a:ln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ircle-check_00874E_3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1627632"/>
            <a:ext cx="292608" cy="2926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15568" y="1645920"/>
            <a:ext cx="2542032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defRPr sz="1700" b="1">
                <a:solidFill>
                  <a:srgbClr val="00874E"/>
                </a:solidFill>
                <a:latin typeface="Calibri"/>
              </a:defRPr>
            </a:pPr>
            <a:r>
              <a:t>Bon prompt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240280"/>
            <a:ext cx="2834640" cy="3794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«Dans le site SharePoint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Informatique, résume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le document Politique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de sécurité 2026 en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3 points.»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→ Copilot sait où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chercher!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0" y="1463040"/>
            <a:ext cx="3383280" cy="4754880"/>
          </a:xfrm>
          <a:prstGeom prst="rect">
            <a:avLst/>
          </a:prstGeom>
          <a:solidFill>
            <a:srgbClr val="FFFFFF"/>
          </a:solidFill>
          <a:ln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circle-help_EF4444_3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70832" y="1627632"/>
            <a:ext cx="292608" cy="29260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773168" y="1645920"/>
            <a:ext cx="2542031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defRPr sz="1700" b="1">
                <a:solidFill>
                  <a:srgbClr val="EF4444"/>
                </a:solidFill>
                <a:latin typeface="Calibri"/>
              </a:defRPr>
            </a:pPr>
            <a:r>
              <a:t>Prompt vague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2240280"/>
            <a:ext cx="2834640" cy="3794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«Trouve la politique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de sécurité.»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→ Copilot ne sait pas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où chercher. Il va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chercher partout ou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répondre de façon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générique.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0" y="1463040"/>
            <a:ext cx="3383280" cy="4754880"/>
          </a:xfrm>
          <a:prstGeom prst="rect">
            <a:avLst/>
          </a:prstGeom>
          <a:solidFill>
            <a:srgbClr val="FFFFFF"/>
          </a:solidFill>
          <a:ln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hield-alert_00874E_3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28431" y="1627632"/>
            <a:ext cx="292608" cy="29260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430767" y="1645920"/>
            <a:ext cx="2542032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defRPr sz="1700" b="1">
                <a:solidFill>
                  <a:srgbClr val="00874E"/>
                </a:solidFill>
                <a:latin typeface="Calibri"/>
              </a:defRPr>
            </a:pPr>
            <a:r>
              <a:t>Rappel sécurité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0" y="2240280"/>
            <a:ext cx="2834640" cy="3794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Copilot respecte vos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permissions existantes.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Données confidentielles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restent confidentielles.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Aucune donnée ne quitte</a:t>
            </a:r>
          </a:p>
          <a:p>
            <a:pPr>
              <a:spcAft>
                <a:spcPts val="400"/>
              </a:spcAft>
              <a:defRPr sz="1300">
                <a:solidFill>
                  <a:srgbClr val="2B2B2B"/>
                </a:solidFill>
                <a:latin typeface="Calibri"/>
              </a:defRPr>
            </a:pPr>
            <a:r>
              <a:t>le tenant M365.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6446520"/>
            <a:ext cx="11274552" cy="13716"/>
          </a:xfrm>
          <a:prstGeom prst="rect">
            <a:avLst/>
          </a:prstGeom>
          <a:solidFill>
            <a:srgbClr val="0087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>
              <a:defRPr sz="1000" b="0">
                <a:solidFill>
                  <a:srgbClr val="6B6B6B"/>
                </a:solidFill>
                <a:latin typeface="Calibri"/>
              </a:defRPr>
            </a:pPr>
            <a:r>
              <a:t>La minute Copilot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0" y="6537960"/>
            <a:ext cx="8229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>
              <a:defRPr sz="1000" b="0">
                <a:solidFill>
                  <a:srgbClr val="6B6B6B"/>
                </a:solidFill>
                <a:latin typeface="Calibri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874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360152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Calibri"/>
              </a:defRPr>
            </a:pPr>
            <a:r>
              <a:t>À retenir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0" y="1691640"/>
            <a:ext cx="3044952" cy="365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06957" y="2103120"/>
            <a:ext cx="3291840" cy="2286000"/>
          </a:xfrm>
          <a:prstGeom prst="rect">
            <a:avLst/>
          </a:prstGeom>
          <a:solidFill>
            <a:srgbClr val="FFFFFF"/>
          </a:solidFill>
          <a:ln>
            <a:solidFill>
              <a:srgbClr val="CCE0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ink_006B3F_3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79141" y="2176272"/>
            <a:ext cx="347472" cy="34747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44117" y="2596896"/>
            <a:ext cx="301752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defRPr sz="2200" b="1">
                <a:solidFill>
                  <a:srgbClr val="006B3F"/>
                </a:solidFill>
                <a:latin typeface="Calibri"/>
              </a:defRPr>
            </a:pPr>
            <a:r>
              <a:t>1. Connexion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4117" y="3236976"/>
            <a:ext cx="301752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defRPr sz="1500" b="0">
                <a:solidFill>
                  <a:srgbClr val="6B6B6B"/>
                </a:solidFill>
                <a:latin typeface="Calibri"/>
              </a:defRPr>
            </a:pPr>
            <a:r>
              <a:t>Copilot lit vos docs</a:t>
            </a:r>
            <a:br/>
            <a:r>
              <a:t>SharePoint et OneDrive</a:t>
            </a:r>
          </a:p>
        </p:txBody>
      </p:sp>
      <p:sp>
        <p:nvSpPr>
          <p:cNvPr id="8" name="Rectangle 7"/>
          <p:cNvSpPr/>
          <p:nvPr/>
        </p:nvSpPr>
        <p:spPr>
          <a:xfrm>
            <a:off x="4448556" y="2103120"/>
            <a:ext cx="3291840" cy="2286000"/>
          </a:xfrm>
          <a:prstGeom prst="rect">
            <a:avLst/>
          </a:prstGeom>
          <a:solidFill>
            <a:srgbClr val="FFFFFF"/>
          </a:solidFill>
          <a:ln>
            <a:solidFill>
              <a:srgbClr val="CCE0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ck-keyhole_006B3F_3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20740" y="2176272"/>
            <a:ext cx="347472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85716" y="2596896"/>
            <a:ext cx="301752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defRPr sz="2200" b="1">
                <a:solidFill>
                  <a:srgbClr val="006B3F"/>
                </a:solidFill>
                <a:latin typeface="Calibri"/>
              </a:defRPr>
            </a:pPr>
            <a:r>
              <a:t>2. Sécurité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85716" y="3236976"/>
            <a:ext cx="301752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defRPr sz="1500" b="0">
                <a:solidFill>
                  <a:srgbClr val="6B6B6B"/>
                </a:solidFill>
                <a:latin typeface="Calibri"/>
              </a:defRPr>
            </a:pPr>
            <a:r>
              <a:t>Mêmes permissions</a:t>
            </a:r>
            <a:br/>
            <a:r>
              <a:t>que votre compte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90154" y="2103120"/>
            <a:ext cx="3291840" cy="2286000"/>
          </a:xfrm>
          <a:prstGeom prst="rect">
            <a:avLst/>
          </a:prstGeom>
          <a:solidFill>
            <a:srgbClr val="FFFFFF"/>
          </a:solidFill>
          <a:ln>
            <a:solidFill>
              <a:srgbClr val="CCE0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lightbulb_006B3F_3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62338" y="2176272"/>
            <a:ext cx="347472" cy="34747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227314" y="2596896"/>
            <a:ext cx="301752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defRPr sz="2200" b="1">
                <a:solidFill>
                  <a:srgbClr val="006B3F"/>
                </a:solidFill>
                <a:latin typeface="Calibri"/>
              </a:defRPr>
            </a:pPr>
            <a:r>
              <a:t>3. Astuce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7314" y="3236976"/>
            <a:ext cx="301752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defRPr sz="1500" b="0">
                <a:solidFill>
                  <a:srgbClr val="6B6B6B"/>
                </a:solidFill>
                <a:latin typeface="Calibri"/>
              </a:defRPr>
            </a:pPr>
            <a:r>
              <a:t>Mentionnez le site</a:t>
            </a:r>
            <a:br/>
            <a:r>
              <a:t>ou fichier dans le prompt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423160" y="4681728"/>
            <a:ext cx="7342631" cy="1078992"/>
          </a:xfrm>
          <a:prstGeom prst="rect">
            <a:avLst/>
          </a:prstGeom>
          <a:solidFill>
            <a:srgbClr val="FFFFFF"/>
          </a:solidFill>
          <a:ln>
            <a:solidFill>
              <a:srgbClr val="CCE0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423160" y="4681728"/>
            <a:ext cx="64008" cy="1078992"/>
          </a:xfrm>
          <a:prstGeom prst="rect">
            <a:avLst/>
          </a:prstGeom>
          <a:solidFill>
            <a:srgbClr val="0087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587752" y="4937760"/>
            <a:ext cx="7013447" cy="713231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defRPr sz="1500" b="1">
                <a:solidFill>
                  <a:srgbClr val="006B3F"/>
                </a:solidFill>
                <a:latin typeface="Calibri"/>
              </a:defRPr>
            </a:pPr>
            <a:r>
              <a:t>Défi: Essayez «Trouve le document X sur SharePoint et résume-le» cette semaine!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989320"/>
            <a:ext cx="10360152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>
              <a:defRPr sz="1300" b="0">
                <a:solidFill>
                  <a:srgbClr val="CCE0D2"/>
                </a:solidFill>
                <a:latin typeface="Calibri"/>
              </a:defRPr>
            </a:pPr>
            <a:r>
              <a:t>La minute Copilot — À la semaine prochaine!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