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«Aujourd'hui on passe au niveau supérieur. On a vu les bases — les personas, les modèles. Maintenant on va voir comment faire réfléchir Copilot plus profondément avec des techniques de prompt avancées. Rassurez-vous, c'est simple à utiliser!»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au lieu de demander une réponse directe, on demande à Copilot de «réfléchir à voix haute». Ça réduit drastiquement les erreurs, surtout pour les tâches logiques. Exemple: calculer un budget, analyser un problème de conformité, résoudre un problème technique.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Tree of Thought va plus loin que le Chain of Thought: au lieu d'une seule ligne de raisonnement, Copilot explore plusieurs options, les compare, puis choisit la meilleure. C'est parfait pour la prise de décision, l'analyse de risques, la résolution de problèmes complexes. Utilisez-le en mode Think Deeper pour de meilleurs résultats.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Red Team/Blue Team, c'est demander à Copilot de jouer deux rôles: l'un qui propose une solution (Blue Team), l'autre qui la critique et cherche les failles (Red Team). C'est comme avoir un avocat du diable intégré. Très utile pour la conformité, la sécurité, les décisions importantes. On peut le faire en un seul prompt ou en deux rounds.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le prompt complet. Expliquer que les trois techniques peuvent être combinées. L'exemple est directement applicable dans leur quotidien. Suggérer de l'essayer cette semaine sur une vraie décision.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Résumé rapide. Défi: essayer au moins une technique cette semaine. Le Chain of Thought est le plus facile pour commencer. Le Red/Blue Team est le plus puissant pour les décisions importantes.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Rectangle 1"/>
          <p:cNvSpPr/>
          <p:nvPr/>
        </p:nvSpPr>
        <p:spPr>
          <a:xfrm>
            <a:off x="0" y="0"/>
            <a:ext cx="6766560" cy="6858000"/>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5669280" cy="1463040"/>
          </a:xfrm>
          <a:prstGeom prst="rect">
            <a:avLst/>
          </a:prstGeom>
          <a:noFill/>
        </p:spPr>
        <p:txBody>
          <a:bodyPr wrap="square" lIns="45720" rIns="45720" tIns="18288" bIns="18288">
            <a:spAutoFit/>
          </a:bodyPr>
          <a:lstStyle/>
          <a:p>
            <a:pPr algn="l">
              <a:defRPr sz="4400" b="1">
                <a:solidFill>
                  <a:srgbClr val="FFFFFF"/>
                </a:solidFill>
                <a:latin typeface="Calibri"/>
              </a:defRPr>
            </a:pPr>
            <a:r>
              <a:t>La minute Copilot</a:t>
            </a:r>
          </a:p>
        </p:txBody>
      </p:sp>
      <p:sp>
        <p:nvSpPr>
          <p:cNvPr id="4" name="Rectangle 3"/>
          <p:cNvSpPr/>
          <p:nvPr/>
        </p:nvSpPr>
        <p:spPr>
          <a:xfrm>
            <a:off x="640080" y="3246120"/>
            <a:ext cx="292608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429000"/>
            <a:ext cx="5669280" cy="640080"/>
          </a:xfrm>
          <a:prstGeom prst="rect">
            <a:avLst/>
          </a:prstGeom>
          <a:noFill/>
        </p:spPr>
        <p:txBody>
          <a:bodyPr wrap="square" lIns="45720" rIns="45720" tIns="18288" bIns="18288">
            <a:spAutoFit/>
          </a:bodyPr>
          <a:lstStyle/>
          <a:p>
            <a:pPr algn="l">
              <a:defRPr sz="2200" b="0">
                <a:solidFill>
                  <a:srgbClr val="FFFFFF"/>
                </a:solidFill>
                <a:latin typeface="Calibri"/>
              </a:defRPr>
            </a:pPr>
            <a:r>
              <a:t>Prompts avancés: CoT, ToT, Red/Blue Team</a:t>
            </a:r>
          </a:p>
        </p:txBody>
      </p:sp>
      <p:sp>
        <p:nvSpPr>
          <p:cNvPr id="6" name="TextBox 5"/>
          <p:cNvSpPr txBox="1"/>
          <p:nvPr/>
        </p:nvSpPr>
        <p:spPr>
          <a:xfrm>
            <a:off x="640080" y="4572000"/>
            <a:ext cx="5669280" cy="365760"/>
          </a:xfrm>
          <a:prstGeom prst="rect">
            <a:avLst/>
          </a:prstGeom>
          <a:noFill/>
        </p:spPr>
        <p:txBody>
          <a:bodyPr wrap="square" lIns="45720" rIns="45720" tIns="18288" bIns="18288">
            <a:spAutoFit/>
          </a:bodyPr>
          <a:lstStyle/>
          <a:p>
            <a:pPr algn="l">
              <a:defRPr sz="1300" b="0">
                <a:solidFill>
                  <a:srgbClr val="CCE0D2"/>
                </a:solidFill>
                <a:latin typeface="Calibri"/>
              </a:defRPr>
            </a:pPr>
            <a:r>
              <a:t>Des techniques de prompt qui font réfléchir Copilot... littéralement</a:t>
            </a:r>
          </a:p>
        </p:txBody>
      </p:sp>
      <p:sp>
        <p:nvSpPr>
          <p:cNvPr id="7" name="TextBox 6"/>
          <p:cNvSpPr txBox="1"/>
          <p:nvPr/>
        </p:nvSpPr>
        <p:spPr>
          <a:xfrm>
            <a:off x="640080" y="5029200"/>
            <a:ext cx="5669280" cy="320040"/>
          </a:xfrm>
          <a:prstGeom prst="rect">
            <a:avLst/>
          </a:prstGeom>
          <a:noFill/>
        </p:spPr>
        <p:txBody>
          <a:bodyPr wrap="square" lIns="45720" rIns="45720" tIns="18288" bIns="18288">
            <a:spAutoFit/>
          </a:bodyPr>
          <a:lstStyle/>
          <a:p>
            <a:pPr algn="l">
              <a:defRPr sz="1300" b="1">
                <a:solidFill>
                  <a:srgbClr val="FFFFFF"/>
                </a:solidFill>
                <a:latin typeface="Calibri"/>
              </a:defRPr>
            </a:pPr>
            <a:r>
              <a:t>Martin Fournier</a:t>
            </a:r>
          </a:p>
        </p:txBody>
      </p:sp>
      <p:sp>
        <p:nvSpPr>
          <p:cNvPr id="8" name="TextBox 7"/>
          <p:cNvSpPr txBox="1"/>
          <p:nvPr/>
        </p:nvSpPr>
        <p:spPr>
          <a:xfrm>
            <a:off x="640080" y="5349240"/>
            <a:ext cx="5669280" cy="274320"/>
          </a:xfrm>
          <a:prstGeom prst="rect">
            <a:avLst/>
          </a:prstGeom>
          <a:noFill/>
        </p:spPr>
        <p:txBody>
          <a:bodyPr wrap="square" lIns="45720" rIns="45720" tIns="18288" bIns="18288">
            <a:spAutoFit/>
          </a:bodyPr>
          <a:lstStyle/>
          <a:p>
            <a:pPr algn="l">
              <a:defRPr sz="1200" b="0">
                <a:solidFill>
                  <a:srgbClr val="CCE0D2"/>
                </a:solidFill>
                <a:latin typeface="Calibri"/>
              </a:defRPr>
            </a:pPr>
            <a:r>
              <a:t>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Chain of Thought (CoT) — Penser étape par étape</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La technique la plus puissante et la plus simple</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Demandez à Copilot de «raisonner étape par étape» avant de répondre</a:t>
            </a:r>
          </a:p>
          <a:p>
            <a:pPr>
              <a:spcAft>
                <a:spcPts val="400"/>
              </a:spcAft>
              <a:defRPr sz="1400">
                <a:solidFill>
                  <a:srgbClr val="2B2B2B"/>
                </a:solidFill>
                <a:latin typeface="Calibri"/>
              </a:defRPr>
            </a:pPr>
            <a:r>
              <a:t>• Réduit les erreurs de 50-80% sur les tâches logiques</a:t>
            </a:r>
          </a:p>
          <a:p>
            <a:pPr>
              <a:spcAft>
                <a:spcPts val="400"/>
              </a:spcAft>
              <a:defRPr sz="1400">
                <a:solidFill>
                  <a:srgbClr val="2B2B2B"/>
                </a:solidFill>
                <a:latin typeface="Calibri"/>
              </a:defRPr>
            </a:pPr>
            <a:r>
              <a:t>• Fonctionne avec TOUS les modèles, même en Quick Response</a:t>
            </a:r>
          </a:p>
        </p:txBody>
      </p:sp>
      <p:sp>
        <p:nvSpPr>
          <p:cNvPr id="6" name="Rectangle 5"/>
          <p:cNvSpPr/>
          <p:nvPr/>
        </p:nvSpPr>
        <p:spPr>
          <a:xfrm>
            <a:off x="4572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iangle-alert_EF4444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4370832" cy="457200"/>
          </a:xfrm>
          <a:prstGeom prst="rect">
            <a:avLst/>
          </a:prstGeom>
          <a:noFill/>
        </p:spPr>
        <p:txBody>
          <a:bodyPr wrap="square" lIns="45720" rIns="45720" tIns="18288" bIns="18288">
            <a:spAutoFit/>
          </a:bodyPr>
          <a:lstStyle/>
          <a:p>
            <a:pPr algn="l">
              <a:defRPr sz="1700" b="1">
                <a:solidFill>
                  <a:srgbClr val="EF4444"/>
                </a:solidFill>
                <a:latin typeface="Calibri"/>
              </a:defRPr>
            </a:pPr>
            <a:r>
              <a:t>Sans CoT (risque d'erreur)</a:t>
            </a:r>
          </a:p>
        </p:txBody>
      </p:sp>
      <p:sp>
        <p:nvSpPr>
          <p:cNvPr id="9" name="TextBox 8"/>
          <p:cNvSpPr txBox="1"/>
          <p:nvPr/>
        </p:nvSpPr>
        <p:spPr>
          <a:xfrm>
            <a:off x="7315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«Est-ce que cette dépense</a:t>
            </a:r>
          </a:p>
          <a:p>
            <a:pPr>
              <a:spcAft>
                <a:spcPts val="400"/>
              </a:spcAft>
              <a:defRPr sz="1300">
                <a:solidFill>
                  <a:srgbClr val="2B2B2B"/>
                </a:solidFill>
                <a:latin typeface="Calibri"/>
              </a:defRPr>
            </a:pPr>
            <a:r>
              <a:t>est conforme à notre</a:t>
            </a:r>
          </a:p>
          <a:p>
            <a:pPr>
              <a:spcAft>
                <a:spcPts val="400"/>
              </a:spcAft>
              <a:defRPr sz="1300">
                <a:solidFill>
                  <a:srgbClr val="2B2B2B"/>
                </a:solidFill>
                <a:latin typeface="Calibri"/>
              </a:defRPr>
            </a:pPr>
            <a:r>
              <a:t>politique?»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répond vite,</a:t>
            </a:r>
          </a:p>
          <a:p>
            <a:pPr>
              <a:spcAft>
                <a:spcPts val="400"/>
              </a:spcAft>
              <a:defRPr sz="1300">
                <a:solidFill>
                  <a:srgbClr val="2B2B2B"/>
                </a:solidFill>
                <a:latin typeface="Calibri"/>
              </a:defRPr>
            </a:pPr>
            <a:r>
              <a:t>peut oublier des</a:t>
            </a:r>
          </a:p>
          <a:p>
            <a:pPr>
              <a:spcAft>
                <a:spcPts val="400"/>
              </a:spcAft>
              <a:defRPr sz="1300">
                <a:solidFill>
                  <a:srgbClr val="2B2B2B"/>
                </a:solidFill>
                <a:latin typeface="Calibri"/>
              </a:defRPr>
            </a:pPr>
            <a:r>
              <a:t>détails importants</a:t>
            </a:r>
          </a:p>
        </p:txBody>
      </p:sp>
      <p:sp>
        <p:nvSpPr>
          <p:cNvPr id="10" name="Rectangle 9"/>
          <p:cNvSpPr/>
          <p:nvPr/>
        </p:nvSpPr>
        <p:spPr>
          <a:xfrm>
            <a:off x="59436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ordered_00874E_30.png"/>
          <p:cNvPicPr>
            <a:picLocks noChangeAspect="1"/>
          </p:cNvPicPr>
          <p:nvPr/>
        </p:nvPicPr>
        <p:blipFill>
          <a:blip r:embed="rId4"/>
          <a:stretch>
            <a:fillRect/>
          </a:stretch>
        </p:blipFill>
        <p:spPr>
          <a:xfrm>
            <a:off x="6199632" y="3090672"/>
            <a:ext cx="292608" cy="292608"/>
          </a:xfrm>
          <a:prstGeom prst="rect">
            <a:avLst/>
          </a:prstGeom>
        </p:spPr>
      </p:pic>
      <p:sp>
        <p:nvSpPr>
          <p:cNvPr id="12" name="TextBox 11"/>
          <p:cNvSpPr txBox="1"/>
          <p:nvPr/>
        </p:nvSpPr>
        <p:spPr>
          <a:xfrm>
            <a:off x="6601968" y="310896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Avec CoT (fiable)</a:t>
            </a:r>
          </a:p>
        </p:txBody>
      </p:sp>
      <p:sp>
        <p:nvSpPr>
          <p:cNvPr id="13" name="TextBox 12"/>
          <p:cNvSpPr txBox="1"/>
          <p:nvPr/>
        </p:nvSpPr>
        <p:spPr>
          <a:xfrm>
            <a:off x="62179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«Analyse cette dépense</a:t>
            </a:r>
          </a:p>
          <a:p>
            <a:pPr>
              <a:spcAft>
                <a:spcPts val="400"/>
              </a:spcAft>
              <a:defRPr sz="1300">
                <a:solidFill>
                  <a:srgbClr val="2B2B2B"/>
                </a:solidFill>
                <a:latin typeface="Calibri"/>
              </a:defRPr>
            </a:pPr>
            <a:r>
              <a:t>étape par étape en</a:t>
            </a:r>
          </a:p>
          <a:p>
            <a:pPr>
              <a:spcAft>
                <a:spcPts val="400"/>
              </a:spcAft>
              <a:defRPr sz="1300">
                <a:solidFill>
                  <a:srgbClr val="2B2B2B"/>
                </a:solidFill>
                <a:latin typeface="Calibri"/>
              </a:defRPr>
            </a:pPr>
            <a:r>
              <a:t>suivant notre politique.</a:t>
            </a:r>
          </a:p>
          <a:p>
            <a:pPr>
              <a:spcAft>
                <a:spcPts val="400"/>
              </a:spcAft>
              <a:defRPr sz="1300">
                <a:solidFill>
                  <a:srgbClr val="2B2B2B"/>
                </a:solidFill>
                <a:latin typeface="Calibri"/>
              </a:defRPr>
            </a:pPr>
            <a:r>
              <a:t>Est-elle conforme?»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décompose,</a:t>
            </a:r>
          </a:p>
          <a:p>
            <a:pPr>
              <a:spcAft>
                <a:spcPts val="400"/>
              </a:spcAft>
              <a:defRPr sz="1300">
                <a:solidFill>
                  <a:srgbClr val="2B2B2B"/>
                </a:solidFill>
                <a:latin typeface="Calibri"/>
              </a:defRPr>
            </a:pPr>
            <a:r>
              <a:t>vérifie chaque point,</a:t>
            </a:r>
          </a:p>
          <a:p>
            <a:pPr>
              <a:spcAft>
                <a:spcPts val="400"/>
              </a:spcAft>
              <a:defRPr sz="1300">
                <a:solidFill>
                  <a:srgbClr val="2B2B2B"/>
                </a:solidFill>
                <a:latin typeface="Calibri"/>
              </a:defRPr>
            </a:pPr>
            <a:r>
              <a:t>réponse fiable</a:t>
            </a:r>
          </a:p>
        </p:txBody>
      </p:sp>
      <p:sp>
        <p:nvSpPr>
          <p:cNvPr id="14" name="Rectangle 13"/>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6" name="TextBox 15"/>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Tree of Thought (ToT) — Explorer plusieurs pistes</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Comme Chain of Thought, mais en explorant plusieurs chemins</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Copilot explore plusieurs scénarios ou solutions en parallèle</a:t>
            </a:r>
          </a:p>
          <a:p>
            <a:pPr>
              <a:spcAft>
                <a:spcPts val="400"/>
              </a:spcAft>
              <a:defRPr sz="1400">
                <a:solidFill>
                  <a:srgbClr val="2B2B2B"/>
                </a:solidFill>
                <a:latin typeface="Calibri"/>
              </a:defRPr>
            </a:pPr>
            <a:r>
              <a:t>• Compare les options et choisit la meilleure</a:t>
            </a:r>
          </a:p>
          <a:p>
            <a:pPr>
              <a:spcAft>
                <a:spcPts val="400"/>
              </a:spcAft>
              <a:defRPr sz="1400">
                <a:solidFill>
                  <a:srgbClr val="2B2B2B"/>
                </a:solidFill>
                <a:latin typeface="Calibri"/>
              </a:defRPr>
            </a:pPr>
            <a:r>
              <a:t>• Idéal pour prises de décision, analyses de risques, planification</a:t>
            </a:r>
          </a:p>
        </p:txBody>
      </p:sp>
      <p:sp>
        <p:nvSpPr>
          <p:cNvPr id="6" name="Rectangle 5"/>
          <p:cNvSpPr/>
          <p:nvPr/>
        </p:nvSpPr>
        <p:spPr>
          <a:xfrm>
            <a:off x="4572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it-branch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4370832" cy="457200"/>
          </a:xfrm>
          <a:prstGeom prst="rect">
            <a:avLst/>
          </a:prstGeom>
          <a:noFill/>
        </p:spPr>
        <p:txBody>
          <a:bodyPr wrap="square" lIns="45720" rIns="45720" tIns="18288" bIns="18288">
            <a:spAutoFit/>
          </a:bodyPr>
          <a:lstStyle/>
          <a:p>
            <a:pPr algn="l">
              <a:defRPr sz="1700" b="1">
                <a:solidFill>
                  <a:srgbClr val="00874E"/>
                </a:solidFill>
                <a:latin typeface="Calibri"/>
              </a:defRPr>
            </a:pPr>
            <a:r>
              <a:t>Exemple ToT</a:t>
            </a:r>
          </a:p>
        </p:txBody>
      </p:sp>
      <p:sp>
        <p:nvSpPr>
          <p:cNvPr id="9" name="TextBox 8"/>
          <p:cNvSpPr txBox="1"/>
          <p:nvPr/>
        </p:nvSpPr>
        <p:spPr>
          <a:xfrm>
            <a:off x="7315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«Nous devons migrer notre</a:t>
            </a:r>
          </a:p>
          <a:p>
            <a:pPr>
              <a:spcAft>
                <a:spcPts val="400"/>
              </a:spcAft>
              <a:defRPr sz="1300">
                <a:solidFill>
                  <a:srgbClr val="2B2B2B"/>
                </a:solidFill>
                <a:latin typeface="Calibri"/>
              </a:defRPr>
            </a:pPr>
            <a:r>
              <a:t>serveur de fichiers. Explore</a:t>
            </a:r>
          </a:p>
          <a:p>
            <a:pPr>
              <a:spcAft>
                <a:spcPts val="400"/>
              </a:spcAft>
              <a:defRPr sz="1300">
                <a:solidFill>
                  <a:srgbClr val="2B2B2B"/>
                </a:solidFill>
                <a:latin typeface="Calibri"/>
              </a:defRPr>
            </a:pPr>
            <a:r>
              <a:t>3 options: SharePoint,</a:t>
            </a:r>
          </a:p>
          <a:p>
            <a:pPr>
              <a:spcAft>
                <a:spcPts val="400"/>
              </a:spcAft>
              <a:defRPr sz="1300">
                <a:solidFill>
                  <a:srgbClr val="2B2B2B"/>
                </a:solidFill>
                <a:latin typeface="Calibri"/>
              </a:defRPr>
            </a:pPr>
            <a:r>
              <a:t>OneDrive, Azure Files.</a:t>
            </a:r>
          </a:p>
          <a:p>
            <a:pPr>
              <a:spcAft>
                <a:spcPts val="400"/>
              </a:spcAft>
              <a:defRPr sz="1300">
                <a:solidFill>
                  <a:srgbClr val="2B2B2B"/>
                </a:solidFill>
                <a:latin typeface="Calibri"/>
              </a:defRPr>
            </a:pPr>
            <a:r>
              <a:t>Compare coûts, sécurité,</a:t>
            </a:r>
          </a:p>
          <a:p>
            <a:pPr>
              <a:spcAft>
                <a:spcPts val="400"/>
              </a:spcAft>
              <a:defRPr sz="1300">
                <a:solidFill>
                  <a:srgbClr val="2B2B2B"/>
                </a:solidFill>
                <a:latin typeface="Calibri"/>
              </a:defRPr>
            </a:pPr>
            <a:r>
              <a:t>effort et recommande.</a:t>
            </a:r>
          </a:p>
        </p:txBody>
      </p:sp>
      <p:sp>
        <p:nvSpPr>
          <p:cNvPr id="10" name="Rectangle 9"/>
          <p:cNvSpPr/>
          <p:nvPr/>
        </p:nvSpPr>
        <p:spPr>
          <a:xfrm>
            <a:off x="59436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ircle-help_00874E_30.png"/>
          <p:cNvPicPr>
            <a:picLocks noChangeAspect="1"/>
          </p:cNvPicPr>
          <p:nvPr/>
        </p:nvPicPr>
        <p:blipFill>
          <a:blip r:embed="rId4"/>
          <a:stretch>
            <a:fillRect/>
          </a:stretch>
        </p:blipFill>
        <p:spPr>
          <a:xfrm>
            <a:off x="6199632" y="3090672"/>
            <a:ext cx="292608" cy="292608"/>
          </a:xfrm>
          <a:prstGeom prst="rect">
            <a:avLst/>
          </a:prstGeom>
        </p:spPr>
      </p:pic>
      <p:sp>
        <p:nvSpPr>
          <p:cNvPr id="12" name="TextBox 11"/>
          <p:cNvSpPr txBox="1"/>
          <p:nvPr/>
        </p:nvSpPr>
        <p:spPr>
          <a:xfrm>
            <a:off x="6601968" y="310896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Quand l'utiliser</a:t>
            </a:r>
          </a:p>
        </p:txBody>
      </p:sp>
      <p:sp>
        <p:nvSpPr>
          <p:cNvPr id="13" name="TextBox 12"/>
          <p:cNvSpPr txBox="1"/>
          <p:nvPr/>
        </p:nvSpPr>
        <p:spPr>
          <a:xfrm>
            <a:off x="62179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Décisions stratégiques</a:t>
            </a:r>
          </a:p>
          <a:p>
            <a:pPr>
              <a:spcAft>
                <a:spcPts val="400"/>
              </a:spcAft>
              <a:defRPr sz="1300">
                <a:solidFill>
                  <a:srgbClr val="2B2B2B"/>
                </a:solidFill>
                <a:latin typeface="Calibri"/>
              </a:defRPr>
            </a:pPr>
            <a:r>
              <a:t>Analyse coûts/bénéfices</a:t>
            </a:r>
          </a:p>
          <a:p>
            <a:pPr>
              <a:spcAft>
                <a:spcPts val="400"/>
              </a:spcAft>
              <a:defRPr sz="1300">
                <a:solidFill>
                  <a:srgbClr val="2B2B2B"/>
                </a:solidFill>
                <a:latin typeface="Calibri"/>
              </a:defRPr>
            </a:pPr>
            <a:r>
              <a:t>Choix techniques</a:t>
            </a:r>
          </a:p>
          <a:p>
            <a:pPr>
              <a:spcAft>
                <a:spcPts val="400"/>
              </a:spcAft>
              <a:defRPr sz="1300">
                <a:solidFill>
                  <a:srgbClr val="2B2B2B"/>
                </a:solidFill>
                <a:latin typeface="Calibri"/>
              </a:defRPr>
            </a:pPr>
            <a:r>
              <a:t>Planification de projet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En mode Think Deeper</a:t>
            </a:r>
          </a:p>
          <a:p>
            <a:pPr>
              <a:spcAft>
                <a:spcPts val="400"/>
              </a:spcAft>
              <a:defRPr sz="1300">
                <a:solidFill>
                  <a:srgbClr val="2B2B2B"/>
                </a:solidFill>
                <a:latin typeface="Calibri"/>
              </a:defRPr>
            </a:pPr>
            <a:r>
              <a:t>pour meilleurs résultats</a:t>
            </a:r>
          </a:p>
        </p:txBody>
      </p:sp>
      <p:sp>
        <p:nvSpPr>
          <p:cNvPr id="14" name="Rectangle 13"/>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6" name="TextBox 15"/>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Red Team / Blue Team — Se challenger soi-même</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Une technique où Copilot critique sa propre réponse</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Blue Team: propose une solution ou un plan</a:t>
            </a:r>
          </a:p>
          <a:p>
            <a:pPr>
              <a:spcAft>
                <a:spcPts val="400"/>
              </a:spcAft>
              <a:defRPr sz="1400">
                <a:solidFill>
                  <a:srgbClr val="2B2B2B"/>
                </a:solidFill>
                <a:latin typeface="Calibri"/>
              </a:defRPr>
            </a:pPr>
            <a:r>
              <a:t>• Red Team: critique, cherche les failles, les risques</a:t>
            </a:r>
          </a:p>
          <a:p>
            <a:pPr>
              <a:spcAft>
                <a:spcPts val="400"/>
              </a:spcAft>
              <a:defRPr sz="1400">
                <a:solidFill>
                  <a:srgbClr val="2B2B2B"/>
                </a:solidFill>
                <a:latin typeface="Calibri"/>
              </a:defRPr>
            </a:pPr>
            <a:r>
              <a:t>• Le tout dans un seul prompt!</a:t>
            </a:r>
          </a:p>
          <a:p>
            <a:pPr>
              <a:spcAft>
                <a:spcPts val="400"/>
              </a:spcAft>
              <a:defRPr sz="1400">
                <a:solidFill>
                  <a:srgbClr val="2B2B2B"/>
                </a:solidFill>
                <a:latin typeface="Calibri"/>
              </a:defRPr>
            </a:pPr>
            <a:r>
              <a:t>• Parfait pour conformité, sécurité, décisions importantes</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Blue Team</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Propose la meilleure</a:t>
            </a:r>
          </a:p>
          <a:p>
            <a:pPr>
              <a:spcAft>
                <a:spcPts val="400"/>
              </a:spcAft>
              <a:defRPr sz="1300">
                <a:solidFill>
                  <a:srgbClr val="2B2B2B"/>
                </a:solidFill>
                <a:latin typeface="Calibri"/>
              </a:defRPr>
            </a:pPr>
            <a:r>
              <a:t>solution</a:t>
            </a:r>
          </a:p>
          <a:p>
            <a:pPr>
              <a:spcAft>
                <a:spcPts val="400"/>
              </a:spcAft>
              <a:defRPr sz="1300">
                <a:solidFill>
                  <a:srgbClr val="2B2B2B"/>
                </a:solidFill>
                <a:latin typeface="Calibri"/>
              </a:defRPr>
            </a:pPr>
          </a:p>
          <a:p>
            <a:pPr>
              <a:spcAft>
                <a:spcPts val="400"/>
              </a:spcAft>
              <a:defRPr sz="1300">
                <a:solidFill>
                  <a:srgbClr val="2B2B2B"/>
                </a:solidFill>
                <a:latin typeface="Calibri"/>
              </a:defRPr>
            </a:pPr>
            <a:r>
              <a:t>Optimiste</a:t>
            </a:r>
          </a:p>
          <a:p>
            <a:pPr>
              <a:spcAft>
                <a:spcPts val="400"/>
              </a:spcAft>
              <a:defRPr sz="1300">
                <a:solidFill>
                  <a:srgbClr val="2B2B2B"/>
                </a:solidFill>
                <a:latin typeface="Calibri"/>
              </a:defRPr>
            </a:pPr>
            <a:r>
              <a:t>centré sur les</a:t>
            </a:r>
          </a:p>
          <a:p>
            <a:pPr>
              <a:spcAft>
                <a:spcPts val="400"/>
              </a:spcAft>
              <a:defRPr sz="1300">
                <a:solidFill>
                  <a:srgbClr val="2B2B2B"/>
                </a:solidFill>
                <a:latin typeface="Calibri"/>
              </a:defRPr>
            </a:pPr>
            <a:r>
              <a:t>opportunités</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words_EF4444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EF4444"/>
                </a:solidFill>
                <a:latin typeface="Calibri"/>
              </a:defRPr>
            </a:pPr>
            <a:r>
              <a:t>Red Team</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Cherche les failles</a:t>
            </a:r>
          </a:p>
          <a:p>
            <a:pPr>
              <a:spcAft>
                <a:spcPts val="400"/>
              </a:spcAft>
              <a:defRPr sz="1300">
                <a:solidFill>
                  <a:srgbClr val="2B2B2B"/>
                </a:solidFill>
                <a:latin typeface="Calibri"/>
              </a:defRPr>
            </a:pPr>
            <a:r>
              <a:t>et les risques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Pessimiste</a:t>
            </a:r>
          </a:p>
          <a:p>
            <a:pPr>
              <a:spcAft>
                <a:spcPts val="400"/>
              </a:spcAft>
              <a:defRPr sz="1300">
                <a:solidFill>
                  <a:srgbClr val="2B2B2B"/>
                </a:solidFill>
                <a:latin typeface="Calibri"/>
              </a:defRPr>
            </a:pPr>
            <a:r>
              <a:t>centré sur la</a:t>
            </a:r>
          </a:p>
          <a:p>
            <a:pPr>
              <a:spcAft>
                <a:spcPts val="400"/>
              </a:spcAft>
              <a:defRPr sz="1300">
                <a:solidFill>
                  <a:srgbClr val="2B2B2B"/>
                </a:solidFill>
                <a:latin typeface="Calibri"/>
              </a:defRPr>
            </a:pPr>
            <a:r>
              <a:t>sécurité</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ircle-check_F59E0B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F59E0B"/>
                </a:solidFill>
                <a:latin typeface="Calibri"/>
              </a:defRPr>
            </a:pPr>
            <a:r>
              <a:t>Résultat</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Les deux visions</a:t>
            </a:r>
          </a:p>
          <a:p>
            <a:pPr>
              <a:spcAft>
                <a:spcPts val="400"/>
              </a:spcAft>
              <a:defRPr sz="1300">
                <a:solidFill>
                  <a:srgbClr val="2B2B2B"/>
                </a:solidFill>
                <a:latin typeface="Calibri"/>
              </a:defRPr>
            </a:pPr>
            <a:r>
              <a:t>combinées donnent</a:t>
            </a:r>
          </a:p>
          <a:p>
            <a:pPr>
              <a:spcAft>
                <a:spcPts val="400"/>
              </a:spcAft>
              <a:defRPr sz="1300">
                <a:solidFill>
                  <a:srgbClr val="2B2B2B"/>
                </a:solidFill>
                <a:latin typeface="Calibri"/>
              </a:defRPr>
            </a:pPr>
            <a:r>
              <a:t>une décision</a:t>
            </a:r>
          </a:p>
          <a:p>
            <a:pPr>
              <a:spcAft>
                <a:spcPts val="400"/>
              </a:spcAft>
              <a:defRPr sz="1300">
                <a:solidFill>
                  <a:srgbClr val="2B2B2B"/>
                </a:solidFill>
                <a:latin typeface="Calibri"/>
              </a:defRPr>
            </a:pPr>
            <a:r>
              <a:t>éclairée et robuste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Indispensable en</a:t>
            </a:r>
          </a:p>
          <a:p>
            <a:pPr>
              <a:spcAft>
                <a:spcPts val="400"/>
              </a:spcAft>
              <a:defRPr sz="1300">
                <a:solidFill>
                  <a:srgbClr val="2B2B2B"/>
                </a:solidFill>
                <a:latin typeface="Calibri"/>
              </a:defRPr>
            </a:pPr>
            <a:r>
              <a:t>finance!</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Exemple complet — Red/Blue Team dans Outlook</a:t>
            </a:r>
          </a:p>
        </p:txBody>
      </p:sp>
      <p:sp>
        <p:nvSpPr>
          <p:cNvPr id="3" name="Rectangle 2"/>
          <p:cNvSpPr/>
          <p:nvPr/>
        </p:nvSpPr>
        <p:spPr>
          <a:xfrm>
            <a:off x="457200" y="123444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63040"/>
            <a:ext cx="52120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e-code_00874E_30.png"/>
          <p:cNvPicPr>
            <a:picLocks noChangeAspect="1"/>
          </p:cNvPicPr>
          <p:nvPr/>
        </p:nvPicPr>
        <p:blipFill>
          <a:blip r:embed="rId3"/>
          <a:stretch>
            <a:fillRect/>
          </a:stretch>
        </p:blipFill>
        <p:spPr>
          <a:xfrm>
            <a:off x="713232" y="1627632"/>
            <a:ext cx="292608" cy="292608"/>
          </a:xfrm>
          <a:prstGeom prst="rect">
            <a:avLst/>
          </a:prstGeom>
        </p:spPr>
      </p:pic>
      <p:sp>
        <p:nvSpPr>
          <p:cNvPr id="6" name="TextBox 5"/>
          <p:cNvSpPr txBox="1"/>
          <p:nvPr/>
        </p:nvSpPr>
        <p:spPr>
          <a:xfrm>
            <a:off x="1115568" y="1645920"/>
            <a:ext cx="4370832" cy="457200"/>
          </a:xfrm>
          <a:prstGeom prst="rect">
            <a:avLst/>
          </a:prstGeom>
          <a:noFill/>
        </p:spPr>
        <p:txBody>
          <a:bodyPr wrap="square" lIns="45720" rIns="45720" tIns="18288" bIns="18288">
            <a:spAutoFit/>
          </a:bodyPr>
          <a:lstStyle/>
          <a:p>
            <a:pPr algn="l">
              <a:defRPr sz="1700" b="1">
                <a:solidFill>
                  <a:srgbClr val="00874E"/>
                </a:solidFill>
                <a:latin typeface="Calibri"/>
              </a:defRPr>
            </a:pPr>
            <a:r>
              <a:t>Le prompt complet</a:t>
            </a:r>
          </a:p>
        </p:txBody>
      </p:sp>
      <p:sp>
        <p:nvSpPr>
          <p:cNvPr id="7" name="TextBox 6"/>
          <p:cNvSpPr txBox="1"/>
          <p:nvPr/>
        </p:nvSpPr>
        <p:spPr>
          <a:xfrm>
            <a:off x="731520" y="2240280"/>
            <a:ext cx="4663440" cy="3794760"/>
          </a:xfrm>
          <a:prstGeom prst="rect">
            <a:avLst/>
          </a:prstGeom>
          <a:noFill/>
        </p:spPr>
        <p:txBody>
          <a:bodyPr wrap="square">
            <a:spAutoFit/>
          </a:bodyPr>
          <a:lstStyle/>
          <a:p>
            <a:pPr>
              <a:spcAft>
                <a:spcPts val="400"/>
              </a:spcAft>
              <a:defRPr sz="1300">
                <a:solidFill>
                  <a:srgbClr val="2B2B2B"/>
                </a:solidFill>
                <a:latin typeface="Calibri"/>
              </a:defRPr>
            </a:pPr>
            <a:r>
              <a:t>«En tant que chef de projet</a:t>
            </a:r>
          </a:p>
          <a:p>
            <a:pPr>
              <a:spcAft>
                <a:spcPts val="400"/>
              </a:spcAft>
              <a:defRPr sz="1300">
                <a:solidFill>
                  <a:srgbClr val="2B2B2B"/>
                </a:solidFill>
                <a:latin typeface="Calibri"/>
              </a:defRPr>
            </a:pPr>
            <a:r>
              <a:t>senior, analyse étape par</a:t>
            </a:r>
          </a:p>
          <a:p>
            <a:pPr>
              <a:spcAft>
                <a:spcPts val="400"/>
              </a:spcAft>
              <a:defRPr sz="1300">
                <a:solidFill>
                  <a:srgbClr val="2B2B2B"/>
                </a:solidFill>
                <a:latin typeface="Calibri"/>
              </a:defRPr>
            </a:pPr>
            <a:r>
              <a:t>étape si nous devons</a:t>
            </a:r>
          </a:p>
          <a:p>
            <a:pPr>
              <a:spcAft>
                <a:spcPts val="400"/>
              </a:spcAft>
              <a:defRPr sz="1300">
                <a:solidFill>
                  <a:srgbClr val="2B2B2B"/>
                </a:solidFill>
                <a:latin typeface="Calibri"/>
              </a:defRPr>
            </a:pPr>
            <a:r>
              <a:t>approuver ce budget.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Explore 2 scénarios:</a:t>
            </a:r>
          </a:p>
          <a:p>
            <a:pPr>
              <a:spcAft>
                <a:spcPts val="400"/>
              </a:spcAft>
              <a:defRPr sz="1300">
                <a:solidFill>
                  <a:srgbClr val="2B2B2B"/>
                </a:solidFill>
                <a:latin typeface="Calibri"/>
              </a:defRPr>
            </a:pPr>
            <a:r>
              <a:t>A) Approuver tel quel</a:t>
            </a:r>
          </a:p>
          <a:p>
            <a:pPr>
              <a:spcAft>
                <a:spcPts val="400"/>
              </a:spcAft>
              <a:defRPr sz="1300">
                <a:solidFill>
                  <a:srgbClr val="2B2B2B"/>
                </a:solidFill>
                <a:latin typeface="Calibri"/>
              </a:defRPr>
            </a:pPr>
            <a:r>
              <a:t>B) Demander des</a:t>
            </a:r>
          </a:p>
          <a:p>
            <a:pPr>
              <a:spcAft>
                <a:spcPts val="400"/>
              </a:spcAft>
              <a:defRPr sz="1300">
                <a:solidFill>
                  <a:srgbClr val="2B2B2B"/>
                </a:solidFill>
                <a:latin typeface="Calibri"/>
              </a:defRPr>
            </a:pPr>
            <a:r>
              <a:t>modifications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Puis joue le rôle de</a:t>
            </a:r>
          </a:p>
          <a:p>
            <a:pPr>
              <a:spcAft>
                <a:spcPts val="400"/>
              </a:spcAft>
              <a:defRPr sz="1300">
                <a:solidFill>
                  <a:srgbClr val="2B2B2B"/>
                </a:solidFill>
                <a:latin typeface="Calibri"/>
              </a:defRPr>
            </a:pPr>
            <a:r>
              <a:t>l'auditeur interne (Red</a:t>
            </a:r>
          </a:p>
          <a:p>
            <a:pPr>
              <a:spcAft>
                <a:spcPts val="400"/>
              </a:spcAft>
              <a:defRPr sz="1300">
                <a:solidFill>
                  <a:srgbClr val="2B2B2B"/>
                </a:solidFill>
                <a:latin typeface="Calibri"/>
              </a:defRPr>
            </a:pPr>
            <a:r>
              <a:t>Team) et challenge ta</a:t>
            </a:r>
          </a:p>
          <a:p>
            <a:pPr>
              <a:spcAft>
                <a:spcPts val="400"/>
              </a:spcAft>
              <a:defRPr sz="1300">
                <a:solidFill>
                  <a:srgbClr val="2B2B2B"/>
                </a:solidFill>
                <a:latin typeface="Calibri"/>
              </a:defRPr>
            </a:pPr>
            <a:r>
              <a:t>propre recommandation.»</a:t>
            </a:r>
          </a:p>
        </p:txBody>
      </p:sp>
      <p:sp>
        <p:nvSpPr>
          <p:cNvPr id="8" name="Rectangle 7"/>
          <p:cNvSpPr/>
          <p:nvPr/>
        </p:nvSpPr>
        <p:spPr>
          <a:xfrm>
            <a:off x="5943600" y="1463040"/>
            <a:ext cx="52120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00874E_30.png"/>
          <p:cNvPicPr>
            <a:picLocks noChangeAspect="1"/>
          </p:cNvPicPr>
          <p:nvPr/>
        </p:nvPicPr>
        <p:blipFill>
          <a:blip r:embed="rId4"/>
          <a:stretch>
            <a:fillRect/>
          </a:stretch>
        </p:blipFill>
        <p:spPr>
          <a:xfrm>
            <a:off x="6199632" y="1627632"/>
            <a:ext cx="292608" cy="292608"/>
          </a:xfrm>
          <a:prstGeom prst="rect">
            <a:avLst/>
          </a:prstGeom>
        </p:spPr>
      </p:pic>
      <p:sp>
        <p:nvSpPr>
          <p:cNvPr id="10" name="TextBox 9"/>
          <p:cNvSpPr txBox="1"/>
          <p:nvPr/>
        </p:nvSpPr>
        <p:spPr>
          <a:xfrm>
            <a:off x="6601968" y="164592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Pourquoi ça marche</a:t>
            </a:r>
          </a:p>
        </p:txBody>
      </p:sp>
      <p:sp>
        <p:nvSpPr>
          <p:cNvPr id="11" name="TextBox 10"/>
          <p:cNvSpPr txBox="1"/>
          <p:nvPr/>
        </p:nvSpPr>
        <p:spPr>
          <a:xfrm>
            <a:off x="6217920" y="2240280"/>
            <a:ext cx="4663440" cy="3794760"/>
          </a:xfrm>
          <a:prstGeom prst="rect">
            <a:avLst/>
          </a:prstGeom>
          <a:noFill/>
        </p:spPr>
        <p:txBody>
          <a:bodyPr wrap="square">
            <a:spAutoFit/>
          </a:bodyPr>
          <a:lstStyle/>
          <a:p>
            <a:pPr>
              <a:spcAft>
                <a:spcPts val="400"/>
              </a:spcAft>
              <a:defRPr sz="1300">
                <a:solidFill>
                  <a:srgbClr val="2B2B2B"/>
                </a:solidFill>
                <a:latin typeface="Calibri"/>
              </a:defRPr>
            </a:pPr>
            <a:r>
              <a:t>CoT: raisonnement</a:t>
            </a:r>
          </a:p>
          <a:p>
            <a:pPr>
              <a:spcAft>
                <a:spcPts val="400"/>
              </a:spcAft>
              <a:defRPr sz="1300">
                <a:solidFill>
                  <a:srgbClr val="2B2B2B"/>
                </a:solidFill>
                <a:latin typeface="Calibri"/>
              </a:defRPr>
            </a:pPr>
            <a:r>
              <a:t>structuré, pas de saut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ToT: 2 options</a:t>
            </a:r>
          </a:p>
          <a:p>
            <a:pPr>
              <a:spcAft>
                <a:spcPts val="400"/>
              </a:spcAft>
              <a:defRPr sz="1300">
                <a:solidFill>
                  <a:srgbClr val="2B2B2B"/>
                </a:solidFill>
                <a:latin typeface="Calibri"/>
              </a:defRPr>
            </a:pPr>
            <a:r>
              <a:t>explorées, comparées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Red Team: biais</a:t>
            </a:r>
          </a:p>
          <a:p>
            <a:pPr>
              <a:spcAft>
                <a:spcPts val="400"/>
              </a:spcAft>
              <a:defRPr sz="1300">
                <a:solidFill>
                  <a:srgbClr val="2B2B2B"/>
                </a:solidFill>
                <a:latin typeface="Calibri"/>
              </a:defRPr>
            </a:pPr>
            <a:r>
              <a:t>réduit, décision</a:t>
            </a:r>
          </a:p>
          <a:p>
            <a:pPr>
              <a:spcAft>
                <a:spcPts val="400"/>
              </a:spcAft>
              <a:defRPr sz="1300">
                <a:solidFill>
                  <a:srgbClr val="2B2B2B"/>
                </a:solidFill>
                <a:latin typeface="Calibri"/>
              </a:defRPr>
            </a:pPr>
            <a:r>
              <a:t>robuste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Utilisez-le sur votre</a:t>
            </a:r>
          </a:p>
          <a:p>
            <a:pPr>
              <a:spcAft>
                <a:spcPts val="400"/>
              </a:spcAft>
              <a:defRPr sz="1300">
                <a:solidFill>
                  <a:srgbClr val="2B2B2B"/>
                </a:solidFill>
                <a:latin typeface="Calibri"/>
              </a:defRPr>
            </a:pPr>
            <a:r>
              <a:t>prochaine décision!</a:t>
            </a:r>
          </a:p>
        </p:txBody>
      </p:sp>
      <p:sp>
        <p:nvSpPr>
          <p:cNvPr id="12" name="Rectangle 11"/>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4" name="TextBox 13"/>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874E"/>
        </a:solidFill>
        <a:effectLst/>
      </p:bgPr>
    </p:bg>
    <p:spTree>
      <p:nvGrpSpPr>
        <p:cNvPr id="1" name=""/>
        <p:cNvGrpSpPr/>
        <p:nvPr/>
      </p:nvGrpSpPr>
      <p:grpSpPr/>
      <p:sp>
        <p:nvSpPr>
          <p:cNvPr id="2" name="TextBox 1"/>
          <p:cNvSpPr txBox="1"/>
          <p:nvPr/>
        </p:nvSpPr>
        <p:spPr>
          <a:xfrm>
            <a:off x="914400" y="731520"/>
            <a:ext cx="10360152" cy="822960"/>
          </a:xfrm>
          <a:prstGeom prst="rect">
            <a:avLst/>
          </a:prstGeom>
          <a:noFill/>
        </p:spPr>
        <p:txBody>
          <a:bodyPr wrap="square" lIns="45720" rIns="45720" tIns="18288" bIns="18288">
            <a:spAutoFit/>
          </a:bodyPr>
          <a:lstStyle/>
          <a:p>
            <a:pPr algn="ctr">
              <a:defRPr sz="3600" b="1">
                <a:solidFill>
                  <a:srgbClr val="FFFFFF"/>
                </a:solidFill>
                <a:latin typeface="Calibri"/>
              </a:defRPr>
            </a:pPr>
            <a:r>
              <a:t>Les 3 techniques avancées</a:t>
            </a:r>
          </a:p>
        </p:txBody>
      </p:sp>
      <p:sp>
        <p:nvSpPr>
          <p:cNvPr id="3" name="Rectangle 2"/>
          <p:cNvSpPr/>
          <p:nvPr/>
        </p:nvSpPr>
        <p:spPr>
          <a:xfrm>
            <a:off x="4572000" y="1691640"/>
            <a:ext cx="3044952"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6957"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st-ordered_006B3F_36.png"/>
          <p:cNvPicPr>
            <a:picLocks noChangeAspect="1"/>
          </p:cNvPicPr>
          <p:nvPr/>
        </p:nvPicPr>
        <p:blipFill>
          <a:blip r:embed="rId3"/>
          <a:stretch>
            <a:fillRect/>
          </a:stretch>
        </p:blipFill>
        <p:spPr>
          <a:xfrm>
            <a:off x="2279141" y="2176272"/>
            <a:ext cx="347472" cy="347472"/>
          </a:xfrm>
          <a:prstGeom prst="rect">
            <a:avLst/>
          </a:prstGeom>
        </p:spPr>
      </p:pic>
      <p:sp>
        <p:nvSpPr>
          <p:cNvPr id="6" name="TextBox 5"/>
          <p:cNvSpPr txBox="1"/>
          <p:nvPr/>
        </p:nvSpPr>
        <p:spPr>
          <a:xfrm>
            <a:off x="944117"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Chain of Thought</a:t>
            </a:r>
          </a:p>
        </p:txBody>
      </p:sp>
      <p:sp>
        <p:nvSpPr>
          <p:cNvPr id="7" name="TextBox 6"/>
          <p:cNvSpPr txBox="1"/>
          <p:nvPr/>
        </p:nvSpPr>
        <p:spPr>
          <a:xfrm>
            <a:off x="944117"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«Raisonne étape</a:t>
            </a:r>
            <a:br/>
            <a:r>
              <a:t>par étape»</a:t>
            </a:r>
            <a:br/>
            <a:r>
              <a:t>Moins d'erreurs</a:t>
            </a:r>
          </a:p>
        </p:txBody>
      </p:sp>
      <p:sp>
        <p:nvSpPr>
          <p:cNvPr id="8" name="Rectangle 7"/>
          <p:cNvSpPr/>
          <p:nvPr/>
        </p:nvSpPr>
        <p:spPr>
          <a:xfrm>
            <a:off x="4448556"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branch_006B3F_36.png"/>
          <p:cNvPicPr>
            <a:picLocks noChangeAspect="1"/>
          </p:cNvPicPr>
          <p:nvPr/>
        </p:nvPicPr>
        <p:blipFill>
          <a:blip r:embed="rId4"/>
          <a:stretch>
            <a:fillRect/>
          </a:stretch>
        </p:blipFill>
        <p:spPr>
          <a:xfrm>
            <a:off x="5920740" y="2176272"/>
            <a:ext cx="347472" cy="347472"/>
          </a:xfrm>
          <a:prstGeom prst="rect">
            <a:avLst/>
          </a:prstGeom>
        </p:spPr>
      </p:pic>
      <p:sp>
        <p:nvSpPr>
          <p:cNvPr id="10" name="TextBox 9"/>
          <p:cNvSpPr txBox="1"/>
          <p:nvPr/>
        </p:nvSpPr>
        <p:spPr>
          <a:xfrm>
            <a:off x="4585716"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Tree of Thought</a:t>
            </a:r>
          </a:p>
        </p:txBody>
      </p:sp>
      <p:sp>
        <p:nvSpPr>
          <p:cNvPr id="11" name="TextBox 10"/>
          <p:cNvSpPr txBox="1"/>
          <p:nvPr/>
        </p:nvSpPr>
        <p:spPr>
          <a:xfrm>
            <a:off x="4585716"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Explore plusieurs</a:t>
            </a:r>
            <a:br/>
            <a:r>
              <a:t>options, compare,</a:t>
            </a:r>
            <a:br/>
            <a:r>
              <a:t>recommande</a:t>
            </a:r>
          </a:p>
        </p:txBody>
      </p:sp>
      <p:sp>
        <p:nvSpPr>
          <p:cNvPr id="12" name="Rectangle 11"/>
          <p:cNvSpPr/>
          <p:nvPr/>
        </p:nvSpPr>
        <p:spPr>
          <a:xfrm>
            <a:off x="8090154"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words_006B3F_36.png"/>
          <p:cNvPicPr>
            <a:picLocks noChangeAspect="1"/>
          </p:cNvPicPr>
          <p:nvPr/>
        </p:nvPicPr>
        <p:blipFill>
          <a:blip r:embed="rId5"/>
          <a:stretch>
            <a:fillRect/>
          </a:stretch>
        </p:blipFill>
        <p:spPr>
          <a:xfrm>
            <a:off x="9562338" y="2176272"/>
            <a:ext cx="347472" cy="347472"/>
          </a:xfrm>
          <a:prstGeom prst="rect">
            <a:avLst/>
          </a:prstGeom>
        </p:spPr>
      </p:pic>
      <p:sp>
        <p:nvSpPr>
          <p:cNvPr id="14" name="TextBox 13"/>
          <p:cNvSpPr txBox="1"/>
          <p:nvPr/>
        </p:nvSpPr>
        <p:spPr>
          <a:xfrm>
            <a:off x="8227314"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Red/Blue Team</a:t>
            </a:r>
          </a:p>
        </p:txBody>
      </p:sp>
      <p:sp>
        <p:nvSpPr>
          <p:cNvPr id="15" name="TextBox 14"/>
          <p:cNvSpPr txBox="1"/>
          <p:nvPr/>
        </p:nvSpPr>
        <p:spPr>
          <a:xfrm>
            <a:off x="8227314"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Propose + critique</a:t>
            </a:r>
            <a:br/>
            <a:r>
              <a:t>Décisions robustes</a:t>
            </a:r>
          </a:p>
        </p:txBody>
      </p:sp>
      <p:sp>
        <p:nvSpPr>
          <p:cNvPr id="16" name="Rectangle 15"/>
          <p:cNvSpPr/>
          <p:nvPr/>
        </p:nvSpPr>
        <p:spPr>
          <a:xfrm>
            <a:off x="2423160" y="4681728"/>
            <a:ext cx="7342631" cy="1078992"/>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423160" y="4681728"/>
            <a:ext cx="64008" cy="1078992"/>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7752" y="4937760"/>
            <a:ext cx="7013447" cy="713231"/>
          </a:xfrm>
          <a:prstGeom prst="rect">
            <a:avLst/>
          </a:prstGeom>
          <a:noFill/>
        </p:spPr>
        <p:txBody>
          <a:bodyPr wrap="square" lIns="45720" rIns="45720" tIns="18288" bIns="18288">
            <a:spAutoFit/>
          </a:bodyPr>
          <a:lstStyle/>
          <a:p>
            <a:pPr algn="ctr">
              <a:defRPr sz="1500" b="1">
                <a:solidFill>
                  <a:srgbClr val="006B3F"/>
                </a:solidFill>
                <a:latin typeface="Calibri"/>
              </a:defRPr>
            </a:pPr>
            <a:r>
              <a:t>Défi: Essayez «Analyse étape par étape... puis challenge ta réponse» cette semaine!</a:t>
            </a:r>
          </a:p>
        </p:txBody>
      </p:sp>
      <p:sp>
        <p:nvSpPr>
          <p:cNvPr id="19" name="TextBox 18"/>
          <p:cNvSpPr txBox="1"/>
          <p:nvPr/>
        </p:nvSpPr>
        <p:spPr>
          <a:xfrm>
            <a:off x="914400" y="5989320"/>
            <a:ext cx="10360152" cy="365760"/>
          </a:xfrm>
          <a:prstGeom prst="rect">
            <a:avLst/>
          </a:prstGeom>
          <a:noFill/>
        </p:spPr>
        <p:txBody>
          <a:bodyPr wrap="square" lIns="45720" rIns="45720" tIns="18288" bIns="18288">
            <a:spAutoFit/>
          </a:bodyPr>
          <a:lstStyle/>
          <a:p>
            <a:pPr algn="ctr">
              <a:defRPr sz="1300" b="0">
                <a:solidFill>
                  <a:srgbClr val="CCE0D2"/>
                </a:solidFill>
                <a:latin typeface="Calibri"/>
              </a:defRPr>
            </a:pPr>
            <a:r>
              <a:t>La minute Copilot — À la semaine prochaine!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